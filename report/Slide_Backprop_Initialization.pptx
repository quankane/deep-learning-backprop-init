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8"/>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82" d="100"/>
          <a:sy n="82" d="100"/>
        </p:scale>
        <p:origin x="691" y="6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02857302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Đặt khung nghiên cứu ngay từ đầu: bài trình bày trả lời CÂU HỎI 'Khởi tạo tham số ảnh hưởng thế nào đến lan truyền gradient và khả năng hội tụ của mạng sâu?' — không chỉ giảng lại công thức.</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Câu hỏi nghiên cứu đóng khung toàn bài: 'Khởi tạo tham số ảnh hưởng thế nào đến lan truyền gradient và khả năng hội tụ của mạng sâu?'. Ba câu hỏi con: (1) Backprop tính gradient thế nào, (2) vì sao mạng sâu gặp vanishing/exploding, (3) Zero/Random/Xavier/He ảnh hưởng thế nào tới huấn luyện.</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Gộp calculus cơ bản vào một slide: derivative 1 biến và định nghĩa giới hạn bỏ qua (đã biết ở học phần trước). Trọng tâm: gradient là vector đạo hàm riêng; GD đi ngược gradient; backprop tính gradient bằng multivariable chain rule. Dạng ma trận/Jacobian chi tiết ở slide Backprop.</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Tránh phát biểu tuyệt đối 'forward không liên quan gì tới gradient' — chính xác hơn: forward pass chưa TÍNH gradient, nhưng nó tạo ra (và lưu lại) mọi thứ backward pass cần dùng để tính gradient (đây là điều PyTorch autograd làm ngầm khi xây computational graph).</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Chain rule đa biến là nội dung toán học cốt lõi của Backpropagation. Ví dụ ở đây là trường hợp scalar để dễ hình dung — trong mạng thực tế, phép nhân đạo hàm cục bộ tổng quát thành vector-Jacobian product (VJP), điều PyTorch autograd tự động hoá.</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Thay ví dụ scalar x=2, w=3 (quá sơ cấp) bằng đồ thị tensor và VJP. Jacobian của một layer có kích thước (số output × số input), không bao giờ lập ra đầy đủ: backprop chỉ nhân vector gradient đầu vào với Jacobian, đó là VJP. Autograd của PyTorch thực hiện việc này cho từng node trong đồ thị.</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Cầu nối cực kỳ quan trọng: lớp gần input có gradient là tích của NHIỀU Jacobian/weight transformation nhất — vì sao vanishing/exploding luôn nặng nhất ở các lớp đầu. Box Forward/Backward/Optimizer làm rõ ranh giới hay bị nhầm: Backpropagation là thuật toán TÍNH gradient; Gradient Descent (trong Optimizer) mới là quy tắc DÙNG gradient đó để update parameter — hai bước tách biệt, Backprop không tự sửa weight.</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Minh hoạ trực quan bằng thanh giảm dần (ví dụ đơn giản hoá 1 số vô hướng). Trong thực tế, cơ chế là TÍCH của nhiều Jacobian/weight matrix liên tục co norm — không phải chỉ 'đạo hàm &lt; 1'. Số liệu thực nghiệm cho trường hợp này ở phần Demo (Experiment 1&amp;2, Depth Experiment).</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'Hai mặt của cùng một đồng xu' với slide trước — cùng cơ chế tích luỹ qua nhiều lớp, chỉ khác việc norm gradient bị co lại hay khuếch đại. Tránh nói đơn giản hoá 'chỉ khác dấu của (đạo hàm−1)' — thực tế là hành vi của TÍCH nhiều ma trận/Jacobian, không phải một số vô hướng duy nhất. Experiment 3 (Random large, std=1.0) sẽ tái hiện đúng hiện tượng này bằng số liệu thật (train loss = NaN).</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Số liệu lấy từ results/logs/deep_demo_zero.json — 10 hidden layer, ReLU, Fashion-MNIST 5000/1000/2000, seed=42 — CÙNG kiến trúc dùng xuyên suốt phần Demo (Slide 18 trở đi), khác với lưới thực nghiệm chính 6-layer/Sigmoid (run_zero_sigmoid.json) vốn chỉ dùng cho báo cáo LaTeX. Gradient RMS lớp ẩn thứ nhất (gần input nhất) đo được đúng bằng 0.0 tại bước khởi tạo. Phân biệt quan trọng: đây là hidden units KHÔNG PHÁ ĐƯỢC symmetry (failure to break symmetry) — chúng bắt đầu giống nhau và tiếp tục nhận gradient/update giống nhau — chứ không phải 'symmetry breaking' (cụm này mang nghĩa ngược lại, tránh dùng). Vấn đề symmetry là của WEIGHT; bias không gây đối xứng giữa các unit nên vẫn có thể khởi tạo 0.</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Bắc cầu trực tiếp sang Xavier/He: cả hai đều là cách CHỌN ĐÚNG variance thay vì chọn tuỳ tiện. Lưu ý quan trọng: kết luận 'std lớn → exploding' quan sát được trong experiment này là hành vi của mạng ReLU cụ thể; với sigmoid/tanh, std quá lớn còn có thể đẩy pre-activation vào vùng bão hoà, khiến derivative gần 0 và gây vanishing thay vì exploding.</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Cố tình KHÔNG đưa số test accuracy vào slide lý thuyết này — deck từng có 3 con số Xavier accuracy khác nhau ở 3 slide (6-layer main grid, 10-layer single-seed, 10-layer 5-seed) gây khó hiểu. Toàn bộ số liệu thực nghiệm dồn về đúng 1 nơi: phần Demo/Experimental Evaluation.</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Cố tình KHÔNG đưa số test accuracy vào slide lý thuyết này (lý do: xem note ở slide Xavier). ReLU output có mean khác 0 (không zero-centered) — 'second moment' (E[a²]) chính xác hơn 'variance' (Var(a)=E[a²]-E[a]²) khi mô tả đại lượng He initialization thực sự kiểm soát, nhưng ở mức trình bày này dùng 'variance/scale' cho dễ hiểu là chấp nhận được. Với Leaky ReLU, gain = sqrt(2/(1+a²)) phụ thuộc negative slope a — không dùng nguyên công thức 2/n_in nếu a≠0.</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Trung thực: hàng Orthogonal chỉ mang tính lý thuyết/tham khảo, KHÔNG có thực nghiệm đi kèm trong project này — tránh ngộ nhận đã test đủ 5 phương pháp.</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cầu nối ngắn gọn, không đi sâu derivation — chốt lại 'chuyện gì đang cố được giải quyết' trước khi sang phần Demo thực nghiệm kiểm chứng. Cả hai đại lượng Var(a), Var(δ) đều được phân tích TẠI THỜI ĐIỂM khởi tạo (initialization-time analysis), không phải cam kết cho suốt quá trình training. Tránh wording quá đơn giản 'Xavier cân bằng cả hai, He ưu tiên forward' — chính xác hơn: Xavier suy ra một điểm dung hoà liên quan tới cả fan-in và fan-out; He/Kaiming điều chỉnh scale variance riêng cho rectifier nonlinearity (ReLU) — phép điều chỉnh này xuất phát từ phân tích forward nhưng cùng một scale đó cũng ảnh hưởng tới backward signal, không phải He 'chỉ' lo forward.</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Đóng khung demo như một MINI RESEARCH EXPERIMENT: cùng kiến trúc/optimizer/dataset, chỉ đổi initialization. Chi tiết: preprocessing chuẩn hoá theo mean/std của chính tập train; loss = CrossEntropyLoss (gộp sẵn LogSoftmax + NLLLoss); DataLoader dùng torch.Generator cùng seed nên thứ tự batch cũng cố định. Với multi-seed, seed 42..46 được set cho mọi nguồn ngẫu nhiên qua cùng hàm set_seed().
Bốn nhóm metric được log cho mỗi cấu hình (để phân biệt nguyên nhân thất bại, không chỉ thấy 'model tệ'):
1. Activation variance theo layer — đo tại khởi tạo, batch đầu tiên.
2. Gradient RMS theo layer = grad.pow(2).mean().sqrt() — đo tại khởi tạo, trước mọi update, chuẩn hoá theo số phần tử.
3. Training loss &amp; accuracy theo epoch (test set chỉ dùng đánh giá cuối).
4. Weight variance theo layer, đối chiếu với công thức lý thuyết.
Quy ước: 'Layer 1' = hidden Linear layer đầu tiên, gần input nhất.
Thứ tự đọc kết quả: activation variance → Gradient RMS → training loss → test accuracy (accuracy là bằng chứng gián tiếp nhất).</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Số liệu lấy trực tiếp từ results/logs/deep_demo_zero.json và deep_demo_random_normal.json (10 hidden layer, ReLU, 15 epoch, seed=42) — không làm tròn/che giấu: cả hai đều test_acc=10.0%, đúng mức đoán ngẫu nhiên của bài toán 10 lớp. QUAN TRỌNG — tránh gộp hai cơ chế: (1) Zero-init thất bại vì các hidden unit bắt đầu giống hệt nhau và tiếp tục nhận gradient/update giống nhau suốt training — chúng KHÔNG PHÁ ĐƯỢC SYMMETRY (đúng là 'failure to break symmetry'; KHÔNG BAO GIỜ viết 'symmetry breaking' vì cụm đó mang nghĩa ngược lại). (2) Random nhỏ thất bại vì vanishing gradient — cơ chế co scale lặp lại qua nhiều lớp, hoàn toàn khác symmetry. Cả hai cho gradient ~0 trong setup NÀY, nhưng nguyên nhân độc lập.</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Số liệu thật từ results/logs/multiseed_xavier_he.json + results/tables/multiseed_xavier_he_summary.csv (5 seed độc lập {42..46}, cùng kiến trúc 10 hidden layer). pp = percentage points (điểm phần trăm) — giải thích khi nói lần đầu nếu khán giả không quen. Đây là điểm chỉnh sửa quan trọng: 1 seed duy nhất KHÔNG đủ để nói 'Xavier tốt hơn He' hay ngược lại. Về wording: ĐÂY KHÔNG PHẢI một kiểm định thống kê chính thức (không có hypothesis test/confidence interval), và chỉ show mean±std KHÔNG PHẢI show toàn bộ distribution — vì vậy không nói 'hai distribution overlap', mà nói đúng là 'khoảng mean±1std chồng lấn' / 'run-to-run variability lớn so với chênh lệch mean' (đã in nguyên văn 5 giá trị mỗi seed trong code block phía trên để minh bạch). Về gradient RMS: He lớn hơn Xavier một cách nhất quán ở cả 5 seed — nhưng PHẢI nói thêm 'gradient RMS lớn hơn không tự động nghĩa là optimization tốt hơn'; điều quan trọng là tránh collapse/explosion bệnh lý, không phải gradient càng lớn càng tốt. Không suy rộng thành 'He luôn cho gradient tốt hơn'.</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Biểu đồ tổng hợp cả 5 đường cùng lúc — hình ảnh 'ăn điểm' đầu tiên vì gói gọn toàn bộ câu chuyện demo trong 1 slide.</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Đây là một trong những visualization quan trọng nhất của toàn bộ demo vì thể hiện TRỰC TIẾP gradient flow qua từng layer, không qua trung gian (khác với accuracy — bằng chứng gián tiếp, chịu ảnh hưởng của nhiều yếu tố khác). Mỗi ô là một số liệu thật (RMS = grad.pow(2).mean().sqrt()), không phải minh hoạ cách điệu, đo trên đúng 1 mini-batch (batch đầu tiên) TRƯỚC update tham số nào — không phải trung bình suốt quá trình training, cần nói rõ nếu bị hỏi. Vì các cấu hình trong slide này đều dùng CÙNG seed=42 (bao gồm cả DataLoader generator), CÙNG batch đầu tiên được dùng cho mọi scheme — loại bỏ một nguồn nhiễu (batch sampling) khi so sánh giữa các scheme. Lưu ý: 3 màu (xanh/vàng/đỏ) là mô tả trực quan theo thang màu liên tục, KHÔNG phải một ngưỡng (threshold) toán học được định nghĩa chính thức cho 'vùng ổn định'.</a:t>
            </a:r>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Bổ sung quan trọng: Heatmap slide trước chứng minh initialization ảnh hưởng BACKWARD (gradient); slide này chứng minh THÊM rằng cùng cơ chế cũng chi phối FORWARD (activation) — đúng như slide Synthesis đã nêu (Var(a) ổn định ở forward, Var(δ) ổn định ở backward — cả hai đều là phân tích TẠI THỜI ĐIỂM khởi tạo). Không vẽ Zero-init vì mọi activation của nó đúng bằng 0 (không biểu diễn được trên thang log). Lưu ý chính xác: ReLU output có mean khác 0 (không zero-centered), nên 'second moment' E[a²] mô tả đúng hơn đại lượng mà He initialization thực sự kiểm soát so với 'variance' Var(a)=E[a²]-E[a]² thuần tuý — ở đây vẫn dùng Var(a) (numpy .var(), đã trừ mean) cho nhất quán với code, chỉ cần lưu ý sự khác biệt khi bị hỏi sâu. Đã KIỂM TRA số liệu trước khi viết bullet: Xavier layer1→10 giảm từ 0.619 xuống 0.00157 (~395×) — SUY GIẢM THẬT, không phẳng; He layer1→10 đổi từ 0.720 lên 0.932 (~0.77-1.3×) — mới thực sự gần phẳng. Số liệu thật từ results/logs/deep_demo_*.json, field initial_activation_stats.</a:t>
            </a:r>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Số liệu thật từ results/logs/depth_experiment_v2.json. Tránh phát biểu phổ quát kiểu "He ổn định ở mọi độ sâu" hay "Xavier thất bại" — đây là quan sát TRONG setup thực nghiệm cụ thể (MLP, ReLU, Fashion-MNIST). He duy trì gradient RMS cùng bậc độ lớn xuyên suốt (kể cả L=50: grad_rms≈1.08e-2) nhưng test accuracy vẫn dao động (L=12: 32.6%, L=20: 53.6%, L=50: 19.6%). Về nhãn 'overfitting' tại L=12: chỉ gọi đúng tên khi có bằng chứng train tốt/test kém — ở đây train loss=0.456 (thấp, khớp tốt) trong khi test loss=5.41 (cao, gấp hơn 10 lần) — khoảng cách train/test rõ ràng này là căn cứ cho nhãn overfitting, không phải chỉ suy đoán từ test accuracy thấp. Insight quan trọng nhất: stable gradient flow là điều kiện quan trọng cho optimization ổn định, nhưng KHÔNG phải điều kiện đủ để model generalize tốt.</a:t>
            </a:r>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Bảng ánh xạ trực tiếp từ CSV thật, kể cả NaN của Random-large — trung thực khoa học, không che giấu kết quả thất bại. Test accuracy KHÔNG phải bằng chứng duy nhất cho initialization — nó là chỉ số gián tiếp nhất trong 4 nhóm metric (Activation variance, Gradient RMS, Training loss, rồi mới đến Accuracy). Cột 'Gradient behavior' đổi từ 'Ổn định' (quá categorical) sang 'Không vanish/explode rõ rệt' — hàng Xavier và He CÙNG nhãn này chỉ đúng tại độ sâu 10 layer của bảng này; slide Depth Experiment cho thấy Xavier suy giảm gradient theo độ sâu rõ hơn He khi kiến trúc sâu hơn — không suy rộng nhãn này sang mọi độ sâu.</a:t>
            </a:r>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Limitations trước Conclusion — chuẩn mini research presentation, không che giấu giới hạn phạm vi. Nếu bị hỏi 'vậy kết luận có generalize không' — đây chính là slide để trả lời trung thực: kết luận đúng TRONG phạm vi đã khảo sát (MLP/ReLU/Fashion-MNIST subset/SGD cố định), chưa chắc đúng ở quy mô/kiến trúc/optimizer khác.</a:t>
            </a:r>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Flow tổng kết toàn bộ mạch trình bày. Đã thêm 1 câu trả lời TRỰC TIẾP câu hỏi nghiên cứu (đặt ra ở Slide 2) trước khi liệt kê 4 takeaway — tránh để giảng viên phải tự suy ra câu trả lời. Takeaway #1 nhấn mạnh giá trị THUẬT TOÁN của Backpropagation (reverse-mode autodiff, tái sử dụng đạo hàm cục bộ — hiệu quả đặc biệt khi 1 scalar loss phụ thuộc hàng triệu tham số) — không hạ thấp thành 'chỉ là chain rule'.</a:t>
            </a:r>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7 nguồn, mỗi nguồn tương ứng trực tiếp với một thành phần lý thuyết/thực nghiệm THỰC SỰ được dùng trong bài (Rumelhart=Backprop gốc, LeCun=Efficient BackProp/input scaling, Glorot&amp;Bengio=Xavier, He=Kaiming/He-init, Goodfellow=textbook nền tảng chung, Xiao=dataset Fashion-MNIST, Paszke=PyTorch/autograd). Đã bỏ Bishop/Adam/ELU/SELU khỏi danh sách trước đó vì các chủ đề này KHÔNG được thảo luận ở bất kỳ slide nào trong deck — reference list nên phản ánh đúng nội dung thực sự dùng, không cố giữ số lượng nguồn.</a:t>
            </a:r>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6213E"/>
        </a:solidFill>
        <a:effectLst/>
      </p:bgPr>
    </p:bg>
    <p:spTree>
      <p:nvGrpSpPr>
        <p:cNvPr id="1" name=""/>
        <p:cNvGrpSpPr/>
        <p:nvPr/>
      </p:nvGrpSpPr>
      <p:grpSpPr>
        <a:xfrm>
          <a:off x="0" y="0"/>
          <a:ext cx="0" cy="0"/>
          <a:chOff x="0" y="0"/>
          <a:chExt cx="0" cy="0"/>
        </a:xfrm>
      </p:grpSpPr>
      <p:sp>
        <p:nvSpPr>
          <p:cNvPr id="2" name="Shape 0"/>
          <p:cNvSpPr/>
          <p:nvPr/>
        </p:nvSpPr>
        <p:spPr>
          <a:xfrm flipV="1">
            <a:off x="7863840" y="1965960"/>
            <a:ext cx="1234440" cy="566928"/>
          </a:xfrm>
          <a:prstGeom prst="line">
            <a:avLst/>
          </a:prstGeom>
          <a:noFill/>
          <a:ln w="6350">
            <a:solidFill>
              <a:srgbClr val="3A4A70">
                <a:alpha val="45000"/>
              </a:srgbClr>
            </a:solidFill>
            <a:prstDash val="solid"/>
          </a:ln>
        </p:spPr>
      </p:sp>
      <p:sp>
        <p:nvSpPr>
          <p:cNvPr id="3" name="Shape 1"/>
          <p:cNvSpPr/>
          <p:nvPr/>
        </p:nvSpPr>
        <p:spPr>
          <a:xfrm>
            <a:off x="7863840" y="2532888"/>
            <a:ext cx="1234440" cy="0"/>
          </a:xfrm>
          <a:prstGeom prst="line">
            <a:avLst/>
          </a:prstGeom>
          <a:noFill/>
          <a:ln w="6350">
            <a:solidFill>
              <a:srgbClr val="3A4A70">
                <a:alpha val="45000"/>
              </a:srgbClr>
            </a:solidFill>
            <a:prstDash val="solid"/>
          </a:ln>
        </p:spPr>
      </p:sp>
      <p:sp>
        <p:nvSpPr>
          <p:cNvPr id="4" name="Shape 2"/>
          <p:cNvSpPr/>
          <p:nvPr/>
        </p:nvSpPr>
        <p:spPr>
          <a:xfrm>
            <a:off x="7863840" y="2532888"/>
            <a:ext cx="1234440" cy="566928"/>
          </a:xfrm>
          <a:prstGeom prst="line">
            <a:avLst/>
          </a:prstGeom>
          <a:noFill/>
          <a:ln w="6350">
            <a:solidFill>
              <a:srgbClr val="3A4A70">
                <a:alpha val="45000"/>
              </a:srgbClr>
            </a:solidFill>
            <a:prstDash val="solid"/>
          </a:ln>
        </p:spPr>
      </p:sp>
      <p:sp>
        <p:nvSpPr>
          <p:cNvPr id="5" name="Shape 3"/>
          <p:cNvSpPr/>
          <p:nvPr/>
        </p:nvSpPr>
        <p:spPr>
          <a:xfrm>
            <a:off x="7863840" y="2532888"/>
            <a:ext cx="1234440" cy="1133856"/>
          </a:xfrm>
          <a:prstGeom prst="line">
            <a:avLst/>
          </a:prstGeom>
          <a:noFill/>
          <a:ln w="6350">
            <a:solidFill>
              <a:srgbClr val="3A4A70">
                <a:alpha val="45000"/>
              </a:srgbClr>
            </a:solidFill>
            <a:prstDash val="solid"/>
          </a:ln>
        </p:spPr>
      </p:sp>
      <p:sp>
        <p:nvSpPr>
          <p:cNvPr id="6" name="Shape 4"/>
          <p:cNvSpPr/>
          <p:nvPr/>
        </p:nvSpPr>
        <p:spPr>
          <a:xfrm>
            <a:off x="7863840" y="2532888"/>
            <a:ext cx="1234440" cy="1700784"/>
          </a:xfrm>
          <a:prstGeom prst="line">
            <a:avLst/>
          </a:prstGeom>
          <a:noFill/>
          <a:ln w="6350">
            <a:solidFill>
              <a:srgbClr val="3A4A70">
                <a:alpha val="45000"/>
              </a:srgbClr>
            </a:solidFill>
            <a:prstDash val="solid"/>
          </a:ln>
        </p:spPr>
      </p:sp>
      <p:sp>
        <p:nvSpPr>
          <p:cNvPr id="7" name="Shape 5"/>
          <p:cNvSpPr/>
          <p:nvPr/>
        </p:nvSpPr>
        <p:spPr>
          <a:xfrm>
            <a:off x="7863840" y="2532888"/>
            <a:ext cx="1234440" cy="2267712"/>
          </a:xfrm>
          <a:prstGeom prst="line">
            <a:avLst/>
          </a:prstGeom>
          <a:noFill/>
          <a:ln w="6350">
            <a:solidFill>
              <a:srgbClr val="3A4A70">
                <a:alpha val="45000"/>
              </a:srgbClr>
            </a:solidFill>
            <a:prstDash val="solid"/>
          </a:ln>
        </p:spPr>
      </p:sp>
      <p:sp>
        <p:nvSpPr>
          <p:cNvPr id="8" name="Shape 6"/>
          <p:cNvSpPr/>
          <p:nvPr/>
        </p:nvSpPr>
        <p:spPr>
          <a:xfrm flipV="1">
            <a:off x="7863840" y="1965960"/>
            <a:ext cx="1234440" cy="1133856"/>
          </a:xfrm>
          <a:prstGeom prst="line">
            <a:avLst/>
          </a:prstGeom>
          <a:noFill/>
          <a:ln w="6350">
            <a:solidFill>
              <a:srgbClr val="3A4A70">
                <a:alpha val="45000"/>
              </a:srgbClr>
            </a:solidFill>
            <a:prstDash val="solid"/>
          </a:ln>
        </p:spPr>
      </p:sp>
      <p:sp>
        <p:nvSpPr>
          <p:cNvPr id="9" name="Shape 7"/>
          <p:cNvSpPr/>
          <p:nvPr/>
        </p:nvSpPr>
        <p:spPr>
          <a:xfrm flipV="1">
            <a:off x="7863840" y="2532888"/>
            <a:ext cx="1234440" cy="566928"/>
          </a:xfrm>
          <a:prstGeom prst="line">
            <a:avLst/>
          </a:prstGeom>
          <a:noFill/>
          <a:ln w="6350">
            <a:solidFill>
              <a:srgbClr val="3A4A70">
                <a:alpha val="45000"/>
              </a:srgbClr>
            </a:solidFill>
            <a:prstDash val="solid"/>
          </a:ln>
        </p:spPr>
      </p:sp>
      <p:sp>
        <p:nvSpPr>
          <p:cNvPr id="10" name="Shape 8"/>
          <p:cNvSpPr/>
          <p:nvPr/>
        </p:nvSpPr>
        <p:spPr>
          <a:xfrm flipV="1">
            <a:off x="7863840" y="3099816"/>
            <a:ext cx="1234440" cy="0"/>
          </a:xfrm>
          <a:prstGeom prst="line">
            <a:avLst/>
          </a:prstGeom>
          <a:noFill/>
          <a:ln w="6350">
            <a:solidFill>
              <a:srgbClr val="3A4A70">
                <a:alpha val="45000"/>
              </a:srgbClr>
            </a:solidFill>
            <a:prstDash val="solid"/>
          </a:ln>
        </p:spPr>
      </p:sp>
      <p:sp>
        <p:nvSpPr>
          <p:cNvPr id="11" name="Shape 9"/>
          <p:cNvSpPr/>
          <p:nvPr/>
        </p:nvSpPr>
        <p:spPr>
          <a:xfrm>
            <a:off x="7863840" y="3099816"/>
            <a:ext cx="1234440" cy="566928"/>
          </a:xfrm>
          <a:prstGeom prst="line">
            <a:avLst/>
          </a:prstGeom>
          <a:noFill/>
          <a:ln w="6350">
            <a:solidFill>
              <a:srgbClr val="3A4A70">
                <a:alpha val="45000"/>
              </a:srgbClr>
            </a:solidFill>
            <a:prstDash val="solid"/>
          </a:ln>
        </p:spPr>
      </p:sp>
      <p:sp>
        <p:nvSpPr>
          <p:cNvPr id="12" name="Shape 10"/>
          <p:cNvSpPr/>
          <p:nvPr/>
        </p:nvSpPr>
        <p:spPr>
          <a:xfrm>
            <a:off x="7863840" y="3099816"/>
            <a:ext cx="1234440" cy="1133856"/>
          </a:xfrm>
          <a:prstGeom prst="line">
            <a:avLst/>
          </a:prstGeom>
          <a:noFill/>
          <a:ln w="6350">
            <a:solidFill>
              <a:srgbClr val="3A4A70">
                <a:alpha val="45000"/>
              </a:srgbClr>
            </a:solidFill>
            <a:prstDash val="solid"/>
          </a:ln>
        </p:spPr>
      </p:sp>
      <p:sp>
        <p:nvSpPr>
          <p:cNvPr id="13" name="Shape 11"/>
          <p:cNvSpPr/>
          <p:nvPr/>
        </p:nvSpPr>
        <p:spPr>
          <a:xfrm>
            <a:off x="7863840" y="3099816"/>
            <a:ext cx="1234440" cy="1700784"/>
          </a:xfrm>
          <a:prstGeom prst="line">
            <a:avLst/>
          </a:prstGeom>
          <a:noFill/>
          <a:ln w="6350">
            <a:solidFill>
              <a:srgbClr val="3A4A70">
                <a:alpha val="45000"/>
              </a:srgbClr>
            </a:solidFill>
            <a:prstDash val="solid"/>
          </a:ln>
        </p:spPr>
      </p:sp>
      <p:sp>
        <p:nvSpPr>
          <p:cNvPr id="14" name="Shape 12"/>
          <p:cNvSpPr/>
          <p:nvPr/>
        </p:nvSpPr>
        <p:spPr>
          <a:xfrm flipV="1">
            <a:off x="7863840" y="1965960"/>
            <a:ext cx="1234440" cy="1700784"/>
          </a:xfrm>
          <a:prstGeom prst="line">
            <a:avLst/>
          </a:prstGeom>
          <a:noFill/>
          <a:ln w="6350">
            <a:solidFill>
              <a:srgbClr val="3A4A70">
                <a:alpha val="45000"/>
              </a:srgbClr>
            </a:solidFill>
            <a:prstDash val="solid"/>
          </a:ln>
        </p:spPr>
      </p:sp>
      <p:sp>
        <p:nvSpPr>
          <p:cNvPr id="15" name="Shape 13"/>
          <p:cNvSpPr/>
          <p:nvPr/>
        </p:nvSpPr>
        <p:spPr>
          <a:xfrm flipV="1">
            <a:off x="7863840" y="2532888"/>
            <a:ext cx="1234440" cy="1133856"/>
          </a:xfrm>
          <a:prstGeom prst="line">
            <a:avLst/>
          </a:prstGeom>
          <a:noFill/>
          <a:ln w="6350">
            <a:solidFill>
              <a:srgbClr val="3A4A70">
                <a:alpha val="45000"/>
              </a:srgbClr>
            </a:solidFill>
            <a:prstDash val="solid"/>
          </a:ln>
        </p:spPr>
      </p:sp>
      <p:sp>
        <p:nvSpPr>
          <p:cNvPr id="16" name="Shape 14"/>
          <p:cNvSpPr/>
          <p:nvPr/>
        </p:nvSpPr>
        <p:spPr>
          <a:xfrm flipV="1">
            <a:off x="7863840" y="3099816"/>
            <a:ext cx="1234440" cy="566928"/>
          </a:xfrm>
          <a:prstGeom prst="line">
            <a:avLst/>
          </a:prstGeom>
          <a:noFill/>
          <a:ln w="6350">
            <a:solidFill>
              <a:srgbClr val="3A4A70">
                <a:alpha val="45000"/>
              </a:srgbClr>
            </a:solidFill>
            <a:prstDash val="solid"/>
          </a:ln>
        </p:spPr>
      </p:sp>
      <p:sp>
        <p:nvSpPr>
          <p:cNvPr id="17" name="Shape 15"/>
          <p:cNvSpPr/>
          <p:nvPr/>
        </p:nvSpPr>
        <p:spPr>
          <a:xfrm>
            <a:off x="7863840" y="3666744"/>
            <a:ext cx="1234440" cy="0"/>
          </a:xfrm>
          <a:prstGeom prst="line">
            <a:avLst/>
          </a:prstGeom>
          <a:noFill/>
          <a:ln w="6350">
            <a:solidFill>
              <a:srgbClr val="3A4A70">
                <a:alpha val="45000"/>
              </a:srgbClr>
            </a:solidFill>
            <a:prstDash val="solid"/>
          </a:ln>
        </p:spPr>
      </p:sp>
      <p:sp>
        <p:nvSpPr>
          <p:cNvPr id="18" name="Shape 16"/>
          <p:cNvSpPr/>
          <p:nvPr/>
        </p:nvSpPr>
        <p:spPr>
          <a:xfrm>
            <a:off x="7863840" y="3666744"/>
            <a:ext cx="1234440" cy="566928"/>
          </a:xfrm>
          <a:prstGeom prst="line">
            <a:avLst/>
          </a:prstGeom>
          <a:noFill/>
          <a:ln w="6350">
            <a:solidFill>
              <a:srgbClr val="3A4A70">
                <a:alpha val="45000"/>
              </a:srgbClr>
            </a:solidFill>
            <a:prstDash val="solid"/>
          </a:ln>
        </p:spPr>
      </p:sp>
      <p:sp>
        <p:nvSpPr>
          <p:cNvPr id="19" name="Shape 17"/>
          <p:cNvSpPr/>
          <p:nvPr/>
        </p:nvSpPr>
        <p:spPr>
          <a:xfrm>
            <a:off x="7863840" y="3666744"/>
            <a:ext cx="1234440" cy="1133856"/>
          </a:xfrm>
          <a:prstGeom prst="line">
            <a:avLst/>
          </a:prstGeom>
          <a:noFill/>
          <a:ln w="6350">
            <a:solidFill>
              <a:srgbClr val="3A4A70">
                <a:alpha val="45000"/>
              </a:srgbClr>
            </a:solidFill>
            <a:prstDash val="solid"/>
          </a:ln>
        </p:spPr>
      </p:sp>
      <p:sp>
        <p:nvSpPr>
          <p:cNvPr id="20" name="Shape 18"/>
          <p:cNvSpPr/>
          <p:nvPr/>
        </p:nvSpPr>
        <p:spPr>
          <a:xfrm flipV="1">
            <a:off x="7863840" y="1965960"/>
            <a:ext cx="1234440" cy="2267712"/>
          </a:xfrm>
          <a:prstGeom prst="line">
            <a:avLst/>
          </a:prstGeom>
          <a:noFill/>
          <a:ln w="6350">
            <a:solidFill>
              <a:srgbClr val="3A4A70">
                <a:alpha val="45000"/>
              </a:srgbClr>
            </a:solidFill>
            <a:prstDash val="solid"/>
          </a:ln>
        </p:spPr>
      </p:sp>
      <p:sp>
        <p:nvSpPr>
          <p:cNvPr id="21" name="Shape 19"/>
          <p:cNvSpPr/>
          <p:nvPr/>
        </p:nvSpPr>
        <p:spPr>
          <a:xfrm flipV="1">
            <a:off x="7863840" y="2532888"/>
            <a:ext cx="1234440" cy="1700784"/>
          </a:xfrm>
          <a:prstGeom prst="line">
            <a:avLst/>
          </a:prstGeom>
          <a:noFill/>
          <a:ln w="6350">
            <a:solidFill>
              <a:srgbClr val="3A4A70">
                <a:alpha val="45000"/>
              </a:srgbClr>
            </a:solidFill>
            <a:prstDash val="solid"/>
          </a:ln>
        </p:spPr>
      </p:sp>
      <p:sp>
        <p:nvSpPr>
          <p:cNvPr id="22" name="Shape 20"/>
          <p:cNvSpPr/>
          <p:nvPr/>
        </p:nvSpPr>
        <p:spPr>
          <a:xfrm flipV="1">
            <a:off x="7863840" y="3099816"/>
            <a:ext cx="1234440" cy="1133856"/>
          </a:xfrm>
          <a:prstGeom prst="line">
            <a:avLst/>
          </a:prstGeom>
          <a:noFill/>
          <a:ln w="6350">
            <a:solidFill>
              <a:srgbClr val="3A4A70">
                <a:alpha val="45000"/>
              </a:srgbClr>
            </a:solidFill>
            <a:prstDash val="solid"/>
          </a:ln>
        </p:spPr>
      </p:sp>
      <p:sp>
        <p:nvSpPr>
          <p:cNvPr id="23" name="Shape 21"/>
          <p:cNvSpPr/>
          <p:nvPr/>
        </p:nvSpPr>
        <p:spPr>
          <a:xfrm flipV="1">
            <a:off x="7863840" y="3666744"/>
            <a:ext cx="1234440" cy="566928"/>
          </a:xfrm>
          <a:prstGeom prst="line">
            <a:avLst/>
          </a:prstGeom>
          <a:noFill/>
          <a:ln w="6350">
            <a:solidFill>
              <a:srgbClr val="3A4A70">
                <a:alpha val="45000"/>
              </a:srgbClr>
            </a:solidFill>
            <a:prstDash val="solid"/>
          </a:ln>
        </p:spPr>
      </p:sp>
      <p:sp>
        <p:nvSpPr>
          <p:cNvPr id="24" name="Shape 22"/>
          <p:cNvSpPr/>
          <p:nvPr/>
        </p:nvSpPr>
        <p:spPr>
          <a:xfrm>
            <a:off x="7863840" y="4233672"/>
            <a:ext cx="1234440" cy="0"/>
          </a:xfrm>
          <a:prstGeom prst="line">
            <a:avLst/>
          </a:prstGeom>
          <a:noFill/>
          <a:ln w="6350">
            <a:solidFill>
              <a:srgbClr val="3A4A70">
                <a:alpha val="45000"/>
              </a:srgbClr>
            </a:solidFill>
            <a:prstDash val="solid"/>
          </a:ln>
        </p:spPr>
      </p:sp>
      <p:sp>
        <p:nvSpPr>
          <p:cNvPr id="25" name="Shape 23"/>
          <p:cNvSpPr/>
          <p:nvPr/>
        </p:nvSpPr>
        <p:spPr>
          <a:xfrm>
            <a:off x="7863840" y="4233672"/>
            <a:ext cx="1234440" cy="566928"/>
          </a:xfrm>
          <a:prstGeom prst="line">
            <a:avLst/>
          </a:prstGeom>
          <a:noFill/>
          <a:ln w="6350">
            <a:solidFill>
              <a:srgbClr val="3A4A70">
                <a:alpha val="45000"/>
              </a:srgbClr>
            </a:solidFill>
            <a:prstDash val="solid"/>
          </a:ln>
        </p:spPr>
      </p:sp>
      <p:sp>
        <p:nvSpPr>
          <p:cNvPr id="26" name="Shape 24"/>
          <p:cNvSpPr/>
          <p:nvPr/>
        </p:nvSpPr>
        <p:spPr>
          <a:xfrm>
            <a:off x="9098280" y="1965960"/>
            <a:ext cx="1234440" cy="0"/>
          </a:xfrm>
          <a:prstGeom prst="line">
            <a:avLst/>
          </a:prstGeom>
          <a:noFill/>
          <a:ln w="6350">
            <a:solidFill>
              <a:srgbClr val="3A4A70">
                <a:alpha val="45000"/>
              </a:srgbClr>
            </a:solidFill>
            <a:prstDash val="solid"/>
          </a:ln>
        </p:spPr>
      </p:sp>
      <p:sp>
        <p:nvSpPr>
          <p:cNvPr id="27" name="Shape 25"/>
          <p:cNvSpPr/>
          <p:nvPr/>
        </p:nvSpPr>
        <p:spPr>
          <a:xfrm>
            <a:off x="9098280" y="1965960"/>
            <a:ext cx="1234440" cy="566928"/>
          </a:xfrm>
          <a:prstGeom prst="line">
            <a:avLst/>
          </a:prstGeom>
          <a:noFill/>
          <a:ln w="6350">
            <a:solidFill>
              <a:srgbClr val="3A4A70">
                <a:alpha val="45000"/>
              </a:srgbClr>
            </a:solidFill>
            <a:prstDash val="solid"/>
          </a:ln>
        </p:spPr>
      </p:sp>
      <p:sp>
        <p:nvSpPr>
          <p:cNvPr id="28" name="Shape 26"/>
          <p:cNvSpPr/>
          <p:nvPr/>
        </p:nvSpPr>
        <p:spPr>
          <a:xfrm>
            <a:off x="9098280" y="1965960"/>
            <a:ext cx="1234440" cy="1133856"/>
          </a:xfrm>
          <a:prstGeom prst="line">
            <a:avLst/>
          </a:prstGeom>
          <a:noFill/>
          <a:ln w="6350">
            <a:solidFill>
              <a:srgbClr val="3A4A70">
                <a:alpha val="45000"/>
              </a:srgbClr>
            </a:solidFill>
            <a:prstDash val="solid"/>
          </a:ln>
        </p:spPr>
      </p:sp>
      <p:sp>
        <p:nvSpPr>
          <p:cNvPr id="29" name="Shape 27"/>
          <p:cNvSpPr/>
          <p:nvPr/>
        </p:nvSpPr>
        <p:spPr>
          <a:xfrm>
            <a:off x="9098280" y="1965960"/>
            <a:ext cx="1234440" cy="1700784"/>
          </a:xfrm>
          <a:prstGeom prst="line">
            <a:avLst/>
          </a:prstGeom>
          <a:noFill/>
          <a:ln w="6350">
            <a:solidFill>
              <a:srgbClr val="3A4A70">
                <a:alpha val="45000"/>
              </a:srgbClr>
            </a:solidFill>
            <a:prstDash val="solid"/>
          </a:ln>
        </p:spPr>
      </p:sp>
      <p:sp>
        <p:nvSpPr>
          <p:cNvPr id="30" name="Shape 28"/>
          <p:cNvSpPr/>
          <p:nvPr/>
        </p:nvSpPr>
        <p:spPr>
          <a:xfrm>
            <a:off x="9098280" y="1965960"/>
            <a:ext cx="1234440" cy="2267712"/>
          </a:xfrm>
          <a:prstGeom prst="line">
            <a:avLst/>
          </a:prstGeom>
          <a:noFill/>
          <a:ln w="6350">
            <a:solidFill>
              <a:srgbClr val="3A4A70">
                <a:alpha val="45000"/>
              </a:srgbClr>
            </a:solidFill>
            <a:prstDash val="solid"/>
          </a:ln>
        </p:spPr>
      </p:sp>
      <p:sp>
        <p:nvSpPr>
          <p:cNvPr id="31" name="Shape 29"/>
          <p:cNvSpPr/>
          <p:nvPr/>
        </p:nvSpPr>
        <p:spPr>
          <a:xfrm>
            <a:off x="9098280" y="1965960"/>
            <a:ext cx="1234440" cy="2834640"/>
          </a:xfrm>
          <a:prstGeom prst="line">
            <a:avLst/>
          </a:prstGeom>
          <a:noFill/>
          <a:ln w="6350">
            <a:solidFill>
              <a:srgbClr val="3A4A70">
                <a:alpha val="45000"/>
              </a:srgbClr>
            </a:solidFill>
            <a:prstDash val="solid"/>
          </a:ln>
        </p:spPr>
      </p:sp>
      <p:sp>
        <p:nvSpPr>
          <p:cNvPr id="32" name="Shape 30"/>
          <p:cNvSpPr/>
          <p:nvPr/>
        </p:nvSpPr>
        <p:spPr>
          <a:xfrm flipV="1">
            <a:off x="9098280" y="1965960"/>
            <a:ext cx="1234440" cy="566928"/>
          </a:xfrm>
          <a:prstGeom prst="line">
            <a:avLst/>
          </a:prstGeom>
          <a:noFill/>
          <a:ln w="6350">
            <a:solidFill>
              <a:srgbClr val="3A4A70">
                <a:alpha val="45000"/>
              </a:srgbClr>
            </a:solidFill>
            <a:prstDash val="solid"/>
          </a:ln>
        </p:spPr>
      </p:sp>
      <p:sp>
        <p:nvSpPr>
          <p:cNvPr id="33" name="Shape 31"/>
          <p:cNvSpPr/>
          <p:nvPr/>
        </p:nvSpPr>
        <p:spPr>
          <a:xfrm>
            <a:off x="9098280" y="2532888"/>
            <a:ext cx="1234440" cy="0"/>
          </a:xfrm>
          <a:prstGeom prst="line">
            <a:avLst/>
          </a:prstGeom>
          <a:noFill/>
          <a:ln w="6350">
            <a:solidFill>
              <a:srgbClr val="3A4A70">
                <a:alpha val="45000"/>
              </a:srgbClr>
            </a:solidFill>
            <a:prstDash val="solid"/>
          </a:ln>
        </p:spPr>
      </p:sp>
      <p:sp>
        <p:nvSpPr>
          <p:cNvPr id="34" name="Shape 32"/>
          <p:cNvSpPr/>
          <p:nvPr/>
        </p:nvSpPr>
        <p:spPr>
          <a:xfrm>
            <a:off x="9098280" y="2532888"/>
            <a:ext cx="1234440" cy="566928"/>
          </a:xfrm>
          <a:prstGeom prst="line">
            <a:avLst/>
          </a:prstGeom>
          <a:noFill/>
          <a:ln w="6350">
            <a:solidFill>
              <a:srgbClr val="3A4A70">
                <a:alpha val="45000"/>
              </a:srgbClr>
            </a:solidFill>
            <a:prstDash val="solid"/>
          </a:ln>
        </p:spPr>
      </p:sp>
      <p:sp>
        <p:nvSpPr>
          <p:cNvPr id="35" name="Shape 33"/>
          <p:cNvSpPr/>
          <p:nvPr/>
        </p:nvSpPr>
        <p:spPr>
          <a:xfrm>
            <a:off x="9098280" y="2532888"/>
            <a:ext cx="1234440" cy="1133856"/>
          </a:xfrm>
          <a:prstGeom prst="line">
            <a:avLst/>
          </a:prstGeom>
          <a:noFill/>
          <a:ln w="6350">
            <a:solidFill>
              <a:srgbClr val="3A4A70">
                <a:alpha val="45000"/>
              </a:srgbClr>
            </a:solidFill>
            <a:prstDash val="solid"/>
          </a:ln>
        </p:spPr>
      </p:sp>
      <p:sp>
        <p:nvSpPr>
          <p:cNvPr id="36" name="Shape 34"/>
          <p:cNvSpPr/>
          <p:nvPr/>
        </p:nvSpPr>
        <p:spPr>
          <a:xfrm>
            <a:off x="9098280" y="2532888"/>
            <a:ext cx="1234440" cy="1700784"/>
          </a:xfrm>
          <a:prstGeom prst="line">
            <a:avLst/>
          </a:prstGeom>
          <a:noFill/>
          <a:ln w="6350">
            <a:solidFill>
              <a:srgbClr val="3A4A70">
                <a:alpha val="45000"/>
              </a:srgbClr>
            </a:solidFill>
            <a:prstDash val="solid"/>
          </a:ln>
        </p:spPr>
      </p:sp>
      <p:sp>
        <p:nvSpPr>
          <p:cNvPr id="37" name="Shape 35"/>
          <p:cNvSpPr/>
          <p:nvPr/>
        </p:nvSpPr>
        <p:spPr>
          <a:xfrm>
            <a:off x="9098280" y="2532888"/>
            <a:ext cx="1234440" cy="2267712"/>
          </a:xfrm>
          <a:prstGeom prst="line">
            <a:avLst/>
          </a:prstGeom>
          <a:noFill/>
          <a:ln w="6350">
            <a:solidFill>
              <a:srgbClr val="3A4A70">
                <a:alpha val="45000"/>
              </a:srgbClr>
            </a:solidFill>
            <a:prstDash val="solid"/>
          </a:ln>
        </p:spPr>
      </p:sp>
      <p:sp>
        <p:nvSpPr>
          <p:cNvPr id="38" name="Shape 36"/>
          <p:cNvSpPr/>
          <p:nvPr/>
        </p:nvSpPr>
        <p:spPr>
          <a:xfrm flipV="1">
            <a:off x="9098280" y="1965960"/>
            <a:ext cx="1234440" cy="1133856"/>
          </a:xfrm>
          <a:prstGeom prst="line">
            <a:avLst/>
          </a:prstGeom>
          <a:noFill/>
          <a:ln w="6350">
            <a:solidFill>
              <a:srgbClr val="3A4A70">
                <a:alpha val="45000"/>
              </a:srgbClr>
            </a:solidFill>
            <a:prstDash val="solid"/>
          </a:ln>
        </p:spPr>
      </p:sp>
      <p:sp>
        <p:nvSpPr>
          <p:cNvPr id="39" name="Shape 37"/>
          <p:cNvSpPr/>
          <p:nvPr/>
        </p:nvSpPr>
        <p:spPr>
          <a:xfrm flipV="1">
            <a:off x="9098280" y="2532888"/>
            <a:ext cx="1234440" cy="566928"/>
          </a:xfrm>
          <a:prstGeom prst="line">
            <a:avLst/>
          </a:prstGeom>
          <a:noFill/>
          <a:ln w="6350">
            <a:solidFill>
              <a:srgbClr val="3A4A70">
                <a:alpha val="45000"/>
              </a:srgbClr>
            </a:solidFill>
            <a:prstDash val="solid"/>
          </a:ln>
        </p:spPr>
      </p:sp>
      <p:sp>
        <p:nvSpPr>
          <p:cNvPr id="40" name="Shape 38"/>
          <p:cNvSpPr/>
          <p:nvPr/>
        </p:nvSpPr>
        <p:spPr>
          <a:xfrm>
            <a:off x="9098280" y="3099816"/>
            <a:ext cx="1234440" cy="0"/>
          </a:xfrm>
          <a:prstGeom prst="line">
            <a:avLst/>
          </a:prstGeom>
          <a:noFill/>
          <a:ln w="6350">
            <a:solidFill>
              <a:srgbClr val="3A4A70">
                <a:alpha val="45000"/>
              </a:srgbClr>
            </a:solidFill>
            <a:prstDash val="solid"/>
          </a:ln>
        </p:spPr>
      </p:sp>
      <p:sp>
        <p:nvSpPr>
          <p:cNvPr id="41" name="Shape 39"/>
          <p:cNvSpPr/>
          <p:nvPr/>
        </p:nvSpPr>
        <p:spPr>
          <a:xfrm>
            <a:off x="9098280" y="3099816"/>
            <a:ext cx="1234440" cy="566928"/>
          </a:xfrm>
          <a:prstGeom prst="line">
            <a:avLst/>
          </a:prstGeom>
          <a:noFill/>
          <a:ln w="6350">
            <a:solidFill>
              <a:srgbClr val="3A4A70">
                <a:alpha val="45000"/>
              </a:srgbClr>
            </a:solidFill>
            <a:prstDash val="solid"/>
          </a:ln>
        </p:spPr>
      </p:sp>
      <p:sp>
        <p:nvSpPr>
          <p:cNvPr id="42" name="Shape 40"/>
          <p:cNvSpPr/>
          <p:nvPr/>
        </p:nvSpPr>
        <p:spPr>
          <a:xfrm>
            <a:off x="9098280" y="3099816"/>
            <a:ext cx="1234440" cy="1133856"/>
          </a:xfrm>
          <a:prstGeom prst="line">
            <a:avLst/>
          </a:prstGeom>
          <a:noFill/>
          <a:ln w="6350">
            <a:solidFill>
              <a:srgbClr val="3A4A70">
                <a:alpha val="45000"/>
              </a:srgbClr>
            </a:solidFill>
            <a:prstDash val="solid"/>
          </a:ln>
        </p:spPr>
      </p:sp>
      <p:sp>
        <p:nvSpPr>
          <p:cNvPr id="43" name="Shape 41"/>
          <p:cNvSpPr/>
          <p:nvPr/>
        </p:nvSpPr>
        <p:spPr>
          <a:xfrm>
            <a:off x="9098280" y="3099816"/>
            <a:ext cx="1234440" cy="1700784"/>
          </a:xfrm>
          <a:prstGeom prst="line">
            <a:avLst/>
          </a:prstGeom>
          <a:noFill/>
          <a:ln w="6350">
            <a:solidFill>
              <a:srgbClr val="3A4A70">
                <a:alpha val="45000"/>
              </a:srgbClr>
            </a:solidFill>
            <a:prstDash val="solid"/>
          </a:ln>
        </p:spPr>
      </p:sp>
      <p:sp>
        <p:nvSpPr>
          <p:cNvPr id="44" name="Shape 42"/>
          <p:cNvSpPr/>
          <p:nvPr/>
        </p:nvSpPr>
        <p:spPr>
          <a:xfrm flipV="1">
            <a:off x="9098280" y="1965960"/>
            <a:ext cx="1234440" cy="1700784"/>
          </a:xfrm>
          <a:prstGeom prst="line">
            <a:avLst/>
          </a:prstGeom>
          <a:noFill/>
          <a:ln w="6350">
            <a:solidFill>
              <a:srgbClr val="3A4A70">
                <a:alpha val="45000"/>
              </a:srgbClr>
            </a:solidFill>
            <a:prstDash val="solid"/>
          </a:ln>
        </p:spPr>
      </p:sp>
      <p:sp>
        <p:nvSpPr>
          <p:cNvPr id="45" name="Shape 43"/>
          <p:cNvSpPr/>
          <p:nvPr/>
        </p:nvSpPr>
        <p:spPr>
          <a:xfrm flipV="1">
            <a:off x="9098280" y="2532888"/>
            <a:ext cx="1234440" cy="1133856"/>
          </a:xfrm>
          <a:prstGeom prst="line">
            <a:avLst/>
          </a:prstGeom>
          <a:noFill/>
          <a:ln w="6350">
            <a:solidFill>
              <a:srgbClr val="3A4A70">
                <a:alpha val="45000"/>
              </a:srgbClr>
            </a:solidFill>
            <a:prstDash val="solid"/>
          </a:ln>
        </p:spPr>
      </p:sp>
      <p:sp>
        <p:nvSpPr>
          <p:cNvPr id="46" name="Shape 44"/>
          <p:cNvSpPr/>
          <p:nvPr/>
        </p:nvSpPr>
        <p:spPr>
          <a:xfrm flipV="1">
            <a:off x="9098280" y="3099816"/>
            <a:ext cx="1234440" cy="566928"/>
          </a:xfrm>
          <a:prstGeom prst="line">
            <a:avLst/>
          </a:prstGeom>
          <a:noFill/>
          <a:ln w="6350">
            <a:solidFill>
              <a:srgbClr val="3A4A70">
                <a:alpha val="45000"/>
              </a:srgbClr>
            </a:solidFill>
            <a:prstDash val="solid"/>
          </a:ln>
        </p:spPr>
      </p:sp>
      <p:sp>
        <p:nvSpPr>
          <p:cNvPr id="47" name="Shape 45"/>
          <p:cNvSpPr/>
          <p:nvPr/>
        </p:nvSpPr>
        <p:spPr>
          <a:xfrm>
            <a:off x="9098280" y="3666744"/>
            <a:ext cx="1234440" cy="0"/>
          </a:xfrm>
          <a:prstGeom prst="line">
            <a:avLst/>
          </a:prstGeom>
          <a:noFill/>
          <a:ln w="6350">
            <a:solidFill>
              <a:srgbClr val="3A4A70">
                <a:alpha val="45000"/>
              </a:srgbClr>
            </a:solidFill>
            <a:prstDash val="solid"/>
          </a:ln>
        </p:spPr>
      </p:sp>
      <p:sp>
        <p:nvSpPr>
          <p:cNvPr id="48" name="Shape 46"/>
          <p:cNvSpPr/>
          <p:nvPr/>
        </p:nvSpPr>
        <p:spPr>
          <a:xfrm>
            <a:off x="9098280" y="3666744"/>
            <a:ext cx="1234440" cy="566928"/>
          </a:xfrm>
          <a:prstGeom prst="line">
            <a:avLst/>
          </a:prstGeom>
          <a:noFill/>
          <a:ln w="6350">
            <a:solidFill>
              <a:srgbClr val="3A4A70">
                <a:alpha val="45000"/>
              </a:srgbClr>
            </a:solidFill>
            <a:prstDash val="solid"/>
          </a:ln>
        </p:spPr>
      </p:sp>
      <p:sp>
        <p:nvSpPr>
          <p:cNvPr id="49" name="Shape 47"/>
          <p:cNvSpPr/>
          <p:nvPr/>
        </p:nvSpPr>
        <p:spPr>
          <a:xfrm>
            <a:off x="9098280" y="3666744"/>
            <a:ext cx="1234440" cy="1133856"/>
          </a:xfrm>
          <a:prstGeom prst="line">
            <a:avLst/>
          </a:prstGeom>
          <a:noFill/>
          <a:ln w="6350">
            <a:solidFill>
              <a:srgbClr val="3A4A70">
                <a:alpha val="45000"/>
              </a:srgbClr>
            </a:solidFill>
            <a:prstDash val="solid"/>
          </a:ln>
        </p:spPr>
      </p:sp>
      <p:sp>
        <p:nvSpPr>
          <p:cNvPr id="50" name="Shape 48"/>
          <p:cNvSpPr/>
          <p:nvPr/>
        </p:nvSpPr>
        <p:spPr>
          <a:xfrm flipV="1">
            <a:off x="9098280" y="1965960"/>
            <a:ext cx="1234440" cy="2267712"/>
          </a:xfrm>
          <a:prstGeom prst="line">
            <a:avLst/>
          </a:prstGeom>
          <a:noFill/>
          <a:ln w="6350">
            <a:solidFill>
              <a:srgbClr val="3A4A70">
                <a:alpha val="45000"/>
              </a:srgbClr>
            </a:solidFill>
            <a:prstDash val="solid"/>
          </a:ln>
        </p:spPr>
      </p:sp>
      <p:sp>
        <p:nvSpPr>
          <p:cNvPr id="51" name="Shape 49"/>
          <p:cNvSpPr/>
          <p:nvPr/>
        </p:nvSpPr>
        <p:spPr>
          <a:xfrm flipV="1">
            <a:off x="9098280" y="2532888"/>
            <a:ext cx="1234440" cy="1700784"/>
          </a:xfrm>
          <a:prstGeom prst="line">
            <a:avLst/>
          </a:prstGeom>
          <a:noFill/>
          <a:ln w="6350">
            <a:solidFill>
              <a:srgbClr val="3A4A70">
                <a:alpha val="45000"/>
              </a:srgbClr>
            </a:solidFill>
            <a:prstDash val="solid"/>
          </a:ln>
        </p:spPr>
      </p:sp>
      <p:sp>
        <p:nvSpPr>
          <p:cNvPr id="52" name="Shape 50"/>
          <p:cNvSpPr/>
          <p:nvPr/>
        </p:nvSpPr>
        <p:spPr>
          <a:xfrm flipV="1">
            <a:off x="9098280" y="3099816"/>
            <a:ext cx="1234440" cy="1133856"/>
          </a:xfrm>
          <a:prstGeom prst="line">
            <a:avLst/>
          </a:prstGeom>
          <a:noFill/>
          <a:ln w="6350">
            <a:solidFill>
              <a:srgbClr val="3A4A70">
                <a:alpha val="45000"/>
              </a:srgbClr>
            </a:solidFill>
            <a:prstDash val="solid"/>
          </a:ln>
        </p:spPr>
      </p:sp>
      <p:sp>
        <p:nvSpPr>
          <p:cNvPr id="53" name="Shape 51"/>
          <p:cNvSpPr/>
          <p:nvPr/>
        </p:nvSpPr>
        <p:spPr>
          <a:xfrm flipV="1">
            <a:off x="9098280" y="3666744"/>
            <a:ext cx="1234440" cy="566928"/>
          </a:xfrm>
          <a:prstGeom prst="line">
            <a:avLst/>
          </a:prstGeom>
          <a:noFill/>
          <a:ln w="6350">
            <a:solidFill>
              <a:srgbClr val="3A4A70">
                <a:alpha val="45000"/>
              </a:srgbClr>
            </a:solidFill>
            <a:prstDash val="solid"/>
          </a:ln>
        </p:spPr>
      </p:sp>
      <p:sp>
        <p:nvSpPr>
          <p:cNvPr id="54" name="Shape 52"/>
          <p:cNvSpPr/>
          <p:nvPr/>
        </p:nvSpPr>
        <p:spPr>
          <a:xfrm>
            <a:off x="9098280" y="4233672"/>
            <a:ext cx="1234440" cy="0"/>
          </a:xfrm>
          <a:prstGeom prst="line">
            <a:avLst/>
          </a:prstGeom>
          <a:noFill/>
          <a:ln w="6350">
            <a:solidFill>
              <a:srgbClr val="3A4A70">
                <a:alpha val="45000"/>
              </a:srgbClr>
            </a:solidFill>
            <a:prstDash val="solid"/>
          </a:ln>
        </p:spPr>
      </p:sp>
      <p:sp>
        <p:nvSpPr>
          <p:cNvPr id="55" name="Shape 53"/>
          <p:cNvSpPr/>
          <p:nvPr/>
        </p:nvSpPr>
        <p:spPr>
          <a:xfrm>
            <a:off x="9098280" y="4233672"/>
            <a:ext cx="1234440" cy="566928"/>
          </a:xfrm>
          <a:prstGeom prst="line">
            <a:avLst/>
          </a:prstGeom>
          <a:noFill/>
          <a:ln w="6350">
            <a:solidFill>
              <a:srgbClr val="3A4A70">
                <a:alpha val="45000"/>
              </a:srgbClr>
            </a:solidFill>
            <a:prstDash val="solid"/>
          </a:ln>
        </p:spPr>
      </p:sp>
      <p:sp>
        <p:nvSpPr>
          <p:cNvPr id="56" name="Shape 54"/>
          <p:cNvSpPr/>
          <p:nvPr/>
        </p:nvSpPr>
        <p:spPr>
          <a:xfrm flipV="1">
            <a:off x="9098280" y="1965960"/>
            <a:ext cx="1234440" cy="2834640"/>
          </a:xfrm>
          <a:prstGeom prst="line">
            <a:avLst/>
          </a:prstGeom>
          <a:noFill/>
          <a:ln w="6350">
            <a:solidFill>
              <a:srgbClr val="3A4A70">
                <a:alpha val="45000"/>
              </a:srgbClr>
            </a:solidFill>
            <a:prstDash val="solid"/>
          </a:ln>
        </p:spPr>
      </p:sp>
      <p:sp>
        <p:nvSpPr>
          <p:cNvPr id="57" name="Shape 55"/>
          <p:cNvSpPr/>
          <p:nvPr/>
        </p:nvSpPr>
        <p:spPr>
          <a:xfrm flipV="1">
            <a:off x="9098280" y="2532888"/>
            <a:ext cx="1234440" cy="2267712"/>
          </a:xfrm>
          <a:prstGeom prst="line">
            <a:avLst/>
          </a:prstGeom>
          <a:noFill/>
          <a:ln w="6350">
            <a:solidFill>
              <a:srgbClr val="3A4A70">
                <a:alpha val="45000"/>
              </a:srgbClr>
            </a:solidFill>
            <a:prstDash val="solid"/>
          </a:ln>
        </p:spPr>
      </p:sp>
      <p:sp>
        <p:nvSpPr>
          <p:cNvPr id="58" name="Shape 56"/>
          <p:cNvSpPr/>
          <p:nvPr/>
        </p:nvSpPr>
        <p:spPr>
          <a:xfrm flipV="1">
            <a:off x="9098280" y="3099816"/>
            <a:ext cx="1234440" cy="1700784"/>
          </a:xfrm>
          <a:prstGeom prst="line">
            <a:avLst/>
          </a:prstGeom>
          <a:noFill/>
          <a:ln w="6350">
            <a:solidFill>
              <a:srgbClr val="3A4A70">
                <a:alpha val="45000"/>
              </a:srgbClr>
            </a:solidFill>
            <a:prstDash val="solid"/>
          </a:ln>
        </p:spPr>
      </p:sp>
      <p:sp>
        <p:nvSpPr>
          <p:cNvPr id="59" name="Shape 57"/>
          <p:cNvSpPr/>
          <p:nvPr/>
        </p:nvSpPr>
        <p:spPr>
          <a:xfrm flipV="1">
            <a:off x="9098280" y="3666744"/>
            <a:ext cx="1234440" cy="1133856"/>
          </a:xfrm>
          <a:prstGeom prst="line">
            <a:avLst/>
          </a:prstGeom>
          <a:noFill/>
          <a:ln w="6350">
            <a:solidFill>
              <a:srgbClr val="3A4A70">
                <a:alpha val="45000"/>
              </a:srgbClr>
            </a:solidFill>
            <a:prstDash val="solid"/>
          </a:ln>
        </p:spPr>
      </p:sp>
      <p:sp>
        <p:nvSpPr>
          <p:cNvPr id="60" name="Shape 58"/>
          <p:cNvSpPr/>
          <p:nvPr/>
        </p:nvSpPr>
        <p:spPr>
          <a:xfrm flipV="1">
            <a:off x="9098280" y="4233672"/>
            <a:ext cx="1234440" cy="566928"/>
          </a:xfrm>
          <a:prstGeom prst="line">
            <a:avLst/>
          </a:prstGeom>
          <a:noFill/>
          <a:ln w="6350">
            <a:solidFill>
              <a:srgbClr val="3A4A70">
                <a:alpha val="45000"/>
              </a:srgbClr>
            </a:solidFill>
            <a:prstDash val="solid"/>
          </a:ln>
        </p:spPr>
      </p:sp>
      <p:sp>
        <p:nvSpPr>
          <p:cNvPr id="61" name="Shape 59"/>
          <p:cNvSpPr/>
          <p:nvPr/>
        </p:nvSpPr>
        <p:spPr>
          <a:xfrm>
            <a:off x="9098280" y="4800600"/>
            <a:ext cx="1234440" cy="0"/>
          </a:xfrm>
          <a:prstGeom prst="line">
            <a:avLst/>
          </a:prstGeom>
          <a:noFill/>
          <a:ln w="6350">
            <a:solidFill>
              <a:srgbClr val="3A4A70">
                <a:alpha val="45000"/>
              </a:srgbClr>
            </a:solidFill>
            <a:prstDash val="solid"/>
          </a:ln>
        </p:spPr>
      </p:sp>
      <p:sp>
        <p:nvSpPr>
          <p:cNvPr id="62" name="Shape 60"/>
          <p:cNvSpPr/>
          <p:nvPr/>
        </p:nvSpPr>
        <p:spPr>
          <a:xfrm>
            <a:off x="10332720" y="1965960"/>
            <a:ext cx="1234440" cy="850392"/>
          </a:xfrm>
          <a:prstGeom prst="line">
            <a:avLst/>
          </a:prstGeom>
          <a:noFill/>
          <a:ln w="6350">
            <a:solidFill>
              <a:srgbClr val="3A4A70">
                <a:alpha val="45000"/>
              </a:srgbClr>
            </a:solidFill>
            <a:prstDash val="solid"/>
          </a:ln>
        </p:spPr>
      </p:sp>
      <p:sp>
        <p:nvSpPr>
          <p:cNvPr id="63" name="Shape 61"/>
          <p:cNvSpPr/>
          <p:nvPr/>
        </p:nvSpPr>
        <p:spPr>
          <a:xfrm>
            <a:off x="10332720" y="1965960"/>
            <a:ext cx="1234440" cy="1417320"/>
          </a:xfrm>
          <a:prstGeom prst="line">
            <a:avLst/>
          </a:prstGeom>
          <a:noFill/>
          <a:ln w="6350">
            <a:solidFill>
              <a:srgbClr val="3A4A70">
                <a:alpha val="45000"/>
              </a:srgbClr>
            </a:solidFill>
            <a:prstDash val="solid"/>
          </a:ln>
        </p:spPr>
      </p:sp>
      <p:sp>
        <p:nvSpPr>
          <p:cNvPr id="64" name="Shape 62"/>
          <p:cNvSpPr/>
          <p:nvPr/>
        </p:nvSpPr>
        <p:spPr>
          <a:xfrm>
            <a:off x="10332720" y="1965960"/>
            <a:ext cx="1234440" cy="1984248"/>
          </a:xfrm>
          <a:prstGeom prst="line">
            <a:avLst/>
          </a:prstGeom>
          <a:noFill/>
          <a:ln w="6350">
            <a:solidFill>
              <a:srgbClr val="3A4A70">
                <a:alpha val="45000"/>
              </a:srgbClr>
            </a:solidFill>
            <a:prstDash val="solid"/>
          </a:ln>
        </p:spPr>
      </p:sp>
      <p:sp>
        <p:nvSpPr>
          <p:cNvPr id="65" name="Shape 63"/>
          <p:cNvSpPr/>
          <p:nvPr/>
        </p:nvSpPr>
        <p:spPr>
          <a:xfrm>
            <a:off x="10332720" y="2532888"/>
            <a:ext cx="1234440" cy="283464"/>
          </a:xfrm>
          <a:prstGeom prst="line">
            <a:avLst/>
          </a:prstGeom>
          <a:noFill/>
          <a:ln w="6350">
            <a:solidFill>
              <a:srgbClr val="3A4A70">
                <a:alpha val="45000"/>
              </a:srgbClr>
            </a:solidFill>
            <a:prstDash val="solid"/>
          </a:ln>
        </p:spPr>
      </p:sp>
      <p:sp>
        <p:nvSpPr>
          <p:cNvPr id="66" name="Shape 64"/>
          <p:cNvSpPr/>
          <p:nvPr/>
        </p:nvSpPr>
        <p:spPr>
          <a:xfrm>
            <a:off x="10332720" y="2532888"/>
            <a:ext cx="1234440" cy="850392"/>
          </a:xfrm>
          <a:prstGeom prst="line">
            <a:avLst/>
          </a:prstGeom>
          <a:noFill/>
          <a:ln w="6350">
            <a:solidFill>
              <a:srgbClr val="3A4A70">
                <a:alpha val="45000"/>
              </a:srgbClr>
            </a:solidFill>
            <a:prstDash val="solid"/>
          </a:ln>
        </p:spPr>
      </p:sp>
      <p:sp>
        <p:nvSpPr>
          <p:cNvPr id="67" name="Shape 65"/>
          <p:cNvSpPr/>
          <p:nvPr/>
        </p:nvSpPr>
        <p:spPr>
          <a:xfrm>
            <a:off x="10332720" y="2532888"/>
            <a:ext cx="1234440" cy="1417320"/>
          </a:xfrm>
          <a:prstGeom prst="line">
            <a:avLst/>
          </a:prstGeom>
          <a:noFill/>
          <a:ln w="6350">
            <a:solidFill>
              <a:srgbClr val="3A4A70">
                <a:alpha val="45000"/>
              </a:srgbClr>
            </a:solidFill>
            <a:prstDash val="solid"/>
          </a:ln>
        </p:spPr>
      </p:sp>
      <p:sp>
        <p:nvSpPr>
          <p:cNvPr id="68" name="Shape 66"/>
          <p:cNvSpPr/>
          <p:nvPr/>
        </p:nvSpPr>
        <p:spPr>
          <a:xfrm flipV="1">
            <a:off x="10332720" y="2816352"/>
            <a:ext cx="1234440" cy="283464"/>
          </a:xfrm>
          <a:prstGeom prst="line">
            <a:avLst/>
          </a:prstGeom>
          <a:noFill/>
          <a:ln w="6350">
            <a:solidFill>
              <a:srgbClr val="3A4A70">
                <a:alpha val="45000"/>
              </a:srgbClr>
            </a:solidFill>
            <a:prstDash val="solid"/>
          </a:ln>
        </p:spPr>
      </p:sp>
      <p:sp>
        <p:nvSpPr>
          <p:cNvPr id="69" name="Shape 67"/>
          <p:cNvSpPr/>
          <p:nvPr/>
        </p:nvSpPr>
        <p:spPr>
          <a:xfrm>
            <a:off x="10332720" y="3099816"/>
            <a:ext cx="1234440" cy="283464"/>
          </a:xfrm>
          <a:prstGeom prst="line">
            <a:avLst/>
          </a:prstGeom>
          <a:noFill/>
          <a:ln w="6350">
            <a:solidFill>
              <a:srgbClr val="3A4A70">
                <a:alpha val="45000"/>
              </a:srgbClr>
            </a:solidFill>
            <a:prstDash val="solid"/>
          </a:ln>
        </p:spPr>
      </p:sp>
      <p:sp>
        <p:nvSpPr>
          <p:cNvPr id="70" name="Shape 68"/>
          <p:cNvSpPr/>
          <p:nvPr/>
        </p:nvSpPr>
        <p:spPr>
          <a:xfrm>
            <a:off x="10332720" y="3099816"/>
            <a:ext cx="1234440" cy="850392"/>
          </a:xfrm>
          <a:prstGeom prst="line">
            <a:avLst/>
          </a:prstGeom>
          <a:noFill/>
          <a:ln w="6350">
            <a:solidFill>
              <a:srgbClr val="3A4A70">
                <a:alpha val="45000"/>
              </a:srgbClr>
            </a:solidFill>
            <a:prstDash val="solid"/>
          </a:ln>
        </p:spPr>
      </p:sp>
      <p:sp>
        <p:nvSpPr>
          <p:cNvPr id="71" name="Shape 69"/>
          <p:cNvSpPr/>
          <p:nvPr/>
        </p:nvSpPr>
        <p:spPr>
          <a:xfrm flipV="1">
            <a:off x="10332720" y="2816352"/>
            <a:ext cx="1234440" cy="850392"/>
          </a:xfrm>
          <a:prstGeom prst="line">
            <a:avLst/>
          </a:prstGeom>
          <a:noFill/>
          <a:ln w="6350">
            <a:solidFill>
              <a:srgbClr val="3A4A70">
                <a:alpha val="45000"/>
              </a:srgbClr>
            </a:solidFill>
            <a:prstDash val="solid"/>
          </a:ln>
        </p:spPr>
      </p:sp>
      <p:sp>
        <p:nvSpPr>
          <p:cNvPr id="72" name="Shape 70"/>
          <p:cNvSpPr/>
          <p:nvPr/>
        </p:nvSpPr>
        <p:spPr>
          <a:xfrm flipV="1">
            <a:off x="10332720" y="3383280"/>
            <a:ext cx="1234440" cy="283464"/>
          </a:xfrm>
          <a:prstGeom prst="line">
            <a:avLst/>
          </a:prstGeom>
          <a:noFill/>
          <a:ln w="6350">
            <a:solidFill>
              <a:srgbClr val="3A4A70">
                <a:alpha val="45000"/>
              </a:srgbClr>
            </a:solidFill>
            <a:prstDash val="solid"/>
          </a:ln>
        </p:spPr>
      </p:sp>
      <p:sp>
        <p:nvSpPr>
          <p:cNvPr id="73" name="Shape 71"/>
          <p:cNvSpPr/>
          <p:nvPr/>
        </p:nvSpPr>
        <p:spPr>
          <a:xfrm>
            <a:off x="10332720" y="3666744"/>
            <a:ext cx="1234440" cy="283464"/>
          </a:xfrm>
          <a:prstGeom prst="line">
            <a:avLst/>
          </a:prstGeom>
          <a:noFill/>
          <a:ln w="6350">
            <a:solidFill>
              <a:srgbClr val="3A4A70">
                <a:alpha val="45000"/>
              </a:srgbClr>
            </a:solidFill>
            <a:prstDash val="solid"/>
          </a:ln>
        </p:spPr>
      </p:sp>
      <p:sp>
        <p:nvSpPr>
          <p:cNvPr id="74" name="Shape 72"/>
          <p:cNvSpPr/>
          <p:nvPr/>
        </p:nvSpPr>
        <p:spPr>
          <a:xfrm flipV="1">
            <a:off x="10332720" y="2816352"/>
            <a:ext cx="1234440" cy="1417320"/>
          </a:xfrm>
          <a:prstGeom prst="line">
            <a:avLst/>
          </a:prstGeom>
          <a:noFill/>
          <a:ln w="6350">
            <a:solidFill>
              <a:srgbClr val="3A4A70">
                <a:alpha val="45000"/>
              </a:srgbClr>
            </a:solidFill>
            <a:prstDash val="solid"/>
          </a:ln>
        </p:spPr>
      </p:sp>
      <p:sp>
        <p:nvSpPr>
          <p:cNvPr id="75" name="Shape 73"/>
          <p:cNvSpPr/>
          <p:nvPr/>
        </p:nvSpPr>
        <p:spPr>
          <a:xfrm flipV="1">
            <a:off x="10332720" y="3383280"/>
            <a:ext cx="1234440" cy="850392"/>
          </a:xfrm>
          <a:prstGeom prst="line">
            <a:avLst/>
          </a:prstGeom>
          <a:noFill/>
          <a:ln w="6350">
            <a:solidFill>
              <a:srgbClr val="3A4A70">
                <a:alpha val="45000"/>
              </a:srgbClr>
            </a:solidFill>
            <a:prstDash val="solid"/>
          </a:ln>
        </p:spPr>
      </p:sp>
      <p:sp>
        <p:nvSpPr>
          <p:cNvPr id="76" name="Shape 74"/>
          <p:cNvSpPr/>
          <p:nvPr/>
        </p:nvSpPr>
        <p:spPr>
          <a:xfrm flipV="1">
            <a:off x="10332720" y="3950208"/>
            <a:ext cx="1234440" cy="283464"/>
          </a:xfrm>
          <a:prstGeom prst="line">
            <a:avLst/>
          </a:prstGeom>
          <a:noFill/>
          <a:ln w="6350">
            <a:solidFill>
              <a:srgbClr val="3A4A70">
                <a:alpha val="45000"/>
              </a:srgbClr>
            </a:solidFill>
            <a:prstDash val="solid"/>
          </a:ln>
        </p:spPr>
      </p:sp>
      <p:sp>
        <p:nvSpPr>
          <p:cNvPr id="77" name="Shape 75"/>
          <p:cNvSpPr/>
          <p:nvPr/>
        </p:nvSpPr>
        <p:spPr>
          <a:xfrm flipV="1">
            <a:off x="10332720" y="2816352"/>
            <a:ext cx="1234440" cy="1984248"/>
          </a:xfrm>
          <a:prstGeom prst="line">
            <a:avLst/>
          </a:prstGeom>
          <a:noFill/>
          <a:ln w="6350">
            <a:solidFill>
              <a:srgbClr val="3A4A70">
                <a:alpha val="45000"/>
              </a:srgbClr>
            </a:solidFill>
            <a:prstDash val="solid"/>
          </a:ln>
        </p:spPr>
      </p:sp>
      <p:sp>
        <p:nvSpPr>
          <p:cNvPr id="78" name="Shape 76"/>
          <p:cNvSpPr/>
          <p:nvPr/>
        </p:nvSpPr>
        <p:spPr>
          <a:xfrm flipV="1">
            <a:off x="10332720" y="3383280"/>
            <a:ext cx="1234440" cy="1417320"/>
          </a:xfrm>
          <a:prstGeom prst="line">
            <a:avLst/>
          </a:prstGeom>
          <a:noFill/>
          <a:ln w="6350">
            <a:solidFill>
              <a:srgbClr val="3A4A70">
                <a:alpha val="45000"/>
              </a:srgbClr>
            </a:solidFill>
            <a:prstDash val="solid"/>
          </a:ln>
        </p:spPr>
      </p:sp>
      <p:sp>
        <p:nvSpPr>
          <p:cNvPr id="79" name="Shape 77"/>
          <p:cNvSpPr/>
          <p:nvPr/>
        </p:nvSpPr>
        <p:spPr>
          <a:xfrm flipV="1">
            <a:off x="10332720" y="3950208"/>
            <a:ext cx="1234440" cy="850392"/>
          </a:xfrm>
          <a:prstGeom prst="line">
            <a:avLst/>
          </a:prstGeom>
          <a:noFill/>
          <a:ln w="6350">
            <a:solidFill>
              <a:srgbClr val="3A4A70">
                <a:alpha val="45000"/>
              </a:srgbClr>
            </a:solidFill>
            <a:prstDash val="solid"/>
          </a:ln>
        </p:spPr>
      </p:sp>
      <p:sp>
        <p:nvSpPr>
          <p:cNvPr id="80" name="Shape 78"/>
          <p:cNvSpPr/>
          <p:nvPr/>
        </p:nvSpPr>
        <p:spPr>
          <a:xfrm>
            <a:off x="7795260" y="2464308"/>
            <a:ext cx="137160" cy="137160"/>
          </a:xfrm>
          <a:prstGeom prst="ellipse">
            <a:avLst/>
          </a:prstGeom>
          <a:solidFill>
            <a:srgbClr val="6FA3E0">
              <a:alpha val="65000"/>
            </a:srgbClr>
          </a:solidFill>
          <a:ln w="9525">
            <a:solidFill>
              <a:srgbClr val="8FA3C9">
                <a:alpha val="60000"/>
              </a:srgbClr>
            </a:solidFill>
            <a:prstDash val="solid"/>
          </a:ln>
        </p:spPr>
      </p:sp>
      <p:sp>
        <p:nvSpPr>
          <p:cNvPr id="81" name="Shape 79"/>
          <p:cNvSpPr/>
          <p:nvPr/>
        </p:nvSpPr>
        <p:spPr>
          <a:xfrm>
            <a:off x="7795260" y="3031236"/>
            <a:ext cx="137160" cy="137160"/>
          </a:xfrm>
          <a:prstGeom prst="ellipse">
            <a:avLst/>
          </a:prstGeom>
          <a:solidFill>
            <a:srgbClr val="6FA3E0">
              <a:alpha val="65000"/>
            </a:srgbClr>
          </a:solidFill>
          <a:ln w="9525">
            <a:solidFill>
              <a:srgbClr val="8FA3C9">
                <a:alpha val="60000"/>
              </a:srgbClr>
            </a:solidFill>
            <a:prstDash val="solid"/>
          </a:ln>
        </p:spPr>
      </p:sp>
      <p:sp>
        <p:nvSpPr>
          <p:cNvPr id="82" name="Shape 80"/>
          <p:cNvSpPr/>
          <p:nvPr/>
        </p:nvSpPr>
        <p:spPr>
          <a:xfrm>
            <a:off x="7795260" y="3598164"/>
            <a:ext cx="137160" cy="137160"/>
          </a:xfrm>
          <a:prstGeom prst="ellipse">
            <a:avLst/>
          </a:prstGeom>
          <a:solidFill>
            <a:srgbClr val="6FA3E0">
              <a:alpha val="65000"/>
            </a:srgbClr>
          </a:solidFill>
          <a:ln w="9525">
            <a:solidFill>
              <a:srgbClr val="8FA3C9">
                <a:alpha val="60000"/>
              </a:srgbClr>
            </a:solidFill>
            <a:prstDash val="solid"/>
          </a:ln>
        </p:spPr>
      </p:sp>
      <p:sp>
        <p:nvSpPr>
          <p:cNvPr id="83" name="Shape 81"/>
          <p:cNvSpPr/>
          <p:nvPr/>
        </p:nvSpPr>
        <p:spPr>
          <a:xfrm>
            <a:off x="7795260" y="4165092"/>
            <a:ext cx="137160" cy="137160"/>
          </a:xfrm>
          <a:prstGeom prst="ellipse">
            <a:avLst/>
          </a:prstGeom>
          <a:solidFill>
            <a:srgbClr val="6FA3E0">
              <a:alpha val="65000"/>
            </a:srgbClr>
          </a:solidFill>
          <a:ln w="9525">
            <a:solidFill>
              <a:srgbClr val="8FA3C9">
                <a:alpha val="60000"/>
              </a:srgbClr>
            </a:solidFill>
            <a:prstDash val="solid"/>
          </a:ln>
        </p:spPr>
      </p:sp>
      <p:sp>
        <p:nvSpPr>
          <p:cNvPr id="84" name="Shape 82"/>
          <p:cNvSpPr/>
          <p:nvPr/>
        </p:nvSpPr>
        <p:spPr>
          <a:xfrm>
            <a:off x="9029700" y="1897380"/>
            <a:ext cx="137160" cy="137160"/>
          </a:xfrm>
          <a:prstGeom prst="ellipse">
            <a:avLst/>
          </a:prstGeom>
          <a:solidFill>
            <a:srgbClr val="6FA3E0">
              <a:alpha val="65000"/>
            </a:srgbClr>
          </a:solidFill>
          <a:ln w="9525">
            <a:solidFill>
              <a:srgbClr val="8FA3C9">
                <a:alpha val="60000"/>
              </a:srgbClr>
            </a:solidFill>
            <a:prstDash val="solid"/>
          </a:ln>
        </p:spPr>
      </p:sp>
      <p:sp>
        <p:nvSpPr>
          <p:cNvPr id="85" name="Shape 83"/>
          <p:cNvSpPr/>
          <p:nvPr/>
        </p:nvSpPr>
        <p:spPr>
          <a:xfrm>
            <a:off x="9029700" y="2464308"/>
            <a:ext cx="137160" cy="137160"/>
          </a:xfrm>
          <a:prstGeom prst="ellipse">
            <a:avLst/>
          </a:prstGeom>
          <a:solidFill>
            <a:srgbClr val="6FA3E0">
              <a:alpha val="65000"/>
            </a:srgbClr>
          </a:solidFill>
          <a:ln w="9525">
            <a:solidFill>
              <a:srgbClr val="8FA3C9">
                <a:alpha val="60000"/>
              </a:srgbClr>
            </a:solidFill>
            <a:prstDash val="solid"/>
          </a:ln>
        </p:spPr>
      </p:sp>
      <p:sp>
        <p:nvSpPr>
          <p:cNvPr id="86" name="Shape 84"/>
          <p:cNvSpPr/>
          <p:nvPr/>
        </p:nvSpPr>
        <p:spPr>
          <a:xfrm>
            <a:off x="9029700" y="3031236"/>
            <a:ext cx="137160" cy="137160"/>
          </a:xfrm>
          <a:prstGeom prst="ellipse">
            <a:avLst/>
          </a:prstGeom>
          <a:solidFill>
            <a:srgbClr val="6FA3E0">
              <a:alpha val="65000"/>
            </a:srgbClr>
          </a:solidFill>
          <a:ln w="9525">
            <a:solidFill>
              <a:srgbClr val="8FA3C9">
                <a:alpha val="60000"/>
              </a:srgbClr>
            </a:solidFill>
            <a:prstDash val="solid"/>
          </a:ln>
        </p:spPr>
      </p:sp>
      <p:sp>
        <p:nvSpPr>
          <p:cNvPr id="87" name="Shape 85"/>
          <p:cNvSpPr/>
          <p:nvPr/>
        </p:nvSpPr>
        <p:spPr>
          <a:xfrm>
            <a:off x="9029700" y="3598164"/>
            <a:ext cx="137160" cy="137160"/>
          </a:xfrm>
          <a:prstGeom prst="ellipse">
            <a:avLst/>
          </a:prstGeom>
          <a:solidFill>
            <a:srgbClr val="6FA3E0">
              <a:alpha val="65000"/>
            </a:srgbClr>
          </a:solidFill>
          <a:ln w="9525">
            <a:solidFill>
              <a:srgbClr val="8FA3C9">
                <a:alpha val="60000"/>
              </a:srgbClr>
            </a:solidFill>
            <a:prstDash val="solid"/>
          </a:ln>
        </p:spPr>
      </p:sp>
      <p:sp>
        <p:nvSpPr>
          <p:cNvPr id="88" name="Shape 86"/>
          <p:cNvSpPr/>
          <p:nvPr/>
        </p:nvSpPr>
        <p:spPr>
          <a:xfrm>
            <a:off x="9029700" y="4165092"/>
            <a:ext cx="137160" cy="137160"/>
          </a:xfrm>
          <a:prstGeom prst="ellipse">
            <a:avLst/>
          </a:prstGeom>
          <a:solidFill>
            <a:srgbClr val="6FA3E0">
              <a:alpha val="65000"/>
            </a:srgbClr>
          </a:solidFill>
          <a:ln w="9525">
            <a:solidFill>
              <a:srgbClr val="8FA3C9">
                <a:alpha val="60000"/>
              </a:srgbClr>
            </a:solidFill>
            <a:prstDash val="solid"/>
          </a:ln>
        </p:spPr>
      </p:sp>
      <p:sp>
        <p:nvSpPr>
          <p:cNvPr id="89" name="Shape 87"/>
          <p:cNvSpPr/>
          <p:nvPr/>
        </p:nvSpPr>
        <p:spPr>
          <a:xfrm>
            <a:off x="9029700" y="4732020"/>
            <a:ext cx="137160" cy="137160"/>
          </a:xfrm>
          <a:prstGeom prst="ellipse">
            <a:avLst/>
          </a:prstGeom>
          <a:solidFill>
            <a:srgbClr val="6FA3E0">
              <a:alpha val="65000"/>
            </a:srgbClr>
          </a:solidFill>
          <a:ln w="9525">
            <a:solidFill>
              <a:srgbClr val="8FA3C9">
                <a:alpha val="60000"/>
              </a:srgbClr>
            </a:solidFill>
            <a:prstDash val="solid"/>
          </a:ln>
        </p:spPr>
      </p:sp>
      <p:sp>
        <p:nvSpPr>
          <p:cNvPr id="90" name="Shape 88"/>
          <p:cNvSpPr/>
          <p:nvPr/>
        </p:nvSpPr>
        <p:spPr>
          <a:xfrm>
            <a:off x="10264140" y="1897380"/>
            <a:ext cx="137160" cy="137160"/>
          </a:xfrm>
          <a:prstGeom prst="ellipse">
            <a:avLst/>
          </a:prstGeom>
          <a:solidFill>
            <a:srgbClr val="6FA3E0">
              <a:alpha val="65000"/>
            </a:srgbClr>
          </a:solidFill>
          <a:ln w="9525">
            <a:solidFill>
              <a:srgbClr val="8FA3C9">
                <a:alpha val="60000"/>
              </a:srgbClr>
            </a:solidFill>
            <a:prstDash val="solid"/>
          </a:ln>
        </p:spPr>
      </p:sp>
      <p:sp>
        <p:nvSpPr>
          <p:cNvPr id="91" name="Shape 89"/>
          <p:cNvSpPr/>
          <p:nvPr/>
        </p:nvSpPr>
        <p:spPr>
          <a:xfrm>
            <a:off x="10264140" y="2464308"/>
            <a:ext cx="137160" cy="137160"/>
          </a:xfrm>
          <a:prstGeom prst="ellipse">
            <a:avLst/>
          </a:prstGeom>
          <a:solidFill>
            <a:srgbClr val="6FA3E0">
              <a:alpha val="65000"/>
            </a:srgbClr>
          </a:solidFill>
          <a:ln w="9525">
            <a:solidFill>
              <a:srgbClr val="8FA3C9">
                <a:alpha val="60000"/>
              </a:srgbClr>
            </a:solidFill>
            <a:prstDash val="solid"/>
          </a:ln>
        </p:spPr>
      </p:sp>
      <p:sp>
        <p:nvSpPr>
          <p:cNvPr id="92" name="Shape 90"/>
          <p:cNvSpPr/>
          <p:nvPr/>
        </p:nvSpPr>
        <p:spPr>
          <a:xfrm>
            <a:off x="10264140" y="3031236"/>
            <a:ext cx="137160" cy="137160"/>
          </a:xfrm>
          <a:prstGeom prst="ellipse">
            <a:avLst/>
          </a:prstGeom>
          <a:solidFill>
            <a:srgbClr val="6FA3E0">
              <a:alpha val="65000"/>
            </a:srgbClr>
          </a:solidFill>
          <a:ln w="9525">
            <a:solidFill>
              <a:srgbClr val="8FA3C9">
                <a:alpha val="60000"/>
              </a:srgbClr>
            </a:solidFill>
            <a:prstDash val="solid"/>
          </a:ln>
        </p:spPr>
      </p:sp>
      <p:sp>
        <p:nvSpPr>
          <p:cNvPr id="93" name="Shape 91"/>
          <p:cNvSpPr/>
          <p:nvPr/>
        </p:nvSpPr>
        <p:spPr>
          <a:xfrm>
            <a:off x="10264140" y="3598164"/>
            <a:ext cx="137160" cy="137160"/>
          </a:xfrm>
          <a:prstGeom prst="ellipse">
            <a:avLst/>
          </a:prstGeom>
          <a:solidFill>
            <a:srgbClr val="6FA3E0">
              <a:alpha val="65000"/>
            </a:srgbClr>
          </a:solidFill>
          <a:ln w="9525">
            <a:solidFill>
              <a:srgbClr val="8FA3C9">
                <a:alpha val="60000"/>
              </a:srgbClr>
            </a:solidFill>
            <a:prstDash val="solid"/>
          </a:ln>
        </p:spPr>
      </p:sp>
      <p:sp>
        <p:nvSpPr>
          <p:cNvPr id="94" name="Shape 92"/>
          <p:cNvSpPr/>
          <p:nvPr/>
        </p:nvSpPr>
        <p:spPr>
          <a:xfrm>
            <a:off x="10264140" y="4165092"/>
            <a:ext cx="137160" cy="137160"/>
          </a:xfrm>
          <a:prstGeom prst="ellipse">
            <a:avLst/>
          </a:prstGeom>
          <a:solidFill>
            <a:srgbClr val="6FA3E0">
              <a:alpha val="65000"/>
            </a:srgbClr>
          </a:solidFill>
          <a:ln w="9525">
            <a:solidFill>
              <a:srgbClr val="8FA3C9">
                <a:alpha val="60000"/>
              </a:srgbClr>
            </a:solidFill>
            <a:prstDash val="solid"/>
          </a:ln>
        </p:spPr>
      </p:sp>
      <p:sp>
        <p:nvSpPr>
          <p:cNvPr id="95" name="Shape 93"/>
          <p:cNvSpPr/>
          <p:nvPr/>
        </p:nvSpPr>
        <p:spPr>
          <a:xfrm>
            <a:off x="10264140" y="4732020"/>
            <a:ext cx="137160" cy="137160"/>
          </a:xfrm>
          <a:prstGeom prst="ellipse">
            <a:avLst/>
          </a:prstGeom>
          <a:solidFill>
            <a:srgbClr val="6FA3E0">
              <a:alpha val="65000"/>
            </a:srgbClr>
          </a:solidFill>
          <a:ln w="9525">
            <a:solidFill>
              <a:srgbClr val="8FA3C9">
                <a:alpha val="60000"/>
              </a:srgbClr>
            </a:solidFill>
            <a:prstDash val="solid"/>
          </a:ln>
        </p:spPr>
      </p:sp>
      <p:sp>
        <p:nvSpPr>
          <p:cNvPr id="96" name="Shape 94"/>
          <p:cNvSpPr/>
          <p:nvPr/>
        </p:nvSpPr>
        <p:spPr>
          <a:xfrm>
            <a:off x="11498580" y="2747772"/>
            <a:ext cx="137160" cy="137160"/>
          </a:xfrm>
          <a:prstGeom prst="ellipse">
            <a:avLst/>
          </a:prstGeom>
          <a:solidFill>
            <a:srgbClr val="6FA3E0">
              <a:alpha val="65000"/>
            </a:srgbClr>
          </a:solidFill>
          <a:ln w="9525">
            <a:solidFill>
              <a:srgbClr val="8FA3C9">
                <a:alpha val="60000"/>
              </a:srgbClr>
            </a:solidFill>
            <a:prstDash val="solid"/>
          </a:ln>
        </p:spPr>
      </p:sp>
      <p:sp>
        <p:nvSpPr>
          <p:cNvPr id="97" name="Shape 95"/>
          <p:cNvSpPr/>
          <p:nvPr/>
        </p:nvSpPr>
        <p:spPr>
          <a:xfrm>
            <a:off x="11498580" y="3314700"/>
            <a:ext cx="137160" cy="137160"/>
          </a:xfrm>
          <a:prstGeom prst="ellipse">
            <a:avLst/>
          </a:prstGeom>
          <a:solidFill>
            <a:srgbClr val="6FA3E0">
              <a:alpha val="65000"/>
            </a:srgbClr>
          </a:solidFill>
          <a:ln w="9525">
            <a:solidFill>
              <a:srgbClr val="8FA3C9">
                <a:alpha val="60000"/>
              </a:srgbClr>
            </a:solidFill>
            <a:prstDash val="solid"/>
          </a:ln>
        </p:spPr>
      </p:sp>
      <p:sp>
        <p:nvSpPr>
          <p:cNvPr id="98" name="Shape 96"/>
          <p:cNvSpPr/>
          <p:nvPr/>
        </p:nvSpPr>
        <p:spPr>
          <a:xfrm>
            <a:off x="11498580" y="3881628"/>
            <a:ext cx="137160" cy="137160"/>
          </a:xfrm>
          <a:prstGeom prst="ellipse">
            <a:avLst/>
          </a:prstGeom>
          <a:solidFill>
            <a:srgbClr val="6FA3E0">
              <a:alpha val="65000"/>
            </a:srgbClr>
          </a:solidFill>
          <a:ln w="9525">
            <a:solidFill>
              <a:srgbClr val="8FA3C9">
                <a:alpha val="60000"/>
              </a:srgbClr>
            </a:solidFill>
            <a:prstDash val="solid"/>
          </a:ln>
        </p:spPr>
      </p:sp>
      <p:sp>
        <p:nvSpPr>
          <p:cNvPr id="99" name="Text 97"/>
          <p:cNvSpPr txBox="1"/>
          <p:nvPr/>
        </p:nvSpPr>
        <p:spPr>
          <a:xfrm>
            <a:off x="640080" y="1965960"/>
            <a:ext cx="10911535" cy="1097280"/>
          </a:xfrm>
          <a:prstGeom prst="rect">
            <a:avLst/>
          </a:prstGeom>
          <a:noFill/>
          <a:ln/>
        </p:spPr>
        <p:txBody>
          <a:bodyPr wrap="square" lIns="0" tIns="0" rIns="0" bIns="0" rtlCol="0" anchor="ctr"/>
          <a:lstStyle/>
          <a:p>
            <a:pPr marL="0" indent="0" algn="ctr">
              <a:buNone/>
            </a:pPr>
            <a:r>
              <a:rPr lang="en-US" sz="3400" b="1" dirty="0">
                <a:solidFill>
                  <a:srgbClr val="FFFFFF"/>
                </a:solidFill>
                <a:latin typeface="Cambria" pitchFamily="34" charset="0"/>
                <a:ea typeface="Cambria" pitchFamily="34" charset="-122"/>
                <a:cs typeface="Cambria" pitchFamily="34" charset="-120"/>
              </a:rPr>
              <a:t>Backpropagation &amp; Parameter Initialization</a:t>
            </a:r>
            <a:endParaRPr lang="en-US" sz="3400" dirty="0"/>
          </a:p>
        </p:txBody>
      </p:sp>
      <p:sp>
        <p:nvSpPr>
          <p:cNvPr id="100" name="Text 98"/>
          <p:cNvSpPr txBox="1"/>
          <p:nvPr/>
        </p:nvSpPr>
        <p:spPr>
          <a:xfrm>
            <a:off x="640080" y="2788920"/>
            <a:ext cx="10911535" cy="548640"/>
          </a:xfrm>
          <a:prstGeom prst="rect">
            <a:avLst/>
          </a:prstGeom>
          <a:noFill/>
          <a:ln/>
        </p:spPr>
        <p:txBody>
          <a:bodyPr wrap="square" lIns="0" tIns="0" rIns="0" bIns="0" rtlCol="0" anchor="ctr"/>
          <a:lstStyle/>
          <a:p>
            <a:pPr marL="0" indent="0" algn="ctr">
              <a:buNone/>
            </a:pPr>
            <a:r>
              <a:rPr lang="en-US" sz="2200" dirty="0">
                <a:solidFill>
                  <a:srgbClr val="FFFFFF"/>
                </a:solidFill>
                <a:latin typeface="Cambria" pitchFamily="34" charset="0"/>
                <a:ea typeface="Cambria" pitchFamily="34" charset="-122"/>
                <a:cs typeface="Cambria" pitchFamily="34" charset="-120"/>
              </a:rPr>
              <a:t>in Deep Neural Networks</a:t>
            </a:r>
            <a:endParaRPr lang="en-US" sz="2200" dirty="0"/>
          </a:p>
        </p:txBody>
      </p:sp>
      <p:sp>
        <p:nvSpPr>
          <p:cNvPr id="101" name="Text 99"/>
          <p:cNvSpPr txBox="1"/>
          <p:nvPr/>
        </p:nvSpPr>
        <p:spPr>
          <a:xfrm>
            <a:off x="640080" y="3520440"/>
            <a:ext cx="10911535" cy="457200"/>
          </a:xfrm>
          <a:prstGeom prst="rect">
            <a:avLst/>
          </a:prstGeom>
          <a:noFill/>
          <a:ln/>
        </p:spPr>
        <p:txBody>
          <a:bodyPr wrap="square" lIns="0" tIns="0" rIns="0" bIns="0" rtlCol="0" anchor="ctr"/>
          <a:lstStyle/>
          <a:p>
            <a:pPr marL="0" indent="0" algn="ctr">
              <a:buNone/>
            </a:pPr>
            <a:r>
              <a:rPr lang="en-US" sz="1500" i="1" dirty="0">
                <a:solidFill>
                  <a:srgbClr val="CADCFC"/>
                </a:solidFill>
                <a:latin typeface="Calibri" pitchFamily="34" charset="0"/>
                <a:ea typeface="Calibri" pitchFamily="34" charset="-122"/>
                <a:cs typeface="Calibri" pitchFamily="34" charset="-120"/>
              </a:rPr>
              <a:t>How gradients and initialization determine whether a neural network can learn</a:t>
            </a:r>
            <a:endParaRPr lang="en-US" sz="1500" dirty="0"/>
          </a:p>
        </p:txBody>
      </p:sp>
      <p:sp>
        <p:nvSpPr>
          <p:cNvPr id="102" name="Shape 100"/>
          <p:cNvSpPr/>
          <p:nvPr/>
        </p:nvSpPr>
        <p:spPr>
          <a:xfrm>
            <a:off x="5272888" y="4160520"/>
            <a:ext cx="1645920" cy="0"/>
          </a:xfrm>
          <a:prstGeom prst="line">
            <a:avLst/>
          </a:prstGeom>
          <a:noFill/>
          <a:ln w="25400">
            <a:solidFill>
              <a:srgbClr val="285AB4"/>
            </a:solidFill>
            <a:prstDash val="solid"/>
          </a:ln>
        </p:spPr>
      </p:sp>
      <p:sp>
        <p:nvSpPr>
          <p:cNvPr id="103" name="Text 101"/>
          <p:cNvSpPr txBox="1"/>
          <p:nvPr/>
        </p:nvSpPr>
        <p:spPr>
          <a:xfrm>
            <a:off x="640080" y="4389120"/>
            <a:ext cx="10911535" cy="365760"/>
          </a:xfrm>
          <a:prstGeom prst="rect">
            <a:avLst/>
          </a:prstGeom>
          <a:noFill/>
          <a:ln/>
        </p:spPr>
        <p:txBody>
          <a:bodyPr wrap="square" lIns="0" tIns="0" rIns="0" bIns="0" rtlCol="0" anchor="ctr"/>
          <a:lstStyle/>
          <a:p>
            <a:pPr marL="0" indent="0" algn="ctr">
              <a:buNone/>
            </a:pPr>
            <a:r>
              <a:rPr lang="en-US" sz="1250" dirty="0">
                <a:solidFill>
                  <a:srgbClr val="8FA3C9"/>
                </a:solidFill>
                <a:latin typeface="Calibri" pitchFamily="34" charset="0"/>
                <a:ea typeface="Calibri" pitchFamily="34" charset="-122"/>
                <a:cs typeface="Calibri" pitchFamily="34" charset="-120"/>
              </a:rPr>
              <a:t>Đạo hàm &amp; Khởi tạo trong Deep Learning — Backpropagation và Parameter Initialization</a:t>
            </a:r>
            <a:endParaRPr lang="en-US" sz="1250" dirty="0"/>
          </a:p>
        </p:txBody>
      </p:sp>
      <p:sp>
        <p:nvSpPr>
          <p:cNvPr id="104" name="Text 102"/>
          <p:cNvSpPr txBox="1"/>
          <p:nvPr/>
        </p:nvSpPr>
        <p:spPr>
          <a:xfrm>
            <a:off x="640080" y="5943600"/>
            <a:ext cx="10911535" cy="365760"/>
          </a:xfrm>
          <a:prstGeom prst="rect">
            <a:avLst/>
          </a:prstGeom>
          <a:noFill/>
          <a:ln/>
        </p:spPr>
        <p:txBody>
          <a:bodyPr wrap="square" lIns="0" tIns="0" rIns="0" bIns="0" rtlCol="0" anchor="ctr"/>
          <a:lstStyle/>
          <a:p>
            <a:pPr marL="0" indent="0" algn="ctr">
              <a:buNone/>
            </a:pPr>
            <a:r>
              <a:rPr lang="en-US" sz="1300" dirty="0">
                <a:solidFill>
                  <a:srgbClr val="8FA3C9"/>
                </a:solidFill>
                <a:latin typeface="Calibri" pitchFamily="34" charset="0"/>
                <a:ea typeface="Calibri" pitchFamily="34" charset="-122"/>
                <a:cs typeface="Calibri" pitchFamily="34" charset="-120"/>
              </a:rPr>
              <a:t>Bùi Đức Quân · Học phần Deep Learning (Thạc sĩ) · Tháng 9, 2026</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txBox="1"/>
          <p:nvPr/>
        </p:nvSpPr>
        <p:spPr>
          <a:xfrm>
            <a:off x="640080" y="457200"/>
            <a:ext cx="9144000" cy="320040"/>
          </a:xfrm>
          <a:prstGeom prst="rect">
            <a:avLst/>
          </a:prstGeom>
          <a:noFill/>
          <a:ln/>
        </p:spPr>
        <p:txBody>
          <a:bodyPr wrap="square" lIns="0" tIns="0" rIns="0" bIns="0" rtlCol="0" anchor="ctr"/>
          <a:lstStyle/>
          <a:p>
            <a:pPr marL="0" indent="0">
              <a:buNone/>
            </a:pPr>
            <a:r>
              <a:rPr lang="en-US" sz="1300" b="1" kern="0" spc="100" dirty="0">
                <a:solidFill>
                  <a:srgbClr val="285AB4"/>
                </a:solidFill>
                <a:latin typeface="Calibri" pitchFamily="34" charset="0"/>
                <a:ea typeface="Calibri" pitchFamily="34" charset="-122"/>
                <a:cs typeface="Calibri" pitchFamily="34" charset="-120"/>
              </a:rPr>
              <a:t>MOTIVATION</a:t>
            </a:r>
            <a:endParaRPr lang="en-US" sz="1300" dirty="0"/>
          </a:p>
        </p:txBody>
      </p:sp>
      <p:sp>
        <p:nvSpPr>
          <p:cNvPr id="3" name="Text 1"/>
          <p:cNvSpPr txBox="1"/>
          <p:nvPr/>
        </p:nvSpPr>
        <p:spPr>
          <a:xfrm>
            <a:off x="640080" y="749808"/>
            <a:ext cx="10911535" cy="822960"/>
          </a:xfrm>
          <a:prstGeom prst="rect">
            <a:avLst/>
          </a:prstGeom>
          <a:noFill/>
          <a:ln/>
        </p:spPr>
        <p:txBody>
          <a:bodyPr wrap="square" lIns="0" tIns="0" rIns="0" bIns="0" rtlCol="0" anchor="t"/>
          <a:lstStyle/>
          <a:p>
            <a:pPr marL="0" indent="0">
              <a:buNone/>
            </a:pPr>
            <a:r>
              <a:rPr lang="en-US" sz="2900" b="1" dirty="0">
                <a:solidFill>
                  <a:srgbClr val="1A2238"/>
                </a:solidFill>
                <a:latin typeface="Cambria" pitchFamily="34" charset="0"/>
                <a:ea typeface="Cambria" pitchFamily="34" charset="-122"/>
                <a:cs typeface="Cambria" pitchFamily="34" charset="-120"/>
              </a:rPr>
              <a:t>How does a 50-layer network learn?</a:t>
            </a:r>
            <a:endParaRPr lang="en-US" sz="2900" dirty="0"/>
          </a:p>
        </p:txBody>
      </p:sp>
      <p:sp>
        <p:nvSpPr>
          <p:cNvPr id="4" name="Shape 2"/>
          <p:cNvSpPr/>
          <p:nvPr/>
        </p:nvSpPr>
        <p:spPr>
          <a:xfrm>
            <a:off x="4907128" y="1783080"/>
            <a:ext cx="2377440" cy="502920"/>
          </a:xfrm>
          <a:prstGeom prst="roundRect">
            <a:avLst>
              <a:gd name="adj" fmla="val 10909"/>
            </a:avLst>
          </a:prstGeom>
          <a:solidFill>
            <a:srgbClr val="F1F4F9"/>
          </a:solidFill>
          <a:ln w="15875">
            <a:solidFill>
              <a:srgbClr val="D9DEE8"/>
            </a:solidFill>
            <a:prstDash val="solid"/>
          </a:ln>
        </p:spPr>
      </p:sp>
      <p:sp>
        <p:nvSpPr>
          <p:cNvPr id="5" name="Text 3"/>
          <p:cNvSpPr txBox="1"/>
          <p:nvPr/>
        </p:nvSpPr>
        <p:spPr>
          <a:xfrm>
            <a:off x="4907128" y="1783080"/>
            <a:ext cx="2377440" cy="502920"/>
          </a:xfrm>
          <a:prstGeom prst="rect">
            <a:avLst/>
          </a:prstGeom>
          <a:noFill/>
          <a:ln/>
        </p:spPr>
        <p:txBody>
          <a:bodyPr wrap="square" lIns="0" tIns="0" rIns="0" bIns="0" rtlCol="0" anchor="ctr"/>
          <a:lstStyle/>
          <a:p>
            <a:pPr marL="0" indent="0" algn="ctr">
              <a:buNone/>
            </a:pPr>
            <a:r>
              <a:rPr lang="en-US" sz="1350" dirty="0">
                <a:solidFill>
                  <a:srgbClr val="1A2238"/>
                </a:solidFill>
                <a:latin typeface="Cambria Math" pitchFamily="34" charset="0"/>
                <a:ea typeface="Cambria Math" pitchFamily="34" charset="-122"/>
                <a:cs typeface="Cambria Math" pitchFamily="34" charset="-120"/>
              </a:rPr>
              <a:t>Input</a:t>
            </a:r>
            <a:endParaRPr lang="en-US" sz="1350" dirty="0"/>
          </a:p>
        </p:txBody>
      </p:sp>
      <p:sp>
        <p:nvSpPr>
          <p:cNvPr id="6" name="Shape 4"/>
          <p:cNvSpPr/>
          <p:nvPr/>
        </p:nvSpPr>
        <p:spPr>
          <a:xfrm>
            <a:off x="6095848" y="2286000"/>
            <a:ext cx="0" cy="292608"/>
          </a:xfrm>
          <a:prstGeom prst="line">
            <a:avLst/>
          </a:prstGeom>
          <a:noFill/>
          <a:ln w="25400">
            <a:solidFill>
              <a:srgbClr val="285AB4"/>
            </a:solidFill>
            <a:prstDash val="solid"/>
            <a:tailEnd type="triangle"/>
          </a:ln>
        </p:spPr>
      </p:sp>
      <p:sp>
        <p:nvSpPr>
          <p:cNvPr id="7" name="Shape 5"/>
          <p:cNvSpPr/>
          <p:nvPr/>
        </p:nvSpPr>
        <p:spPr>
          <a:xfrm>
            <a:off x="4907128" y="2578608"/>
            <a:ext cx="2377440" cy="502920"/>
          </a:xfrm>
          <a:prstGeom prst="roundRect">
            <a:avLst>
              <a:gd name="adj" fmla="val 10909"/>
            </a:avLst>
          </a:prstGeom>
          <a:solidFill>
            <a:srgbClr val="F1F4F9"/>
          </a:solidFill>
          <a:ln w="15875">
            <a:solidFill>
              <a:srgbClr val="D9DEE8"/>
            </a:solidFill>
            <a:prstDash val="solid"/>
          </a:ln>
        </p:spPr>
      </p:sp>
      <p:sp>
        <p:nvSpPr>
          <p:cNvPr id="8" name="Text 6"/>
          <p:cNvSpPr txBox="1"/>
          <p:nvPr/>
        </p:nvSpPr>
        <p:spPr>
          <a:xfrm>
            <a:off x="4907128" y="2578608"/>
            <a:ext cx="2377440" cy="502920"/>
          </a:xfrm>
          <a:prstGeom prst="rect">
            <a:avLst/>
          </a:prstGeom>
          <a:noFill/>
          <a:ln/>
        </p:spPr>
        <p:txBody>
          <a:bodyPr wrap="square" lIns="0" tIns="0" rIns="0" bIns="0" rtlCol="0" anchor="ctr"/>
          <a:lstStyle/>
          <a:p>
            <a:pPr marL="0" indent="0" algn="ctr">
              <a:buNone/>
            </a:pPr>
            <a:r>
              <a:rPr lang="en-US" sz="1350" dirty="0">
                <a:solidFill>
                  <a:srgbClr val="1A2238"/>
                </a:solidFill>
                <a:latin typeface="Cambria Math" pitchFamily="34" charset="0"/>
                <a:ea typeface="Cambria Math" pitchFamily="34" charset="-122"/>
                <a:cs typeface="Cambria Math" pitchFamily="34" charset="-120"/>
              </a:rPr>
              <a:t>Layer 1</a:t>
            </a:r>
            <a:endParaRPr lang="en-US" sz="1350" dirty="0"/>
          </a:p>
        </p:txBody>
      </p:sp>
      <p:sp>
        <p:nvSpPr>
          <p:cNvPr id="9" name="Shape 7"/>
          <p:cNvSpPr/>
          <p:nvPr/>
        </p:nvSpPr>
        <p:spPr>
          <a:xfrm>
            <a:off x="6095848" y="3081528"/>
            <a:ext cx="0" cy="292608"/>
          </a:xfrm>
          <a:prstGeom prst="line">
            <a:avLst/>
          </a:prstGeom>
          <a:noFill/>
          <a:ln w="25400">
            <a:solidFill>
              <a:srgbClr val="285AB4"/>
            </a:solidFill>
            <a:prstDash val="solid"/>
            <a:tailEnd type="triangle"/>
          </a:ln>
        </p:spPr>
      </p:sp>
      <p:sp>
        <p:nvSpPr>
          <p:cNvPr id="10" name="Shape 8"/>
          <p:cNvSpPr/>
          <p:nvPr/>
        </p:nvSpPr>
        <p:spPr>
          <a:xfrm>
            <a:off x="4907128" y="3374136"/>
            <a:ext cx="2377440" cy="502920"/>
          </a:xfrm>
          <a:prstGeom prst="roundRect">
            <a:avLst>
              <a:gd name="adj" fmla="val 10909"/>
            </a:avLst>
          </a:prstGeom>
          <a:solidFill>
            <a:srgbClr val="F1F4F9"/>
          </a:solidFill>
          <a:ln w="15875">
            <a:solidFill>
              <a:srgbClr val="D9DEE8"/>
            </a:solidFill>
            <a:prstDash val="solid"/>
          </a:ln>
        </p:spPr>
      </p:sp>
      <p:sp>
        <p:nvSpPr>
          <p:cNvPr id="11" name="Text 9"/>
          <p:cNvSpPr txBox="1"/>
          <p:nvPr/>
        </p:nvSpPr>
        <p:spPr>
          <a:xfrm>
            <a:off x="4907128" y="3374136"/>
            <a:ext cx="2377440" cy="502920"/>
          </a:xfrm>
          <a:prstGeom prst="rect">
            <a:avLst/>
          </a:prstGeom>
          <a:noFill/>
          <a:ln/>
        </p:spPr>
        <p:txBody>
          <a:bodyPr wrap="square" lIns="0" tIns="0" rIns="0" bIns="0" rtlCol="0" anchor="ctr"/>
          <a:lstStyle/>
          <a:p>
            <a:pPr marL="0" indent="0" algn="ctr">
              <a:buNone/>
            </a:pPr>
            <a:r>
              <a:rPr lang="en-US" sz="1350" dirty="0">
                <a:solidFill>
                  <a:srgbClr val="1A2238"/>
                </a:solidFill>
                <a:latin typeface="Cambria Math" pitchFamily="34" charset="0"/>
                <a:ea typeface="Cambria Math" pitchFamily="34" charset="-122"/>
                <a:cs typeface="Cambria Math" pitchFamily="34" charset="-120"/>
              </a:rPr>
              <a:t>Layer 2</a:t>
            </a:r>
            <a:endParaRPr lang="en-US" sz="1350" dirty="0"/>
          </a:p>
        </p:txBody>
      </p:sp>
      <p:sp>
        <p:nvSpPr>
          <p:cNvPr id="12" name="Shape 10"/>
          <p:cNvSpPr/>
          <p:nvPr/>
        </p:nvSpPr>
        <p:spPr>
          <a:xfrm>
            <a:off x="6095848" y="3877056"/>
            <a:ext cx="0" cy="292608"/>
          </a:xfrm>
          <a:prstGeom prst="line">
            <a:avLst/>
          </a:prstGeom>
          <a:noFill/>
          <a:ln w="25400">
            <a:solidFill>
              <a:srgbClr val="285AB4"/>
            </a:solidFill>
            <a:prstDash val="solid"/>
            <a:tailEnd type="triangle"/>
          </a:ln>
        </p:spPr>
      </p:sp>
      <p:sp>
        <p:nvSpPr>
          <p:cNvPr id="13" name="Shape 11"/>
          <p:cNvSpPr/>
          <p:nvPr/>
        </p:nvSpPr>
        <p:spPr>
          <a:xfrm>
            <a:off x="4907128" y="4169664"/>
            <a:ext cx="2377440" cy="502920"/>
          </a:xfrm>
          <a:prstGeom prst="roundRect">
            <a:avLst>
              <a:gd name="adj" fmla="val 10909"/>
            </a:avLst>
          </a:prstGeom>
          <a:solidFill>
            <a:srgbClr val="F1F4F9"/>
          </a:solidFill>
          <a:ln w="15875">
            <a:solidFill>
              <a:srgbClr val="D9DEE8"/>
            </a:solidFill>
            <a:prstDash val="solid"/>
          </a:ln>
        </p:spPr>
      </p:sp>
      <p:sp>
        <p:nvSpPr>
          <p:cNvPr id="14" name="Text 12"/>
          <p:cNvSpPr txBox="1"/>
          <p:nvPr/>
        </p:nvSpPr>
        <p:spPr>
          <a:xfrm>
            <a:off x="4907128" y="4169664"/>
            <a:ext cx="2377440" cy="502920"/>
          </a:xfrm>
          <a:prstGeom prst="rect">
            <a:avLst/>
          </a:prstGeom>
          <a:noFill/>
          <a:ln/>
        </p:spPr>
        <p:txBody>
          <a:bodyPr wrap="square" lIns="0" tIns="0" rIns="0" bIns="0" rtlCol="0" anchor="ctr"/>
          <a:lstStyle/>
          <a:p>
            <a:pPr marL="0" indent="0" algn="ctr">
              <a:buNone/>
            </a:pPr>
            <a:r>
              <a:rPr lang="en-US" sz="1350" dirty="0">
                <a:solidFill>
                  <a:srgbClr val="1A2238"/>
                </a:solidFill>
                <a:latin typeface="Cambria Math" pitchFamily="34" charset="0"/>
                <a:ea typeface="Cambria Math" pitchFamily="34" charset="-122"/>
                <a:cs typeface="Cambria Math" pitchFamily="34" charset="-120"/>
              </a:rPr>
              <a:t>...</a:t>
            </a:r>
            <a:endParaRPr lang="en-US" sz="1350" dirty="0"/>
          </a:p>
        </p:txBody>
      </p:sp>
      <p:sp>
        <p:nvSpPr>
          <p:cNvPr id="15" name="Shape 13"/>
          <p:cNvSpPr/>
          <p:nvPr/>
        </p:nvSpPr>
        <p:spPr>
          <a:xfrm>
            <a:off x="6095848" y="4672584"/>
            <a:ext cx="0" cy="292608"/>
          </a:xfrm>
          <a:prstGeom prst="line">
            <a:avLst/>
          </a:prstGeom>
          <a:noFill/>
          <a:ln w="25400">
            <a:solidFill>
              <a:srgbClr val="285AB4"/>
            </a:solidFill>
            <a:prstDash val="solid"/>
            <a:tailEnd type="triangle"/>
          </a:ln>
        </p:spPr>
      </p:sp>
      <p:sp>
        <p:nvSpPr>
          <p:cNvPr id="16" name="Shape 14"/>
          <p:cNvSpPr/>
          <p:nvPr/>
        </p:nvSpPr>
        <p:spPr>
          <a:xfrm>
            <a:off x="4907128" y="4965192"/>
            <a:ext cx="2377440" cy="502920"/>
          </a:xfrm>
          <a:prstGeom prst="roundRect">
            <a:avLst>
              <a:gd name="adj" fmla="val 10909"/>
            </a:avLst>
          </a:prstGeom>
          <a:solidFill>
            <a:srgbClr val="F1F4F9"/>
          </a:solidFill>
          <a:ln w="15875">
            <a:solidFill>
              <a:srgbClr val="D9DEE8"/>
            </a:solidFill>
            <a:prstDash val="solid"/>
          </a:ln>
        </p:spPr>
      </p:sp>
      <p:sp>
        <p:nvSpPr>
          <p:cNvPr id="17" name="Text 15"/>
          <p:cNvSpPr txBox="1"/>
          <p:nvPr/>
        </p:nvSpPr>
        <p:spPr>
          <a:xfrm>
            <a:off x="4907128" y="4965192"/>
            <a:ext cx="2377440" cy="502920"/>
          </a:xfrm>
          <a:prstGeom prst="rect">
            <a:avLst/>
          </a:prstGeom>
          <a:noFill/>
          <a:ln/>
        </p:spPr>
        <p:txBody>
          <a:bodyPr wrap="square" lIns="0" tIns="0" rIns="0" bIns="0" rtlCol="0" anchor="ctr"/>
          <a:lstStyle/>
          <a:p>
            <a:pPr marL="0" indent="0" algn="ctr">
              <a:buNone/>
            </a:pPr>
            <a:r>
              <a:rPr lang="en-US" sz="1350" dirty="0">
                <a:solidFill>
                  <a:srgbClr val="1A2238"/>
                </a:solidFill>
                <a:latin typeface="Cambria Math" pitchFamily="34" charset="0"/>
                <a:ea typeface="Cambria Math" pitchFamily="34" charset="-122"/>
                <a:cs typeface="Cambria Math" pitchFamily="34" charset="-120"/>
              </a:rPr>
              <a:t>Layer 50</a:t>
            </a:r>
            <a:endParaRPr lang="en-US" sz="1350" dirty="0"/>
          </a:p>
        </p:txBody>
      </p:sp>
      <p:sp>
        <p:nvSpPr>
          <p:cNvPr id="18" name="Shape 16"/>
          <p:cNvSpPr/>
          <p:nvPr/>
        </p:nvSpPr>
        <p:spPr>
          <a:xfrm>
            <a:off x="6095848" y="5468112"/>
            <a:ext cx="0" cy="292608"/>
          </a:xfrm>
          <a:prstGeom prst="line">
            <a:avLst/>
          </a:prstGeom>
          <a:noFill/>
          <a:ln w="25400">
            <a:solidFill>
              <a:srgbClr val="285AB4"/>
            </a:solidFill>
            <a:prstDash val="solid"/>
            <a:tailEnd type="triangle"/>
          </a:ln>
        </p:spPr>
      </p:sp>
      <p:sp>
        <p:nvSpPr>
          <p:cNvPr id="19" name="Shape 17"/>
          <p:cNvSpPr/>
          <p:nvPr/>
        </p:nvSpPr>
        <p:spPr>
          <a:xfrm>
            <a:off x="4907128" y="5760720"/>
            <a:ext cx="2377440" cy="502920"/>
          </a:xfrm>
          <a:prstGeom prst="roundRect">
            <a:avLst>
              <a:gd name="adj" fmla="val 10909"/>
            </a:avLst>
          </a:prstGeom>
          <a:solidFill>
            <a:srgbClr val="FBEEEC"/>
          </a:solidFill>
          <a:ln w="15875">
            <a:solidFill>
              <a:srgbClr val="BE3C32"/>
            </a:solidFill>
            <a:prstDash val="solid"/>
          </a:ln>
        </p:spPr>
      </p:sp>
      <p:sp>
        <p:nvSpPr>
          <p:cNvPr id="20" name="Text 18"/>
          <p:cNvSpPr txBox="1"/>
          <p:nvPr/>
        </p:nvSpPr>
        <p:spPr>
          <a:xfrm>
            <a:off x="4907128" y="5760720"/>
            <a:ext cx="2377440" cy="502920"/>
          </a:xfrm>
          <a:prstGeom prst="rect">
            <a:avLst/>
          </a:prstGeom>
          <a:noFill/>
          <a:ln/>
        </p:spPr>
        <p:txBody>
          <a:bodyPr wrap="square" lIns="0" tIns="0" rIns="0" bIns="0" rtlCol="0" anchor="ctr"/>
          <a:lstStyle/>
          <a:p>
            <a:pPr marL="0" indent="0" algn="ctr">
              <a:buNone/>
            </a:pPr>
            <a:r>
              <a:rPr lang="en-US" sz="1350" dirty="0">
                <a:solidFill>
                  <a:srgbClr val="1A2238"/>
                </a:solidFill>
                <a:latin typeface="Cambria Math" pitchFamily="34" charset="0"/>
                <a:ea typeface="Cambria Math" pitchFamily="34" charset="-122"/>
                <a:cs typeface="Cambria Math" pitchFamily="34" charset="-120"/>
              </a:rPr>
              <a:t>Loss</a:t>
            </a:r>
            <a:endParaRPr lang="en-US" sz="1350" dirty="0"/>
          </a:p>
        </p:txBody>
      </p:sp>
      <p:sp>
        <p:nvSpPr>
          <p:cNvPr id="21" name="Text 19"/>
          <p:cNvSpPr txBox="1"/>
          <p:nvPr/>
        </p:nvSpPr>
        <p:spPr>
          <a:xfrm>
            <a:off x="640080" y="1737360"/>
            <a:ext cx="3931920" cy="731520"/>
          </a:xfrm>
          <a:prstGeom prst="rect">
            <a:avLst/>
          </a:prstGeom>
          <a:noFill/>
          <a:ln/>
        </p:spPr>
        <p:txBody>
          <a:bodyPr wrap="square" lIns="0" tIns="0" rIns="0" bIns="0" rtlCol="0" anchor="ctr"/>
          <a:lstStyle/>
          <a:p>
            <a:pPr marL="0" indent="0">
              <a:buNone/>
            </a:pPr>
            <a:r>
              <a:rPr lang="en-US" sz="1500" i="1" dirty="0">
                <a:solidFill>
                  <a:srgbClr val="1A2238"/>
                </a:solidFill>
                <a:latin typeface="Calibri" pitchFamily="34" charset="0"/>
                <a:ea typeface="Calibri" pitchFamily="34" charset="-122"/>
                <a:cs typeface="Calibri" pitchFamily="34" charset="-120"/>
              </a:rPr>
              <a:t>How does Layer 1 know how it should change?</a:t>
            </a:r>
            <a:endParaRPr lang="en-US" sz="1500" dirty="0"/>
          </a:p>
        </p:txBody>
      </p:sp>
      <p:sp>
        <p:nvSpPr>
          <p:cNvPr id="22" name="Text 20"/>
          <p:cNvSpPr txBox="1"/>
          <p:nvPr/>
        </p:nvSpPr>
        <p:spPr>
          <a:xfrm>
            <a:off x="640080" y="2560320"/>
            <a:ext cx="3931920" cy="457200"/>
          </a:xfrm>
          <a:prstGeom prst="rect">
            <a:avLst/>
          </a:prstGeom>
          <a:noFill/>
          <a:ln/>
        </p:spPr>
        <p:txBody>
          <a:bodyPr wrap="square" lIns="0" tIns="0" rIns="0" bIns="0" rtlCol="0" anchor="ctr"/>
          <a:lstStyle/>
          <a:p>
            <a:pPr marL="0" indent="0">
              <a:buNone/>
            </a:pPr>
            <a:r>
              <a:rPr lang="en-US" sz="1700" b="1" dirty="0">
                <a:solidFill>
                  <a:srgbClr val="285AB4"/>
                </a:solidFill>
                <a:latin typeface="Cambria" pitchFamily="34" charset="0"/>
                <a:ea typeface="Cambria" pitchFamily="34" charset="-122"/>
                <a:cs typeface="Cambria" pitchFamily="34" charset="-120"/>
              </a:rPr>
              <a:t>⇒ Backpropagation</a:t>
            </a:r>
            <a:endParaRPr lang="en-US" sz="1700" dirty="0"/>
          </a:p>
        </p:txBody>
      </p:sp>
      <p:sp>
        <p:nvSpPr>
          <p:cNvPr id="23" name="Text 21"/>
          <p:cNvSpPr txBox="1"/>
          <p:nvPr/>
        </p:nvSpPr>
        <p:spPr>
          <a:xfrm>
            <a:off x="7619695" y="3977640"/>
            <a:ext cx="3931920" cy="457200"/>
          </a:xfrm>
          <a:prstGeom prst="rect">
            <a:avLst/>
          </a:prstGeom>
          <a:noFill/>
          <a:ln/>
        </p:spPr>
        <p:txBody>
          <a:bodyPr wrap="square" lIns="0" tIns="0" rIns="0" bIns="0" rtlCol="0" anchor="ctr"/>
          <a:lstStyle/>
          <a:p>
            <a:pPr marL="0" indent="0">
              <a:buNone/>
            </a:pPr>
            <a:r>
              <a:rPr lang="en-US" sz="1500" i="1" dirty="0">
                <a:solidFill>
                  <a:srgbClr val="1A2238"/>
                </a:solidFill>
                <a:latin typeface="Calibri" pitchFamily="34" charset="0"/>
                <a:ea typeface="Calibri" pitchFamily="34" charset="-122"/>
                <a:cs typeface="Calibri" pitchFamily="34" charset="-120"/>
              </a:rPr>
              <a:t>But then a new problem appears:</a:t>
            </a:r>
            <a:endParaRPr lang="en-US" sz="1500" dirty="0"/>
          </a:p>
        </p:txBody>
      </p:sp>
      <p:sp>
        <p:nvSpPr>
          <p:cNvPr id="24" name="Text 22"/>
          <p:cNvSpPr txBox="1"/>
          <p:nvPr/>
        </p:nvSpPr>
        <p:spPr>
          <a:xfrm>
            <a:off x="7619695" y="4526280"/>
            <a:ext cx="3931920" cy="914400"/>
          </a:xfrm>
          <a:prstGeom prst="rect">
            <a:avLst/>
          </a:prstGeom>
          <a:noFill/>
          <a:ln/>
        </p:spPr>
        <p:txBody>
          <a:bodyPr wrap="square" lIns="0" tIns="0" rIns="0" bIns="0" rtlCol="0" anchor="ctr"/>
          <a:lstStyle/>
          <a:p>
            <a:pPr marL="0" indent="0">
              <a:buNone/>
            </a:pPr>
            <a:r>
              <a:rPr lang="en-US" sz="1800" b="1" dirty="0">
                <a:solidFill>
                  <a:srgbClr val="BE3C32"/>
                </a:solidFill>
                <a:latin typeface="Cambria Math" pitchFamily="34" charset="0"/>
                <a:ea typeface="Cambria Math" pitchFamily="34" charset="-122"/>
                <a:cs typeface="Cambria Math" pitchFamily="34" charset="-120"/>
              </a:rPr>
              <a:t>gradient → 0 ?</a:t>
            </a:r>
            <a:endParaRPr lang="en-US" sz="1800" dirty="0"/>
          </a:p>
          <a:p>
            <a:pPr marL="0" indent="0">
              <a:buNone/>
            </a:pPr>
            <a:r>
              <a:rPr lang="en-US" sz="1800" b="1" dirty="0">
                <a:solidFill>
                  <a:srgbClr val="BE3C32"/>
                </a:solidFill>
                <a:latin typeface="Cambria Math" pitchFamily="34" charset="0"/>
                <a:ea typeface="Cambria Math" pitchFamily="34" charset="-122"/>
                <a:cs typeface="Cambria Math" pitchFamily="34" charset="-120"/>
              </a:rPr>
              <a:t>gradient → ∞ ?</a:t>
            </a:r>
            <a:endParaRPr lang="en-US" sz="1800" dirty="0"/>
          </a:p>
        </p:txBody>
      </p:sp>
      <p:sp>
        <p:nvSpPr>
          <p:cNvPr id="25" name="Text 23"/>
          <p:cNvSpPr txBox="1"/>
          <p:nvPr/>
        </p:nvSpPr>
        <p:spPr>
          <a:xfrm>
            <a:off x="7619695" y="5577840"/>
            <a:ext cx="3931920" cy="457200"/>
          </a:xfrm>
          <a:prstGeom prst="rect">
            <a:avLst/>
          </a:prstGeom>
          <a:noFill/>
          <a:ln/>
        </p:spPr>
        <p:txBody>
          <a:bodyPr wrap="square" lIns="0" tIns="0" rIns="0" bIns="0" rtlCol="0" anchor="ctr"/>
          <a:lstStyle/>
          <a:p>
            <a:pPr marL="0" indent="0">
              <a:buNone/>
            </a:pPr>
            <a:r>
              <a:rPr lang="en-US" sz="1700" b="1" dirty="0">
                <a:solidFill>
                  <a:srgbClr val="C68A2E"/>
                </a:solidFill>
                <a:latin typeface="Cambria" pitchFamily="34" charset="0"/>
                <a:ea typeface="Cambria" pitchFamily="34" charset="-122"/>
                <a:cs typeface="Cambria" pitchFamily="34" charset="-120"/>
              </a:rPr>
              <a:t>⇒ Parameter Initialization</a:t>
            </a:r>
            <a:endParaRPr lang="en-US" sz="1700" dirty="0"/>
          </a:p>
        </p:txBody>
      </p:sp>
      <p:sp>
        <p:nvSpPr>
          <p:cNvPr id="26" name="Text 24"/>
          <p:cNvSpPr txBox="1"/>
          <p:nvPr/>
        </p:nvSpPr>
        <p:spPr>
          <a:xfrm>
            <a:off x="11185855" y="6446520"/>
            <a:ext cx="731520" cy="274320"/>
          </a:xfrm>
          <a:prstGeom prst="rect">
            <a:avLst/>
          </a:prstGeom>
          <a:noFill/>
          <a:ln/>
        </p:spPr>
        <p:txBody>
          <a:bodyPr wrap="square" lIns="0" tIns="0" rIns="0" bIns="0" rtlCol="0" anchor="ctr"/>
          <a:lstStyle/>
          <a:p>
            <a:pPr marL="0" indent="0" algn="r">
              <a:buNone/>
            </a:pPr>
            <a:r>
              <a:rPr lang="en-US" sz="900" dirty="0">
                <a:solidFill>
                  <a:srgbClr val="5B6478"/>
                </a:solidFill>
                <a:latin typeface="Calibri" pitchFamily="34" charset="0"/>
                <a:ea typeface="Calibri" pitchFamily="34" charset="-122"/>
                <a:cs typeface="Calibri" pitchFamily="34" charset="-120"/>
              </a:rPr>
              <a:t>2/26</a:t>
            </a:r>
            <a:endParaRPr lang="en-US" sz="900" dirty="0"/>
          </a:p>
        </p:txBody>
      </p:sp>
      <p:sp>
        <p:nvSpPr>
          <p:cNvPr id="27" name="Shape 25"/>
          <p:cNvSpPr/>
          <p:nvPr/>
        </p:nvSpPr>
        <p:spPr>
          <a:xfrm>
            <a:off x="595503" y="6459093"/>
            <a:ext cx="89154" cy="89154"/>
          </a:xfrm>
          <a:prstGeom prst="ellipse">
            <a:avLst/>
          </a:prstGeom>
          <a:solidFill>
            <a:srgbClr val="285AB4"/>
          </a:solidFill>
          <a:ln/>
        </p:spPr>
      </p:sp>
      <p:sp>
        <p:nvSpPr>
          <p:cNvPr id="28" name="Shape 26"/>
          <p:cNvSpPr/>
          <p:nvPr/>
        </p:nvSpPr>
        <p:spPr>
          <a:xfrm>
            <a:off x="829818" y="6473952"/>
            <a:ext cx="59436" cy="59436"/>
          </a:xfrm>
          <a:prstGeom prst="ellipse">
            <a:avLst/>
          </a:prstGeom>
          <a:solidFill>
            <a:srgbClr val="D9DEE8"/>
          </a:solidFill>
          <a:ln/>
        </p:spPr>
      </p:sp>
      <p:sp>
        <p:nvSpPr>
          <p:cNvPr id="29" name="Shape 27"/>
          <p:cNvSpPr/>
          <p:nvPr/>
        </p:nvSpPr>
        <p:spPr>
          <a:xfrm>
            <a:off x="1049274" y="6473952"/>
            <a:ext cx="59436" cy="59436"/>
          </a:xfrm>
          <a:prstGeom prst="ellipse">
            <a:avLst/>
          </a:prstGeom>
          <a:solidFill>
            <a:srgbClr val="D9DEE8"/>
          </a:solidFill>
          <a:ln/>
        </p:spPr>
      </p:sp>
      <p:sp>
        <p:nvSpPr>
          <p:cNvPr id="30" name="Shape 28"/>
          <p:cNvSpPr/>
          <p:nvPr/>
        </p:nvSpPr>
        <p:spPr>
          <a:xfrm>
            <a:off x="1268730" y="6473952"/>
            <a:ext cx="59436" cy="59436"/>
          </a:xfrm>
          <a:prstGeom prst="ellipse">
            <a:avLst/>
          </a:prstGeom>
          <a:solidFill>
            <a:srgbClr val="D9DEE8"/>
          </a:solidFill>
          <a:ln/>
        </p:spPr>
      </p:sp>
      <p:sp>
        <p:nvSpPr>
          <p:cNvPr id="31" name="Text 29"/>
          <p:cNvSpPr txBox="1"/>
          <p:nvPr/>
        </p:nvSpPr>
        <p:spPr>
          <a:xfrm>
            <a:off x="1563624" y="6391656"/>
            <a:ext cx="3291840" cy="274320"/>
          </a:xfrm>
          <a:prstGeom prst="rect">
            <a:avLst/>
          </a:prstGeom>
          <a:noFill/>
          <a:ln/>
        </p:spPr>
        <p:txBody>
          <a:bodyPr wrap="square" lIns="0" tIns="0" rIns="0" bIns="0" rtlCol="0" anchor="ctr"/>
          <a:lstStyle/>
          <a:p>
            <a:pPr marL="0" indent="0">
              <a:buNone/>
            </a:pPr>
            <a:r>
              <a:rPr lang="en-US" sz="850" kern="0" spc="50" dirty="0">
                <a:solidFill>
                  <a:srgbClr val="5B6478"/>
                </a:solidFill>
                <a:latin typeface="Calibri" pitchFamily="34" charset="0"/>
                <a:ea typeface="Calibri" pitchFamily="34" charset="-122"/>
                <a:cs typeface="Calibri" pitchFamily="34" charset="-120"/>
              </a:rPr>
              <a:t>MOTIVATION &amp; MATH</a:t>
            </a:r>
            <a:endParaRPr lang="en-US" sz="8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txBox="1"/>
          <p:nvPr/>
        </p:nvSpPr>
        <p:spPr>
          <a:xfrm>
            <a:off x="640080" y="457200"/>
            <a:ext cx="9144000" cy="320040"/>
          </a:xfrm>
          <a:prstGeom prst="rect">
            <a:avLst/>
          </a:prstGeom>
          <a:noFill/>
          <a:ln/>
        </p:spPr>
        <p:txBody>
          <a:bodyPr wrap="square" lIns="0" tIns="0" rIns="0" bIns="0" rtlCol="0" anchor="ctr"/>
          <a:lstStyle/>
          <a:p>
            <a:pPr marL="0" indent="0">
              <a:buNone/>
            </a:pPr>
            <a:r>
              <a:rPr lang="en-US" sz="1300" b="1" kern="0" spc="100" dirty="0">
                <a:solidFill>
                  <a:srgbClr val="285AB4"/>
                </a:solidFill>
                <a:latin typeface="Calibri" pitchFamily="34" charset="0"/>
                <a:ea typeface="Calibri" pitchFamily="34" charset="-122"/>
                <a:cs typeface="Calibri" pitchFamily="34" charset="-120"/>
              </a:rPr>
              <a:t>FOUNDATIONS</a:t>
            </a:r>
            <a:endParaRPr lang="en-US" sz="1300" dirty="0"/>
          </a:p>
        </p:txBody>
      </p:sp>
      <p:sp>
        <p:nvSpPr>
          <p:cNvPr id="3" name="Text 1"/>
          <p:cNvSpPr txBox="1"/>
          <p:nvPr/>
        </p:nvSpPr>
        <p:spPr>
          <a:xfrm>
            <a:off x="640080" y="749808"/>
            <a:ext cx="10911535" cy="822960"/>
          </a:xfrm>
          <a:prstGeom prst="rect">
            <a:avLst/>
          </a:prstGeom>
          <a:noFill/>
          <a:ln/>
        </p:spPr>
        <p:txBody>
          <a:bodyPr wrap="square" lIns="0" tIns="0" rIns="0" bIns="0" rtlCol="0" anchor="t"/>
          <a:lstStyle/>
          <a:p>
            <a:pPr marL="0" indent="0">
              <a:buNone/>
            </a:pPr>
            <a:r>
              <a:rPr lang="en-US" sz="2900" b="1" dirty="0">
                <a:solidFill>
                  <a:srgbClr val="1A2238"/>
                </a:solidFill>
                <a:latin typeface="Cambria" pitchFamily="34" charset="0"/>
                <a:ea typeface="Cambria" pitchFamily="34" charset="-122"/>
                <a:cs typeface="Cambria" pitchFamily="34" charset="-120"/>
              </a:rPr>
              <a:t>Gradient trong không gian nhiều chiều</a:t>
            </a:r>
            <a:endParaRPr lang="en-US" sz="2900" dirty="0"/>
          </a:p>
        </p:txBody>
      </p:sp>
      <p:sp>
        <p:nvSpPr>
          <p:cNvPr id="4" name="Shape 2"/>
          <p:cNvSpPr/>
          <p:nvPr/>
        </p:nvSpPr>
        <p:spPr>
          <a:xfrm>
            <a:off x="640080" y="1783080"/>
            <a:ext cx="10911535" cy="868680"/>
          </a:xfrm>
          <a:prstGeom prst="roundRect">
            <a:avLst>
              <a:gd name="adj" fmla="val 8421"/>
            </a:avLst>
          </a:prstGeom>
          <a:solidFill>
            <a:srgbClr val="F1F4F9"/>
          </a:solidFill>
          <a:ln w="9525">
            <a:solidFill>
              <a:srgbClr val="D9DEE8"/>
            </a:solidFill>
            <a:prstDash val="solid"/>
          </a:ln>
          <a:effectLst>
            <a:outerShdw blurRad="114300" dist="38100" dir="5400000" algn="bl" rotWithShape="0">
              <a:srgbClr val="1A1A2E">
                <a:alpha val="20000"/>
              </a:srgbClr>
            </a:outerShdw>
          </a:effectLst>
        </p:spPr>
      </p:sp>
      <p:sp>
        <p:nvSpPr>
          <p:cNvPr id="5" name="Text 3"/>
          <p:cNvSpPr txBox="1"/>
          <p:nvPr/>
        </p:nvSpPr>
        <p:spPr>
          <a:xfrm>
            <a:off x="868680" y="1783080"/>
            <a:ext cx="10454335" cy="868680"/>
          </a:xfrm>
          <a:prstGeom prst="rect">
            <a:avLst/>
          </a:prstGeom>
          <a:noFill/>
          <a:ln/>
        </p:spPr>
        <p:txBody>
          <a:bodyPr wrap="square" lIns="0" tIns="0" rIns="0" bIns="0" rtlCol="0" anchor="ctr"/>
          <a:lstStyle/>
          <a:p>
            <a:pPr marL="0" indent="0" algn="ctr">
              <a:buNone/>
            </a:pPr>
            <a:r>
              <a:rPr lang="en-US" sz="1800" dirty="0">
                <a:solidFill>
                  <a:srgbClr val="16213E"/>
                </a:solidFill>
                <a:latin typeface="Cambria Math" pitchFamily="34" charset="0"/>
                <a:ea typeface="Cambria Math" pitchFamily="34" charset="-122"/>
                <a:cs typeface="Cambria Math" pitchFamily="34" charset="-120"/>
              </a:rPr>
              <a:t>∇</a:t>
            </a:r>
            <a:r>
              <a:rPr lang="en-US" sz="1800" baseline="-40000" dirty="0">
                <a:solidFill>
                  <a:srgbClr val="16213E"/>
                </a:solidFill>
                <a:latin typeface="Cambria Math" pitchFamily="34" charset="0"/>
                <a:ea typeface="Cambria Math" pitchFamily="34" charset="-122"/>
                <a:cs typeface="Cambria Math" pitchFamily="34" charset="-120"/>
              </a:rPr>
              <a:t>θ</a:t>
            </a:r>
            <a:r>
              <a:rPr lang="en-US" sz="1800" dirty="0">
                <a:solidFill>
                  <a:srgbClr val="16213E"/>
                </a:solidFill>
                <a:latin typeface="Cambria Math" pitchFamily="34" charset="0"/>
                <a:ea typeface="Cambria Math" pitchFamily="34" charset="-122"/>
                <a:cs typeface="Cambria Math" pitchFamily="34" charset="-120"/>
              </a:rPr>
              <a:t> L = [ ∂L/∂θ₁ ; … ; ∂L/∂θₙ ]          θ</a:t>
            </a:r>
            <a:r>
              <a:rPr lang="en-US" sz="1800" baseline="-40000" dirty="0">
                <a:solidFill>
                  <a:srgbClr val="16213E"/>
                </a:solidFill>
                <a:latin typeface="Cambria Math" pitchFamily="34" charset="0"/>
                <a:ea typeface="Cambria Math" pitchFamily="34" charset="-122"/>
                <a:cs typeface="Cambria Math" pitchFamily="34" charset="-120"/>
              </a:rPr>
              <a:t>new</a:t>
            </a:r>
            <a:r>
              <a:rPr lang="en-US" sz="1800" dirty="0">
                <a:solidFill>
                  <a:srgbClr val="16213E"/>
                </a:solidFill>
                <a:latin typeface="Cambria Math" pitchFamily="34" charset="0"/>
                <a:ea typeface="Cambria Math" pitchFamily="34" charset="-122"/>
                <a:cs typeface="Cambria Math" pitchFamily="34" charset="-120"/>
              </a:rPr>
              <a:t> = θ</a:t>
            </a:r>
            <a:r>
              <a:rPr lang="en-US" sz="1800" baseline="-40000" dirty="0">
                <a:solidFill>
                  <a:srgbClr val="16213E"/>
                </a:solidFill>
                <a:latin typeface="Cambria Math" pitchFamily="34" charset="0"/>
                <a:ea typeface="Cambria Math" pitchFamily="34" charset="-122"/>
                <a:cs typeface="Cambria Math" pitchFamily="34" charset="-120"/>
              </a:rPr>
              <a:t>old</a:t>
            </a:r>
            <a:r>
              <a:rPr lang="en-US" sz="1800" dirty="0">
                <a:solidFill>
                  <a:srgbClr val="16213E"/>
                </a:solidFill>
                <a:latin typeface="Cambria Math" pitchFamily="34" charset="0"/>
                <a:ea typeface="Cambria Math" pitchFamily="34" charset="-122"/>
                <a:cs typeface="Cambria Math" pitchFamily="34" charset="-120"/>
              </a:rPr>
              <a:t> − η ∇</a:t>
            </a:r>
            <a:r>
              <a:rPr lang="en-US" sz="1800" baseline="-40000" dirty="0">
                <a:solidFill>
                  <a:srgbClr val="16213E"/>
                </a:solidFill>
                <a:latin typeface="Cambria Math" pitchFamily="34" charset="0"/>
                <a:ea typeface="Cambria Math" pitchFamily="34" charset="-122"/>
                <a:cs typeface="Cambria Math" pitchFamily="34" charset="-120"/>
              </a:rPr>
              <a:t>θ</a:t>
            </a:r>
            <a:r>
              <a:rPr lang="en-US" sz="1800" dirty="0">
                <a:solidFill>
                  <a:srgbClr val="16213E"/>
                </a:solidFill>
                <a:latin typeface="Cambria Math" pitchFamily="34" charset="0"/>
                <a:ea typeface="Cambria Math" pitchFamily="34" charset="-122"/>
                <a:cs typeface="Cambria Math" pitchFamily="34" charset="-120"/>
              </a:rPr>
              <a:t> L</a:t>
            </a:r>
            <a:endParaRPr lang="en-US" sz="1800" dirty="0"/>
          </a:p>
        </p:txBody>
      </p:sp>
      <p:sp>
        <p:nvSpPr>
          <p:cNvPr id="6" name="Text 4"/>
          <p:cNvSpPr txBox="1"/>
          <p:nvPr/>
        </p:nvSpPr>
        <p:spPr>
          <a:xfrm>
            <a:off x="640080" y="3017520"/>
            <a:ext cx="10911535" cy="2377440"/>
          </a:xfrm>
          <a:prstGeom prst="rect">
            <a:avLst/>
          </a:prstGeom>
          <a:noFill/>
          <a:ln/>
        </p:spPr>
        <p:txBody>
          <a:bodyPr wrap="square" lIns="0" tIns="0" rIns="0" bIns="0" rtlCol="0" anchor="t"/>
          <a:lstStyle/>
          <a:p>
            <a:pPr marL="228600" indent="-228600">
              <a:spcAft>
                <a:spcPts val="1400"/>
              </a:spcAft>
              <a:buSzPct val="100000"/>
              <a:buChar char="▪"/>
            </a:pPr>
            <a:r>
              <a:rPr lang="en-US" sz="1800" dirty="0">
                <a:solidFill>
                  <a:srgbClr val="1A2238"/>
                </a:solidFill>
                <a:latin typeface="Calibri" pitchFamily="34" charset="0"/>
                <a:ea typeface="Calibri" pitchFamily="34" charset="-122"/>
                <a:cs typeface="Calibri" pitchFamily="34" charset="-120"/>
              </a:rPr>
              <a:t>∇L: hướng tăng nhanh nhất của Loss</a:t>
            </a:r>
            <a:endParaRPr lang="en-US" sz="1800" dirty="0"/>
          </a:p>
          <a:p>
            <a:pPr marL="228600" indent="-228600">
              <a:spcAft>
                <a:spcPts val="1400"/>
              </a:spcAft>
              <a:buSzPct val="100000"/>
              <a:buChar char="▪"/>
            </a:pPr>
            <a:r>
              <a:rPr lang="en-US" sz="1800" dirty="0">
                <a:solidFill>
                  <a:srgbClr val="1A2238"/>
                </a:solidFill>
                <a:latin typeface="Calibri" pitchFamily="34" charset="0"/>
                <a:ea typeface="Calibri" pitchFamily="34" charset="-122"/>
                <a:cs typeface="Calibri" pitchFamily="34" charset="-120"/>
              </a:rPr>
              <a:t>Gradient Descent đi ngược gradient để giảm Loss</a:t>
            </a:r>
            <a:endParaRPr lang="en-US" sz="1800" dirty="0"/>
          </a:p>
          <a:p>
            <a:pPr marL="228600" indent="-228600">
              <a:spcAft>
                <a:spcPts val="1400"/>
              </a:spcAft>
              <a:buSzPct val="100000"/>
              <a:buChar char="▪"/>
            </a:pPr>
            <a:r>
              <a:rPr lang="en-US" sz="1800" dirty="0">
                <a:solidFill>
                  <a:srgbClr val="1A2238"/>
                </a:solidFill>
                <a:latin typeface="Calibri" pitchFamily="34" charset="0"/>
                <a:ea typeface="Calibri" pitchFamily="34" charset="-122"/>
                <a:cs typeface="Calibri" pitchFamily="34" charset="-120"/>
              </a:rPr>
              <a:t>Chain rule đa biến + Jacobian = nền của backprop</a:t>
            </a:r>
            <a:endParaRPr lang="en-US" sz="1800" dirty="0"/>
          </a:p>
        </p:txBody>
      </p:sp>
      <p:sp>
        <p:nvSpPr>
          <p:cNvPr id="7" name="Text 5"/>
          <p:cNvSpPr txBox="1"/>
          <p:nvPr/>
        </p:nvSpPr>
        <p:spPr>
          <a:xfrm>
            <a:off x="11185855" y="6446520"/>
            <a:ext cx="731520" cy="274320"/>
          </a:xfrm>
          <a:prstGeom prst="rect">
            <a:avLst/>
          </a:prstGeom>
          <a:noFill/>
          <a:ln/>
        </p:spPr>
        <p:txBody>
          <a:bodyPr wrap="square" lIns="0" tIns="0" rIns="0" bIns="0" rtlCol="0" anchor="ctr"/>
          <a:lstStyle/>
          <a:p>
            <a:pPr marL="0" indent="0" algn="r">
              <a:buNone/>
            </a:pPr>
            <a:r>
              <a:rPr lang="en-US" sz="900" dirty="0">
                <a:solidFill>
                  <a:srgbClr val="5B6478"/>
                </a:solidFill>
                <a:latin typeface="Calibri" pitchFamily="34" charset="0"/>
                <a:ea typeface="Calibri" pitchFamily="34" charset="-122"/>
                <a:cs typeface="Calibri" pitchFamily="34" charset="-120"/>
              </a:rPr>
              <a:t>3/26</a:t>
            </a:r>
            <a:endParaRPr lang="en-US" sz="900" dirty="0"/>
          </a:p>
        </p:txBody>
      </p:sp>
      <p:sp>
        <p:nvSpPr>
          <p:cNvPr id="8" name="Shape 6"/>
          <p:cNvSpPr/>
          <p:nvPr/>
        </p:nvSpPr>
        <p:spPr>
          <a:xfrm>
            <a:off x="595503" y="6459093"/>
            <a:ext cx="89154" cy="89154"/>
          </a:xfrm>
          <a:prstGeom prst="ellipse">
            <a:avLst/>
          </a:prstGeom>
          <a:solidFill>
            <a:srgbClr val="285AB4"/>
          </a:solidFill>
          <a:ln/>
        </p:spPr>
      </p:sp>
      <p:sp>
        <p:nvSpPr>
          <p:cNvPr id="9" name="Shape 7"/>
          <p:cNvSpPr/>
          <p:nvPr/>
        </p:nvSpPr>
        <p:spPr>
          <a:xfrm>
            <a:off x="829818" y="6473952"/>
            <a:ext cx="59436" cy="59436"/>
          </a:xfrm>
          <a:prstGeom prst="ellipse">
            <a:avLst/>
          </a:prstGeom>
          <a:solidFill>
            <a:srgbClr val="D9DEE8"/>
          </a:solidFill>
          <a:ln/>
        </p:spPr>
      </p:sp>
      <p:sp>
        <p:nvSpPr>
          <p:cNvPr id="10" name="Shape 8"/>
          <p:cNvSpPr/>
          <p:nvPr/>
        </p:nvSpPr>
        <p:spPr>
          <a:xfrm>
            <a:off x="1049274" y="6473952"/>
            <a:ext cx="59436" cy="59436"/>
          </a:xfrm>
          <a:prstGeom prst="ellipse">
            <a:avLst/>
          </a:prstGeom>
          <a:solidFill>
            <a:srgbClr val="D9DEE8"/>
          </a:solidFill>
          <a:ln/>
        </p:spPr>
      </p:sp>
      <p:sp>
        <p:nvSpPr>
          <p:cNvPr id="11" name="Shape 9"/>
          <p:cNvSpPr/>
          <p:nvPr/>
        </p:nvSpPr>
        <p:spPr>
          <a:xfrm>
            <a:off x="1268730" y="6473952"/>
            <a:ext cx="59436" cy="59436"/>
          </a:xfrm>
          <a:prstGeom prst="ellipse">
            <a:avLst/>
          </a:prstGeom>
          <a:solidFill>
            <a:srgbClr val="D9DEE8"/>
          </a:solidFill>
          <a:ln/>
        </p:spPr>
      </p:sp>
      <p:sp>
        <p:nvSpPr>
          <p:cNvPr id="12" name="Text 10"/>
          <p:cNvSpPr txBox="1"/>
          <p:nvPr/>
        </p:nvSpPr>
        <p:spPr>
          <a:xfrm>
            <a:off x="1563624" y="6391656"/>
            <a:ext cx="3291840" cy="274320"/>
          </a:xfrm>
          <a:prstGeom prst="rect">
            <a:avLst/>
          </a:prstGeom>
          <a:noFill/>
          <a:ln/>
        </p:spPr>
        <p:txBody>
          <a:bodyPr wrap="square" lIns="0" tIns="0" rIns="0" bIns="0" rtlCol="0" anchor="ctr"/>
          <a:lstStyle/>
          <a:p>
            <a:pPr marL="0" indent="0">
              <a:buNone/>
            </a:pPr>
            <a:r>
              <a:rPr lang="en-US" sz="850" kern="0" spc="50" dirty="0">
                <a:solidFill>
                  <a:srgbClr val="5B6478"/>
                </a:solidFill>
                <a:latin typeface="Calibri" pitchFamily="34" charset="0"/>
                <a:ea typeface="Calibri" pitchFamily="34" charset="-122"/>
                <a:cs typeface="Calibri" pitchFamily="34" charset="-120"/>
              </a:rPr>
              <a:t>MOTIVATION &amp; MATH</a:t>
            </a:r>
            <a:endParaRPr lang="en-US" sz="8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txBox="1"/>
          <p:nvPr/>
        </p:nvSpPr>
        <p:spPr>
          <a:xfrm>
            <a:off x="640080" y="457200"/>
            <a:ext cx="9144000" cy="320040"/>
          </a:xfrm>
          <a:prstGeom prst="rect">
            <a:avLst/>
          </a:prstGeom>
          <a:noFill/>
          <a:ln/>
        </p:spPr>
        <p:txBody>
          <a:bodyPr wrap="square" lIns="0" tIns="0" rIns="0" bIns="0" rtlCol="0" anchor="ctr"/>
          <a:lstStyle/>
          <a:p>
            <a:pPr marL="0" indent="0">
              <a:buNone/>
            </a:pPr>
            <a:r>
              <a:rPr lang="en-US" sz="1300" b="1" kern="0" spc="100" dirty="0">
                <a:solidFill>
                  <a:srgbClr val="285AB4"/>
                </a:solidFill>
                <a:latin typeface="Calibri" pitchFamily="34" charset="0"/>
                <a:ea typeface="Calibri" pitchFamily="34" charset="-122"/>
                <a:cs typeface="Calibri" pitchFamily="34" charset="-120"/>
              </a:rPr>
              <a:t>NEURAL NETWORK</a:t>
            </a:r>
            <a:endParaRPr lang="en-US" sz="1300" dirty="0"/>
          </a:p>
        </p:txBody>
      </p:sp>
      <p:sp>
        <p:nvSpPr>
          <p:cNvPr id="3" name="Text 1"/>
          <p:cNvSpPr txBox="1"/>
          <p:nvPr/>
        </p:nvSpPr>
        <p:spPr>
          <a:xfrm>
            <a:off x="640080" y="749808"/>
            <a:ext cx="10911535" cy="822960"/>
          </a:xfrm>
          <a:prstGeom prst="rect">
            <a:avLst/>
          </a:prstGeom>
          <a:noFill/>
          <a:ln/>
        </p:spPr>
        <p:txBody>
          <a:bodyPr wrap="square" lIns="0" tIns="0" rIns="0" bIns="0" rtlCol="0" anchor="t"/>
          <a:lstStyle/>
          <a:p>
            <a:pPr marL="0" indent="0">
              <a:buNone/>
            </a:pPr>
            <a:r>
              <a:rPr lang="en-US" sz="2900" b="1" dirty="0">
                <a:solidFill>
                  <a:srgbClr val="1A2238"/>
                </a:solidFill>
                <a:latin typeface="Cambria" pitchFamily="34" charset="0"/>
                <a:ea typeface="Cambria" pitchFamily="34" charset="-122"/>
                <a:cs typeface="Cambria" pitchFamily="34" charset="-120"/>
              </a:rPr>
              <a:t>Forward Propagation</a:t>
            </a:r>
            <a:endParaRPr lang="en-US" sz="2900" dirty="0"/>
          </a:p>
        </p:txBody>
      </p:sp>
      <p:sp>
        <p:nvSpPr>
          <p:cNvPr id="4" name="Shape 2"/>
          <p:cNvSpPr/>
          <p:nvPr/>
        </p:nvSpPr>
        <p:spPr>
          <a:xfrm>
            <a:off x="914400" y="1554480"/>
            <a:ext cx="1188720" cy="457200"/>
          </a:xfrm>
          <a:prstGeom prst="roundRect">
            <a:avLst>
              <a:gd name="adj" fmla="val 12000"/>
            </a:avLst>
          </a:prstGeom>
          <a:solidFill>
            <a:srgbClr val="F1F4F9"/>
          </a:solidFill>
          <a:ln w="15875">
            <a:solidFill>
              <a:srgbClr val="1A2238"/>
            </a:solidFill>
            <a:prstDash val="solid"/>
          </a:ln>
        </p:spPr>
      </p:sp>
      <p:sp>
        <p:nvSpPr>
          <p:cNvPr id="5" name="Text 3"/>
          <p:cNvSpPr txBox="1"/>
          <p:nvPr/>
        </p:nvSpPr>
        <p:spPr>
          <a:xfrm>
            <a:off x="914400" y="1554480"/>
            <a:ext cx="1188720" cy="457200"/>
          </a:xfrm>
          <a:prstGeom prst="rect">
            <a:avLst/>
          </a:prstGeom>
          <a:noFill/>
          <a:ln/>
        </p:spPr>
        <p:txBody>
          <a:bodyPr wrap="square" lIns="0" tIns="0" rIns="0" bIns="0" rtlCol="0" anchor="ctr"/>
          <a:lstStyle/>
          <a:p>
            <a:pPr marL="0" indent="0" algn="ctr">
              <a:buNone/>
            </a:pPr>
            <a:r>
              <a:rPr lang="en-US" sz="1300" dirty="0">
                <a:solidFill>
                  <a:srgbClr val="1A2238"/>
                </a:solidFill>
                <a:latin typeface="Cambria Math" pitchFamily="34" charset="0"/>
                <a:ea typeface="Cambria Math" pitchFamily="34" charset="-122"/>
                <a:cs typeface="Cambria Math" pitchFamily="34" charset="-120"/>
              </a:rPr>
              <a:t>x₁</a:t>
            </a:r>
            <a:endParaRPr lang="en-US" sz="1300" dirty="0"/>
          </a:p>
        </p:txBody>
      </p:sp>
      <p:sp>
        <p:nvSpPr>
          <p:cNvPr id="6" name="Shape 4"/>
          <p:cNvSpPr/>
          <p:nvPr/>
        </p:nvSpPr>
        <p:spPr>
          <a:xfrm>
            <a:off x="914400" y="2377440"/>
            <a:ext cx="1188720" cy="457200"/>
          </a:xfrm>
          <a:prstGeom prst="roundRect">
            <a:avLst>
              <a:gd name="adj" fmla="val 12000"/>
            </a:avLst>
          </a:prstGeom>
          <a:solidFill>
            <a:srgbClr val="F1F4F9"/>
          </a:solidFill>
          <a:ln w="15875">
            <a:solidFill>
              <a:srgbClr val="1A2238"/>
            </a:solidFill>
            <a:prstDash val="solid"/>
          </a:ln>
        </p:spPr>
      </p:sp>
      <p:sp>
        <p:nvSpPr>
          <p:cNvPr id="7" name="Text 5"/>
          <p:cNvSpPr txBox="1"/>
          <p:nvPr/>
        </p:nvSpPr>
        <p:spPr>
          <a:xfrm>
            <a:off x="914400" y="2377440"/>
            <a:ext cx="1188720" cy="457200"/>
          </a:xfrm>
          <a:prstGeom prst="rect">
            <a:avLst/>
          </a:prstGeom>
          <a:noFill/>
          <a:ln/>
        </p:spPr>
        <p:txBody>
          <a:bodyPr wrap="square" lIns="0" tIns="0" rIns="0" bIns="0" rtlCol="0" anchor="ctr"/>
          <a:lstStyle/>
          <a:p>
            <a:pPr marL="0" indent="0" algn="ctr">
              <a:buNone/>
            </a:pPr>
            <a:r>
              <a:rPr lang="en-US" sz="1300" dirty="0">
                <a:solidFill>
                  <a:srgbClr val="1A2238"/>
                </a:solidFill>
                <a:latin typeface="Cambria Math" pitchFamily="34" charset="0"/>
                <a:ea typeface="Cambria Math" pitchFamily="34" charset="-122"/>
                <a:cs typeface="Cambria Math" pitchFamily="34" charset="-120"/>
              </a:rPr>
              <a:t>x₂</a:t>
            </a:r>
            <a:endParaRPr lang="en-US" sz="1300" dirty="0"/>
          </a:p>
        </p:txBody>
      </p:sp>
      <p:sp>
        <p:nvSpPr>
          <p:cNvPr id="8" name="Shape 6"/>
          <p:cNvSpPr/>
          <p:nvPr/>
        </p:nvSpPr>
        <p:spPr>
          <a:xfrm>
            <a:off x="3291840" y="1965960"/>
            <a:ext cx="1188720" cy="548640"/>
          </a:xfrm>
          <a:prstGeom prst="roundRect">
            <a:avLst>
              <a:gd name="adj" fmla="val 10000"/>
            </a:avLst>
          </a:prstGeom>
          <a:solidFill>
            <a:srgbClr val="EAF0FB"/>
          </a:solidFill>
          <a:ln w="15875">
            <a:solidFill>
              <a:srgbClr val="285AB4"/>
            </a:solidFill>
            <a:prstDash val="solid"/>
          </a:ln>
        </p:spPr>
      </p:sp>
      <p:sp>
        <p:nvSpPr>
          <p:cNvPr id="9" name="Text 7"/>
          <p:cNvSpPr txBox="1"/>
          <p:nvPr/>
        </p:nvSpPr>
        <p:spPr>
          <a:xfrm>
            <a:off x="3291840" y="1965960"/>
            <a:ext cx="1188720" cy="548640"/>
          </a:xfrm>
          <a:prstGeom prst="rect">
            <a:avLst/>
          </a:prstGeom>
          <a:noFill/>
          <a:ln/>
        </p:spPr>
        <p:txBody>
          <a:bodyPr wrap="square" lIns="0" tIns="0" rIns="0" bIns="0" rtlCol="0" anchor="ctr"/>
          <a:lstStyle/>
          <a:p>
            <a:pPr marL="0" indent="0" algn="ctr">
              <a:buNone/>
            </a:pPr>
            <a:r>
              <a:rPr lang="en-US" sz="1300" dirty="0">
                <a:solidFill>
                  <a:srgbClr val="1A2238"/>
                </a:solidFill>
                <a:latin typeface="Cambria Math" pitchFamily="34" charset="0"/>
                <a:ea typeface="Cambria Math" pitchFamily="34" charset="-122"/>
                <a:cs typeface="Cambria Math" pitchFamily="34" charset="-120"/>
              </a:rPr>
              <a:t>z</a:t>
            </a:r>
            <a:endParaRPr lang="en-US" sz="1300" dirty="0"/>
          </a:p>
        </p:txBody>
      </p:sp>
      <p:sp>
        <p:nvSpPr>
          <p:cNvPr id="10" name="Shape 8"/>
          <p:cNvSpPr/>
          <p:nvPr/>
        </p:nvSpPr>
        <p:spPr>
          <a:xfrm>
            <a:off x="5303520" y="1965960"/>
            <a:ext cx="1554480" cy="548640"/>
          </a:xfrm>
          <a:prstGeom prst="roundRect">
            <a:avLst>
              <a:gd name="adj" fmla="val 10000"/>
            </a:avLst>
          </a:prstGeom>
          <a:solidFill>
            <a:srgbClr val="EAF0FB"/>
          </a:solidFill>
          <a:ln w="15875">
            <a:solidFill>
              <a:srgbClr val="285AB4"/>
            </a:solidFill>
            <a:prstDash val="solid"/>
          </a:ln>
        </p:spPr>
      </p:sp>
      <p:sp>
        <p:nvSpPr>
          <p:cNvPr id="11" name="Text 9"/>
          <p:cNvSpPr txBox="1"/>
          <p:nvPr/>
        </p:nvSpPr>
        <p:spPr>
          <a:xfrm>
            <a:off x="5303520" y="1965960"/>
            <a:ext cx="1554480" cy="548640"/>
          </a:xfrm>
          <a:prstGeom prst="rect">
            <a:avLst/>
          </a:prstGeom>
          <a:noFill/>
          <a:ln/>
        </p:spPr>
        <p:txBody>
          <a:bodyPr wrap="square" lIns="0" tIns="0" rIns="0" bIns="0" rtlCol="0" anchor="ctr"/>
          <a:lstStyle/>
          <a:p>
            <a:pPr marL="0" indent="0" algn="ctr">
              <a:buNone/>
            </a:pPr>
            <a:r>
              <a:rPr lang="en-US" sz="1200" dirty="0">
                <a:solidFill>
                  <a:srgbClr val="1A2238"/>
                </a:solidFill>
                <a:latin typeface="Cambria Math" pitchFamily="34" charset="0"/>
                <a:ea typeface="Cambria Math" pitchFamily="34" charset="-122"/>
                <a:cs typeface="Cambria Math" pitchFamily="34" charset="-120"/>
              </a:rPr>
              <a:t>activation</a:t>
            </a:r>
            <a:endParaRPr lang="en-US" sz="1200" dirty="0"/>
          </a:p>
        </p:txBody>
      </p:sp>
      <p:sp>
        <p:nvSpPr>
          <p:cNvPr id="12" name="Shape 10"/>
          <p:cNvSpPr/>
          <p:nvPr/>
        </p:nvSpPr>
        <p:spPr>
          <a:xfrm>
            <a:off x="7498080" y="1965960"/>
            <a:ext cx="1188720" cy="548640"/>
          </a:xfrm>
          <a:prstGeom prst="roundRect">
            <a:avLst>
              <a:gd name="adj" fmla="val 10000"/>
            </a:avLst>
          </a:prstGeom>
          <a:solidFill>
            <a:srgbClr val="FBEEEC"/>
          </a:solidFill>
          <a:ln w="15875">
            <a:solidFill>
              <a:srgbClr val="BE3C32"/>
            </a:solidFill>
            <a:prstDash val="solid"/>
          </a:ln>
        </p:spPr>
      </p:sp>
      <p:sp>
        <p:nvSpPr>
          <p:cNvPr id="13" name="Text 11"/>
          <p:cNvSpPr txBox="1"/>
          <p:nvPr/>
        </p:nvSpPr>
        <p:spPr>
          <a:xfrm>
            <a:off x="7498080" y="1965960"/>
            <a:ext cx="1188720" cy="548640"/>
          </a:xfrm>
          <a:prstGeom prst="rect">
            <a:avLst/>
          </a:prstGeom>
          <a:noFill/>
          <a:ln/>
        </p:spPr>
        <p:txBody>
          <a:bodyPr wrap="square" lIns="0" tIns="0" rIns="0" bIns="0" rtlCol="0" anchor="ctr"/>
          <a:lstStyle/>
          <a:p>
            <a:pPr marL="0" indent="0" algn="ctr">
              <a:buNone/>
            </a:pPr>
            <a:r>
              <a:rPr lang="en-US" sz="1300" dirty="0">
                <a:solidFill>
                  <a:srgbClr val="1A2238"/>
                </a:solidFill>
                <a:latin typeface="Cambria Math" pitchFamily="34" charset="0"/>
                <a:ea typeface="Cambria Math" pitchFamily="34" charset="-122"/>
                <a:cs typeface="Cambria Math" pitchFamily="34" charset="-120"/>
              </a:rPr>
              <a:t>ŷ → L</a:t>
            </a:r>
            <a:endParaRPr lang="en-US" sz="1300" dirty="0"/>
          </a:p>
        </p:txBody>
      </p:sp>
      <p:sp>
        <p:nvSpPr>
          <p:cNvPr id="14" name="Shape 12"/>
          <p:cNvSpPr/>
          <p:nvPr/>
        </p:nvSpPr>
        <p:spPr>
          <a:xfrm>
            <a:off x="2103120" y="1783080"/>
            <a:ext cx="1188720" cy="457200"/>
          </a:xfrm>
          <a:prstGeom prst="line">
            <a:avLst/>
          </a:prstGeom>
          <a:noFill/>
          <a:ln w="22225">
            <a:solidFill>
              <a:srgbClr val="285AB4"/>
            </a:solidFill>
            <a:prstDash val="solid"/>
            <a:tailEnd type="triangle"/>
          </a:ln>
        </p:spPr>
      </p:sp>
      <p:sp>
        <p:nvSpPr>
          <p:cNvPr id="15" name="Shape 13"/>
          <p:cNvSpPr/>
          <p:nvPr/>
        </p:nvSpPr>
        <p:spPr>
          <a:xfrm>
            <a:off x="2103120" y="2240280"/>
            <a:ext cx="1188720" cy="365760"/>
          </a:xfrm>
          <a:prstGeom prst="line">
            <a:avLst/>
          </a:prstGeom>
          <a:noFill/>
          <a:ln w="22225">
            <a:solidFill>
              <a:srgbClr val="285AB4"/>
            </a:solidFill>
            <a:prstDash val="solid"/>
            <a:headEnd type="triangle"/>
          </a:ln>
        </p:spPr>
      </p:sp>
      <p:sp>
        <p:nvSpPr>
          <p:cNvPr id="16" name="Shape 14"/>
          <p:cNvSpPr/>
          <p:nvPr/>
        </p:nvSpPr>
        <p:spPr>
          <a:xfrm>
            <a:off x="4480560" y="2240280"/>
            <a:ext cx="822960" cy="0"/>
          </a:xfrm>
          <a:prstGeom prst="line">
            <a:avLst/>
          </a:prstGeom>
          <a:noFill/>
          <a:ln w="22225">
            <a:solidFill>
              <a:srgbClr val="285AB4"/>
            </a:solidFill>
            <a:prstDash val="solid"/>
            <a:tailEnd type="triangle"/>
          </a:ln>
        </p:spPr>
      </p:sp>
      <p:sp>
        <p:nvSpPr>
          <p:cNvPr id="17" name="Shape 15"/>
          <p:cNvSpPr/>
          <p:nvPr/>
        </p:nvSpPr>
        <p:spPr>
          <a:xfrm>
            <a:off x="6858000" y="2240280"/>
            <a:ext cx="640080" cy="0"/>
          </a:xfrm>
          <a:prstGeom prst="line">
            <a:avLst/>
          </a:prstGeom>
          <a:noFill/>
          <a:ln w="22225">
            <a:solidFill>
              <a:srgbClr val="285AB4"/>
            </a:solidFill>
            <a:prstDash val="solid"/>
            <a:tailEnd type="triangle"/>
          </a:ln>
        </p:spPr>
      </p:sp>
      <p:sp>
        <p:nvSpPr>
          <p:cNvPr id="18" name="Shape 16"/>
          <p:cNvSpPr/>
          <p:nvPr/>
        </p:nvSpPr>
        <p:spPr>
          <a:xfrm>
            <a:off x="640080" y="3383280"/>
            <a:ext cx="10911535" cy="777240"/>
          </a:xfrm>
          <a:prstGeom prst="roundRect">
            <a:avLst>
              <a:gd name="adj" fmla="val 9412"/>
            </a:avLst>
          </a:prstGeom>
          <a:solidFill>
            <a:srgbClr val="F1F4F9"/>
          </a:solidFill>
          <a:ln w="9525">
            <a:solidFill>
              <a:srgbClr val="D9DEE8"/>
            </a:solidFill>
            <a:prstDash val="solid"/>
          </a:ln>
          <a:effectLst>
            <a:outerShdw blurRad="114300" dist="38100" dir="5400000" algn="bl" rotWithShape="0">
              <a:srgbClr val="1A1A2E">
                <a:alpha val="20000"/>
              </a:srgbClr>
            </a:outerShdw>
          </a:effectLst>
        </p:spPr>
      </p:sp>
      <p:sp>
        <p:nvSpPr>
          <p:cNvPr id="19" name="Text 17"/>
          <p:cNvSpPr txBox="1"/>
          <p:nvPr/>
        </p:nvSpPr>
        <p:spPr>
          <a:xfrm>
            <a:off x="868680" y="3383280"/>
            <a:ext cx="10454335" cy="777240"/>
          </a:xfrm>
          <a:prstGeom prst="rect">
            <a:avLst/>
          </a:prstGeom>
          <a:noFill/>
          <a:ln/>
        </p:spPr>
        <p:txBody>
          <a:bodyPr wrap="square" lIns="0" tIns="0" rIns="0" bIns="0" rtlCol="0" anchor="ctr"/>
          <a:lstStyle/>
          <a:p>
            <a:pPr marL="0" indent="0" algn="ctr">
              <a:buNone/>
            </a:pPr>
            <a:r>
              <a:rPr lang="en-US" sz="1700" dirty="0">
                <a:solidFill>
                  <a:srgbClr val="16213E"/>
                </a:solidFill>
                <a:latin typeface="Cambria Math" pitchFamily="34" charset="0"/>
                <a:ea typeface="Cambria Math" pitchFamily="34" charset="-122"/>
                <a:cs typeface="Cambria Math" pitchFamily="34" charset="-120"/>
              </a:rPr>
              <a:t>z = w₁x₁ + w₂x₂ + b        a = f(z)        L = L(a, y)</a:t>
            </a:r>
            <a:endParaRPr lang="en-US" sz="1700" dirty="0"/>
          </a:p>
        </p:txBody>
      </p:sp>
      <p:sp>
        <p:nvSpPr>
          <p:cNvPr id="20" name="Text 18"/>
          <p:cNvSpPr txBox="1"/>
          <p:nvPr/>
        </p:nvSpPr>
        <p:spPr>
          <a:xfrm>
            <a:off x="640080" y="4480560"/>
            <a:ext cx="10911535" cy="914400"/>
          </a:xfrm>
          <a:prstGeom prst="rect">
            <a:avLst/>
          </a:prstGeom>
          <a:noFill/>
          <a:ln/>
        </p:spPr>
        <p:txBody>
          <a:bodyPr wrap="square" lIns="0" tIns="0" rIns="0" bIns="0" rtlCol="0" anchor="t"/>
          <a:lstStyle/>
          <a:p>
            <a:pPr marL="228600" indent="-228600">
              <a:spcAft>
                <a:spcPts val="1000"/>
              </a:spcAft>
              <a:buSzPct val="100000"/>
              <a:buChar char="▪"/>
            </a:pPr>
            <a:r>
              <a:rPr lang="en-US" sz="1700" dirty="0">
                <a:solidFill>
                  <a:srgbClr val="1A2238"/>
                </a:solidFill>
                <a:latin typeface="Calibri" pitchFamily="34" charset="0"/>
                <a:ea typeface="Calibri" pitchFamily="34" charset="-122"/>
                <a:cs typeface="Calibri" pitchFamily="34" charset="-120"/>
              </a:rPr>
              <a:t>Forward tạo output và lưu các giá trị trung gian để backward dùng</a:t>
            </a:r>
            <a:endParaRPr lang="en-US" sz="1700" dirty="0"/>
          </a:p>
        </p:txBody>
      </p:sp>
      <p:sp>
        <p:nvSpPr>
          <p:cNvPr id="21" name="Text 19"/>
          <p:cNvSpPr txBox="1"/>
          <p:nvPr/>
        </p:nvSpPr>
        <p:spPr>
          <a:xfrm>
            <a:off x="11185855" y="6446520"/>
            <a:ext cx="731520" cy="274320"/>
          </a:xfrm>
          <a:prstGeom prst="rect">
            <a:avLst/>
          </a:prstGeom>
          <a:noFill/>
          <a:ln/>
        </p:spPr>
        <p:txBody>
          <a:bodyPr wrap="square" lIns="0" tIns="0" rIns="0" bIns="0" rtlCol="0" anchor="ctr"/>
          <a:lstStyle/>
          <a:p>
            <a:pPr marL="0" indent="0" algn="r">
              <a:buNone/>
            </a:pPr>
            <a:r>
              <a:rPr lang="en-US" sz="900" dirty="0">
                <a:solidFill>
                  <a:srgbClr val="5B6478"/>
                </a:solidFill>
                <a:latin typeface="Calibri" pitchFamily="34" charset="0"/>
                <a:ea typeface="Calibri" pitchFamily="34" charset="-122"/>
                <a:cs typeface="Calibri" pitchFamily="34" charset="-120"/>
              </a:rPr>
              <a:t>4/26</a:t>
            </a:r>
            <a:endParaRPr lang="en-US" sz="900" dirty="0"/>
          </a:p>
        </p:txBody>
      </p:sp>
      <p:sp>
        <p:nvSpPr>
          <p:cNvPr id="22" name="Shape 20"/>
          <p:cNvSpPr/>
          <p:nvPr/>
        </p:nvSpPr>
        <p:spPr>
          <a:xfrm>
            <a:off x="595503" y="6459093"/>
            <a:ext cx="89154" cy="89154"/>
          </a:xfrm>
          <a:prstGeom prst="ellipse">
            <a:avLst/>
          </a:prstGeom>
          <a:solidFill>
            <a:srgbClr val="285AB4"/>
          </a:solidFill>
          <a:ln/>
        </p:spPr>
      </p:sp>
      <p:sp>
        <p:nvSpPr>
          <p:cNvPr id="23" name="Shape 21"/>
          <p:cNvSpPr/>
          <p:nvPr/>
        </p:nvSpPr>
        <p:spPr>
          <a:xfrm>
            <a:off x="829818" y="6473952"/>
            <a:ext cx="59436" cy="59436"/>
          </a:xfrm>
          <a:prstGeom prst="ellipse">
            <a:avLst/>
          </a:prstGeom>
          <a:solidFill>
            <a:srgbClr val="D9DEE8"/>
          </a:solidFill>
          <a:ln/>
        </p:spPr>
      </p:sp>
      <p:sp>
        <p:nvSpPr>
          <p:cNvPr id="24" name="Shape 22"/>
          <p:cNvSpPr/>
          <p:nvPr/>
        </p:nvSpPr>
        <p:spPr>
          <a:xfrm>
            <a:off x="1049274" y="6473952"/>
            <a:ext cx="59436" cy="59436"/>
          </a:xfrm>
          <a:prstGeom prst="ellipse">
            <a:avLst/>
          </a:prstGeom>
          <a:solidFill>
            <a:srgbClr val="D9DEE8"/>
          </a:solidFill>
          <a:ln/>
        </p:spPr>
      </p:sp>
      <p:sp>
        <p:nvSpPr>
          <p:cNvPr id="25" name="Shape 23"/>
          <p:cNvSpPr/>
          <p:nvPr/>
        </p:nvSpPr>
        <p:spPr>
          <a:xfrm>
            <a:off x="1268730" y="6473952"/>
            <a:ext cx="59436" cy="59436"/>
          </a:xfrm>
          <a:prstGeom prst="ellipse">
            <a:avLst/>
          </a:prstGeom>
          <a:solidFill>
            <a:srgbClr val="D9DEE8"/>
          </a:solidFill>
          <a:ln/>
        </p:spPr>
      </p:sp>
      <p:sp>
        <p:nvSpPr>
          <p:cNvPr id="26" name="Text 24"/>
          <p:cNvSpPr txBox="1"/>
          <p:nvPr/>
        </p:nvSpPr>
        <p:spPr>
          <a:xfrm>
            <a:off x="1563624" y="6391656"/>
            <a:ext cx="3291840" cy="274320"/>
          </a:xfrm>
          <a:prstGeom prst="rect">
            <a:avLst/>
          </a:prstGeom>
          <a:noFill/>
          <a:ln/>
        </p:spPr>
        <p:txBody>
          <a:bodyPr wrap="square" lIns="0" tIns="0" rIns="0" bIns="0" rtlCol="0" anchor="ctr"/>
          <a:lstStyle/>
          <a:p>
            <a:pPr marL="0" indent="0">
              <a:buNone/>
            </a:pPr>
            <a:r>
              <a:rPr lang="en-US" sz="850" kern="0" spc="50" dirty="0">
                <a:solidFill>
                  <a:srgbClr val="5B6478"/>
                </a:solidFill>
                <a:latin typeface="Calibri" pitchFamily="34" charset="0"/>
                <a:ea typeface="Calibri" pitchFamily="34" charset="-122"/>
                <a:cs typeface="Calibri" pitchFamily="34" charset="-120"/>
              </a:rPr>
              <a:t>MOTIVATION &amp; MATH</a:t>
            </a:r>
            <a:endParaRPr lang="en-US" sz="8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txBox="1"/>
          <p:nvPr/>
        </p:nvSpPr>
        <p:spPr>
          <a:xfrm>
            <a:off x="640080" y="457200"/>
            <a:ext cx="9144000" cy="320040"/>
          </a:xfrm>
          <a:prstGeom prst="rect">
            <a:avLst/>
          </a:prstGeom>
          <a:noFill/>
          <a:ln/>
        </p:spPr>
        <p:txBody>
          <a:bodyPr wrap="square" lIns="0" tIns="0" rIns="0" bIns="0" rtlCol="0" anchor="ctr"/>
          <a:lstStyle/>
          <a:p>
            <a:pPr marL="0" indent="0">
              <a:buNone/>
            </a:pPr>
            <a:r>
              <a:rPr lang="en-US" sz="1300" b="1" kern="0" spc="100" dirty="0">
                <a:solidFill>
                  <a:srgbClr val="285AB4"/>
                </a:solidFill>
                <a:latin typeface="Calibri" pitchFamily="34" charset="0"/>
                <a:ea typeface="Calibri" pitchFamily="34" charset="-122"/>
                <a:cs typeface="Calibri" pitchFamily="34" charset="-120"/>
              </a:rPr>
              <a:t>BACKPROPAGATION</a:t>
            </a:r>
            <a:endParaRPr lang="en-US" sz="1300" dirty="0"/>
          </a:p>
        </p:txBody>
      </p:sp>
      <p:sp>
        <p:nvSpPr>
          <p:cNvPr id="3" name="Text 1"/>
          <p:cNvSpPr txBox="1"/>
          <p:nvPr/>
        </p:nvSpPr>
        <p:spPr>
          <a:xfrm>
            <a:off x="640080" y="749808"/>
            <a:ext cx="10911535" cy="822960"/>
          </a:xfrm>
          <a:prstGeom prst="rect">
            <a:avLst/>
          </a:prstGeom>
          <a:noFill/>
          <a:ln/>
        </p:spPr>
        <p:txBody>
          <a:bodyPr wrap="square" lIns="0" tIns="0" rIns="0" bIns="0" rtlCol="0" anchor="t"/>
          <a:lstStyle/>
          <a:p>
            <a:pPr marL="0" indent="0">
              <a:buNone/>
            </a:pPr>
            <a:r>
              <a:rPr lang="en-US" sz="2900" b="1" dirty="0">
                <a:solidFill>
                  <a:srgbClr val="1A2238"/>
                </a:solidFill>
                <a:latin typeface="Cambria" pitchFamily="34" charset="0"/>
                <a:ea typeface="Cambria" pitchFamily="34" charset="-122"/>
                <a:cs typeface="Cambria" pitchFamily="34" charset="-120"/>
              </a:rPr>
              <a:t>Chain Rule — trái tim của Backpropagation</a:t>
            </a:r>
            <a:endParaRPr lang="en-US" sz="2900" dirty="0"/>
          </a:p>
        </p:txBody>
      </p:sp>
      <p:sp>
        <p:nvSpPr>
          <p:cNvPr id="4" name="Shape 2"/>
          <p:cNvSpPr/>
          <p:nvPr/>
        </p:nvSpPr>
        <p:spPr>
          <a:xfrm>
            <a:off x="1554480" y="1828800"/>
            <a:ext cx="1463040" cy="502920"/>
          </a:xfrm>
          <a:prstGeom prst="roundRect">
            <a:avLst>
              <a:gd name="adj" fmla="val 10909"/>
            </a:avLst>
          </a:prstGeom>
          <a:solidFill>
            <a:srgbClr val="F1F4F9"/>
          </a:solidFill>
          <a:ln w="15875">
            <a:solidFill>
              <a:srgbClr val="D9DEE8"/>
            </a:solidFill>
            <a:prstDash val="solid"/>
          </a:ln>
        </p:spPr>
      </p:sp>
      <p:sp>
        <p:nvSpPr>
          <p:cNvPr id="5" name="Text 3"/>
          <p:cNvSpPr txBox="1"/>
          <p:nvPr/>
        </p:nvSpPr>
        <p:spPr>
          <a:xfrm>
            <a:off x="1554480" y="1828800"/>
            <a:ext cx="1463040" cy="502920"/>
          </a:xfrm>
          <a:prstGeom prst="rect">
            <a:avLst/>
          </a:prstGeom>
          <a:noFill/>
          <a:ln/>
        </p:spPr>
        <p:txBody>
          <a:bodyPr wrap="square" lIns="0" tIns="0" rIns="0" bIns="0" rtlCol="0" anchor="ctr"/>
          <a:lstStyle/>
          <a:p>
            <a:pPr marL="0" indent="0" algn="ctr">
              <a:buNone/>
            </a:pPr>
            <a:r>
              <a:rPr lang="en-US" sz="1300" dirty="0">
                <a:solidFill>
                  <a:srgbClr val="1A2238"/>
                </a:solidFill>
                <a:latin typeface="Cambria Math" pitchFamily="34" charset="0"/>
                <a:ea typeface="Cambria Math" pitchFamily="34" charset="-122"/>
                <a:cs typeface="Cambria Math" pitchFamily="34" charset="-120"/>
              </a:rPr>
              <a:t>w</a:t>
            </a:r>
            <a:endParaRPr lang="en-US" sz="1300" dirty="0"/>
          </a:p>
        </p:txBody>
      </p:sp>
      <p:sp>
        <p:nvSpPr>
          <p:cNvPr id="6" name="Shape 4"/>
          <p:cNvSpPr/>
          <p:nvPr/>
        </p:nvSpPr>
        <p:spPr>
          <a:xfrm>
            <a:off x="2286000" y="2331720"/>
            <a:ext cx="0" cy="384048"/>
          </a:xfrm>
          <a:prstGeom prst="line">
            <a:avLst/>
          </a:prstGeom>
          <a:noFill/>
          <a:ln w="25400">
            <a:solidFill>
              <a:srgbClr val="285AB4"/>
            </a:solidFill>
            <a:prstDash val="solid"/>
            <a:tailEnd type="triangle"/>
          </a:ln>
        </p:spPr>
      </p:sp>
      <p:sp>
        <p:nvSpPr>
          <p:cNvPr id="7" name="Shape 5"/>
          <p:cNvSpPr/>
          <p:nvPr/>
        </p:nvSpPr>
        <p:spPr>
          <a:xfrm>
            <a:off x="1554480" y="2715768"/>
            <a:ext cx="1463040" cy="502920"/>
          </a:xfrm>
          <a:prstGeom prst="roundRect">
            <a:avLst>
              <a:gd name="adj" fmla="val 10909"/>
            </a:avLst>
          </a:prstGeom>
          <a:solidFill>
            <a:srgbClr val="F1F4F9"/>
          </a:solidFill>
          <a:ln w="15875">
            <a:solidFill>
              <a:srgbClr val="D9DEE8"/>
            </a:solidFill>
            <a:prstDash val="solid"/>
          </a:ln>
        </p:spPr>
      </p:sp>
      <p:sp>
        <p:nvSpPr>
          <p:cNvPr id="8" name="Text 6"/>
          <p:cNvSpPr txBox="1"/>
          <p:nvPr/>
        </p:nvSpPr>
        <p:spPr>
          <a:xfrm>
            <a:off x="1554480" y="2715768"/>
            <a:ext cx="1463040" cy="502920"/>
          </a:xfrm>
          <a:prstGeom prst="rect">
            <a:avLst/>
          </a:prstGeom>
          <a:noFill/>
          <a:ln/>
        </p:spPr>
        <p:txBody>
          <a:bodyPr wrap="square" lIns="0" tIns="0" rIns="0" bIns="0" rtlCol="0" anchor="ctr"/>
          <a:lstStyle/>
          <a:p>
            <a:pPr marL="0" indent="0" algn="ctr">
              <a:buNone/>
            </a:pPr>
            <a:r>
              <a:rPr lang="en-US" sz="1300" dirty="0">
                <a:solidFill>
                  <a:srgbClr val="1A2238"/>
                </a:solidFill>
                <a:latin typeface="Cambria Math" pitchFamily="34" charset="0"/>
                <a:ea typeface="Cambria Math" pitchFamily="34" charset="-122"/>
                <a:cs typeface="Cambria Math" pitchFamily="34" charset="-120"/>
              </a:rPr>
              <a:t>z</a:t>
            </a:r>
            <a:endParaRPr lang="en-US" sz="1300" dirty="0"/>
          </a:p>
        </p:txBody>
      </p:sp>
      <p:sp>
        <p:nvSpPr>
          <p:cNvPr id="9" name="Shape 7"/>
          <p:cNvSpPr/>
          <p:nvPr/>
        </p:nvSpPr>
        <p:spPr>
          <a:xfrm>
            <a:off x="2286000" y="3218688"/>
            <a:ext cx="0" cy="384048"/>
          </a:xfrm>
          <a:prstGeom prst="line">
            <a:avLst/>
          </a:prstGeom>
          <a:noFill/>
          <a:ln w="25400">
            <a:solidFill>
              <a:srgbClr val="285AB4"/>
            </a:solidFill>
            <a:prstDash val="solid"/>
            <a:tailEnd type="triangle"/>
          </a:ln>
        </p:spPr>
      </p:sp>
      <p:sp>
        <p:nvSpPr>
          <p:cNvPr id="10" name="Shape 8"/>
          <p:cNvSpPr/>
          <p:nvPr/>
        </p:nvSpPr>
        <p:spPr>
          <a:xfrm>
            <a:off x="1554480" y="3602736"/>
            <a:ext cx="1463040" cy="502920"/>
          </a:xfrm>
          <a:prstGeom prst="roundRect">
            <a:avLst>
              <a:gd name="adj" fmla="val 10909"/>
            </a:avLst>
          </a:prstGeom>
          <a:solidFill>
            <a:srgbClr val="F1F4F9"/>
          </a:solidFill>
          <a:ln w="15875">
            <a:solidFill>
              <a:srgbClr val="D9DEE8"/>
            </a:solidFill>
            <a:prstDash val="solid"/>
          </a:ln>
        </p:spPr>
      </p:sp>
      <p:sp>
        <p:nvSpPr>
          <p:cNvPr id="11" name="Text 9"/>
          <p:cNvSpPr txBox="1"/>
          <p:nvPr/>
        </p:nvSpPr>
        <p:spPr>
          <a:xfrm>
            <a:off x="1554480" y="3602736"/>
            <a:ext cx="1463040" cy="502920"/>
          </a:xfrm>
          <a:prstGeom prst="rect">
            <a:avLst/>
          </a:prstGeom>
          <a:noFill/>
          <a:ln/>
        </p:spPr>
        <p:txBody>
          <a:bodyPr wrap="square" lIns="0" tIns="0" rIns="0" bIns="0" rtlCol="0" anchor="ctr"/>
          <a:lstStyle/>
          <a:p>
            <a:pPr marL="0" indent="0" algn="ctr">
              <a:buNone/>
            </a:pPr>
            <a:r>
              <a:rPr lang="en-US" sz="1300" dirty="0">
                <a:solidFill>
                  <a:srgbClr val="1A2238"/>
                </a:solidFill>
                <a:latin typeface="Cambria Math" pitchFamily="34" charset="0"/>
                <a:ea typeface="Cambria Math" pitchFamily="34" charset="-122"/>
                <a:cs typeface="Cambria Math" pitchFamily="34" charset="-120"/>
              </a:rPr>
              <a:t>a</a:t>
            </a:r>
            <a:endParaRPr lang="en-US" sz="1300" dirty="0"/>
          </a:p>
        </p:txBody>
      </p:sp>
      <p:sp>
        <p:nvSpPr>
          <p:cNvPr id="12" name="Shape 10"/>
          <p:cNvSpPr/>
          <p:nvPr/>
        </p:nvSpPr>
        <p:spPr>
          <a:xfrm>
            <a:off x="2286000" y="4105656"/>
            <a:ext cx="0" cy="384048"/>
          </a:xfrm>
          <a:prstGeom prst="line">
            <a:avLst/>
          </a:prstGeom>
          <a:noFill/>
          <a:ln w="25400">
            <a:solidFill>
              <a:srgbClr val="285AB4"/>
            </a:solidFill>
            <a:prstDash val="solid"/>
            <a:tailEnd type="triangle"/>
          </a:ln>
        </p:spPr>
      </p:sp>
      <p:sp>
        <p:nvSpPr>
          <p:cNvPr id="13" name="Shape 11"/>
          <p:cNvSpPr/>
          <p:nvPr/>
        </p:nvSpPr>
        <p:spPr>
          <a:xfrm>
            <a:off x="1554480" y="4489704"/>
            <a:ext cx="1463040" cy="502920"/>
          </a:xfrm>
          <a:prstGeom prst="roundRect">
            <a:avLst>
              <a:gd name="adj" fmla="val 10909"/>
            </a:avLst>
          </a:prstGeom>
          <a:solidFill>
            <a:srgbClr val="FBEEEC"/>
          </a:solidFill>
          <a:ln w="15875">
            <a:solidFill>
              <a:srgbClr val="BE3C32"/>
            </a:solidFill>
            <a:prstDash val="solid"/>
          </a:ln>
        </p:spPr>
      </p:sp>
      <p:sp>
        <p:nvSpPr>
          <p:cNvPr id="14" name="Text 12"/>
          <p:cNvSpPr txBox="1"/>
          <p:nvPr/>
        </p:nvSpPr>
        <p:spPr>
          <a:xfrm>
            <a:off x="1554480" y="4489704"/>
            <a:ext cx="1463040" cy="502920"/>
          </a:xfrm>
          <a:prstGeom prst="rect">
            <a:avLst/>
          </a:prstGeom>
          <a:noFill/>
          <a:ln/>
        </p:spPr>
        <p:txBody>
          <a:bodyPr wrap="square" lIns="0" tIns="0" rIns="0" bIns="0" rtlCol="0" anchor="ctr"/>
          <a:lstStyle/>
          <a:p>
            <a:pPr marL="0" indent="0" algn="ctr">
              <a:buNone/>
            </a:pPr>
            <a:r>
              <a:rPr lang="en-US" sz="1300" dirty="0">
                <a:solidFill>
                  <a:srgbClr val="1A2238"/>
                </a:solidFill>
                <a:latin typeface="Cambria Math" pitchFamily="34" charset="0"/>
                <a:ea typeface="Cambria Math" pitchFamily="34" charset="-122"/>
                <a:cs typeface="Cambria Math" pitchFamily="34" charset="-120"/>
              </a:rPr>
              <a:t>L</a:t>
            </a:r>
            <a:endParaRPr lang="en-US" sz="1300" dirty="0"/>
          </a:p>
        </p:txBody>
      </p:sp>
      <p:sp>
        <p:nvSpPr>
          <p:cNvPr id="15" name="Text 13"/>
          <p:cNvSpPr txBox="1"/>
          <p:nvPr/>
        </p:nvSpPr>
        <p:spPr>
          <a:xfrm>
            <a:off x="1371600" y="1325880"/>
            <a:ext cx="3108960" cy="365760"/>
          </a:xfrm>
          <a:prstGeom prst="rect">
            <a:avLst/>
          </a:prstGeom>
          <a:noFill/>
          <a:ln/>
        </p:spPr>
        <p:txBody>
          <a:bodyPr wrap="square" lIns="0" tIns="0" rIns="0" bIns="0" rtlCol="0" anchor="ctr"/>
          <a:lstStyle/>
          <a:p>
            <a:pPr marL="0" indent="0">
              <a:buNone/>
            </a:pPr>
            <a:r>
              <a:rPr lang="en-US" sz="1250" i="1" dirty="0">
                <a:solidFill>
                  <a:srgbClr val="5B6478"/>
                </a:solidFill>
                <a:latin typeface="Calibri" pitchFamily="34" charset="0"/>
                <a:ea typeface="Calibri" pitchFamily="34" charset="-122"/>
                <a:cs typeface="Calibri" pitchFamily="34" charset="-120"/>
              </a:rPr>
              <a:t>Forward: mỗi mũi tên là 1 phép biến đổi</a:t>
            </a:r>
            <a:endParaRPr lang="en-US" sz="1250" dirty="0"/>
          </a:p>
        </p:txBody>
      </p:sp>
      <p:sp>
        <p:nvSpPr>
          <p:cNvPr id="16" name="Shape 14"/>
          <p:cNvSpPr/>
          <p:nvPr/>
        </p:nvSpPr>
        <p:spPr>
          <a:xfrm>
            <a:off x="3931920" y="2651760"/>
            <a:ext cx="7619695" cy="914400"/>
          </a:xfrm>
          <a:prstGeom prst="roundRect">
            <a:avLst>
              <a:gd name="adj" fmla="val 8000"/>
            </a:avLst>
          </a:prstGeom>
          <a:solidFill>
            <a:srgbClr val="F1F4F9"/>
          </a:solidFill>
          <a:ln w="9525">
            <a:solidFill>
              <a:srgbClr val="D9DEE8"/>
            </a:solidFill>
            <a:prstDash val="solid"/>
          </a:ln>
          <a:effectLst>
            <a:outerShdw blurRad="114300" dist="38100" dir="5400000" algn="bl" rotWithShape="0">
              <a:srgbClr val="1A1A2E">
                <a:alpha val="20000"/>
              </a:srgbClr>
            </a:outerShdw>
          </a:effectLst>
        </p:spPr>
      </p:sp>
      <p:sp>
        <p:nvSpPr>
          <p:cNvPr id="17" name="Text 15"/>
          <p:cNvSpPr txBox="1"/>
          <p:nvPr/>
        </p:nvSpPr>
        <p:spPr>
          <a:xfrm>
            <a:off x="4160520" y="2651760"/>
            <a:ext cx="7162495" cy="914400"/>
          </a:xfrm>
          <a:prstGeom prst="rect">
            <a:avLst/>
          </a:prstGeom>
          <a:noFill/>
          <a:ln/>
        </p:spPr>
        <p:txBody>
          <a:bodyPr wrap="square" lIns="0" tIns="0" rIns="0" bIns="0" rtlCol="0" anchor="ctr"/>
          <a:lstStyle/>
          <a:p>
            <a:pPr marL="0" indent="0" algn="ctr">
              <a:buNone/>
            </a:pPr>
            <a:r>
              <a:rPr lang="en-US" sz="1900" dirty="0">
                <a:solidFill>
                  <a:srgbClr val="16213E"/>
                </a:solidFill>
                <a:latin typeface="Cambria Math" pitchFamily="34" charset="0"/>
                <a:ea typeface="Cambria Math" pitchFamily="34" charset="-122"/>
                <a:cs typeface="Cambria Math" pitchFamily="34" charset="-120"/>
              </a:rPr>
              <a:t>∂L/∂w  =  (∂L/∂a) · (∂a/∂z) · (∂z/∂w)</a:t>
            </a:r>
            <a:endParaRPr lang="en-US" sz="1900" dirty="0"/>
          </a:p>
        </p:txBody>
      </p:sp>
      <p:sp>
        <p:nvSpPr>
          <p:cNvPr id="18" name="Text 16"/>
          <p:cNvSpPr txBox="1"/>
          <p:nvPr/>
        </p:nvSpPr>
        <p:spPr>
          <a:xfrm>
            <a:off x="3931920" y="3840480"/>
            <a:ext cx="7619695" cy="1371600"/>
          </a:xfrm>
          <a:prstGeom prst="rect">
            <a:avLst/>
          </a:prstGeom>
          <a:noFill/>
          <a:ln/>
        </p:spPr>
        <p:txBody>
          <a:bodyPr wrap="square" lIns="0" tIns="0" rIns="0" bIns="0" rtlCol="0" anchor="t"/>
          <a:lstStyle/>
          <a:p>
            <a:pPr marL="228600" indent="-228600">
              <a:spcAft>
                <a:spcPts val="1000"/>
              </a:spcAft>
              <a:buSzPct val="100000"/>
              <a:buChar char="▪"/>
            </a:pPr>
            <a:r>
              <a:rPr lang="en-US" sz="1500" dirty="0">
                <a:solidFill>
                  <a:srgbClr val="1A2238"/>
                </a:solidFill>
                <a:latin typeface="Calibri" pitchFamily="34" charset="0"/>
                <a:ea typeface="Calibri" pitchFamily="34" charset="-122"/>
                <a:cs typeface="Calibri" pitchFamily="34" charset="-120"/>
              </a:rPr>
              <a:t>Muốn biết w ảnh hưởng L thế nào, ta NHÂN các đạo hàm cục bộ dọc theo đường đi w → z → a → L</a:t>
            </a:r>
            <a:endParaRPr lang="en-US" sz="1500" dirty="0"/>
          </a:p>
          <a:p>
            <a:pPr marL="228600" indent="-228600">
              <a:spcAft>
                <a:spcPts val="1000"/>
              </a:spcAft>
              <a:buSzPct val="100000"/>
              <a:buChar char="▪"/>
            </a:pPr>
            <a:r>
              <a:rPr lang="en-US" sz="1500" dirty="0">
                <a:solidFill>
                  <a:srgbClr val="1A2238"/>
                </a:solidFill>
                <a:latin typeface="Calibri" pitchFamily="34" charset="0"/>
                <a:ea typeface="Calibri" pitchFamily="34" charset="-122"/>
                <a:cs typeface="Calibri" pitchFamily="34" charset="-120"/>
              </a:rPr>
              <a:t>Đây chính là ý tưởng cốt lõi của Backpropagation: đi ngược đồ thị, nhân dồn đạo hàm cục bộ</a:t>
            </a:r>
            <a:endParaRPr lang="en-US" sz="1500" dirty="0"/>
          </a:p>
        </p:txBody>
      </p:sp>
      <p:sp>
        <p:nvSpPr>
          <p:cNvPr id="19" name="Text 17"/>
          <p:cNvSpPr txBox="1"/>
          <p:nvPr/>
        </p:nvSpPr>
        <p:spPr>
          <a:xfrm>
            <a:off x="3931920" y="5486400"/>
            <a:ext cx="7619695" cy="822960"/>
          </a:xfrm>
          <a:prstGeom prst="rect">
            <a:avLst/>
          </a:prstGeom>
          <a:noFill/>
          <a:ln/>
        </p:spPr>
        <p:txBody>
          <a:bodyPr wrap="square" lIns="0" tIns="0" rIns="0" bIns="0" rtlCol="0" anchor="t"/>
          <a:lstStyle/>
          <a:p>
            <a:pPr marL="228600" indent="-228600">
              <a:spcAft>
                <a:spcPts val="400"/>
              </a:spcAft>
              <a:buSzPct val="100000"/>
              <a:buChar char="▪"/>
            </a:pPr>
            <a:r>
              <a:rPr lang="en-US" sz="1400" dirty="0">
                <a:solidFill>
                  <a:srgbClr val="1A2238"/>
                </a:solidFill>
                <a:latin typeface="Calibri" pitchFamily="34" charset="0"/>
                <a:ea typeface="Calibri" pitchFamily="34" charset="-122"/>
                <a:cs typeface="Calibri" pitchFamily="34" charset="-120"/>
              </a:rPr>
              <a:t>Vector/ma trận: chain rule qua Jacobian (VJP)</a:t>
            </a:r>
            <a:endParaRPr lang="en-US" sz="1400" dirty="0"/>
          </a:p>
          <a:p>
            <a:pPr marL="228600" indent="-228600">
              <a:spcAft>
                <a:spcPts val="400"/>
              </a:spcAft>
              <a:buSzPct val="100000"/>
              <a:buChar char="▪"/>
            </a:pPr>
            <a:r>
              <a:rPr lang="en-US" sz="1400" dirty="0">
                <a:solidFill>
                  <a:srgbClr val="1A2238"/>
                </a:solidFill>
                <a:latin typeface="Calibri" pitchFamily="34" charset="0"/>
                <a:ea typeface="Calibri" pitchFamily="34" charset="-122"/>
                <a:cs typeface="Calibri" pitchFamily="34" charset="-120"/>
              </a:rPr>
              <a:t>PyTorch autograd tự động hoá bước này</a:t>
            </a:r>
            <a:endParaRPr lang="en-US" sz="1400" dirty="0"/>
          </a:p>
        </p:txBody>
      </p:sp>
      <p:sp>
        <p:nvSpPr>
          <p:cNvPr id="20" name="Text 18"/>
          <p:cNvSpPr txBox="1"/>
          <p:nvPr/>
        </p:nvSpPr>
        <p:spPr>
          <a:xfrm>
            <a:off x="11185855" y="6446520"/>
            <a:ext cx="731520" cy="274320"/>
          </a:xfrm>
          <a:prstGeom prst="rect">
            <a:avLst/>
          </a:prstGeom>
          <a:noFill/>
          <a:ln/>
        </p:spPr>
        <p:txBody>
          <a:bodyPr wrap="square" lIns="0" tIns="0" rIns="0" bIns="0" rtlCol="0" anchor="ctr"/>
          <a:lstStyle/>
          <a:p>
            <a:pPr marL="0" indent="0" algn="r">
              <a:buNone/>
            </a:pPr>
            <a:r>
              <a:rPr lang="en-US" sz="900" dirty="0">
                <a:solidFill>
                  <a:srgbClr val="5B6478"/>
                </a:solidFill>
                <a:latin typeface="Calibri" pitchFamily="34" charset="0"/>
                <a:ea typeface="Calibri" pitchFamily="34" charset="-122"/>
                <a:cs typeface="Calibri" pitchFamily="34" charset="-120"/>
              </a:rPr>
              <a:t>5/26</a:t>
            </a:r>
            <a:endParaRPr lang="en-US" sz="900" dirty="0"/>
          </a:p>
        </p:txBody>
      </p:sp>
      <p:sp>
        <p:nvSpPr>
          <p:cNvPr id="21" name="Shape 19"/>
          <p:cNvSpPr/>
          <p:nvPr/>
        </p:nvSpPr>
        <p:spPr>
          <a:xfrm>
            <a:off x="595503" y="6459093"/>
            <a:ext cx="89154" cy="89154"/>
          </a:xfrm>
          <a:prstGeom prst="ellipse">
            <a:avLst/>
          </a:prstGeom>
          <a:solidFill>
            <a:srgbClr val="285AB4"/>
          </a:solidFill>
          <a:ln/>
        </p:spPr>
      </p:sp>
      <p:sp>
        <p:nvSpPr>
          <p:cNvPr id="22" name="Shape 20"/>
          <p:cNvSpPr/>
          <p:nvPr/>
        </p:nvSpPr>
        <p:spPr>
          <a:xfrm>
            <a:off x="829818" y="6473952"/>
            <a:ext cx="59436" cy="59436"/>
          </a:xfrm>
          <a:prstGeom prst="ellipse">
            <a:avLst/>
          </a:prstGeom>
          <a:solidFill>
            <a:srgbClr val="D9DEE8"/>
          </a:solidFill>
          <a:ln/>
        </p:spPr>
      </p:sp>
      <p:sp>
        <p:nvSpPr>
          <p:cNvPr id="23" name="Shape 21"/>
          <p:cNvSpPr/>
          <p:nvPr/>
        </p:nvSpPr>
        <p:spPr>
          <a:xfrm>
            <a:off x="1049274" y="6473952"/>
            <a:ext cx="59436" cy="59436"/>
          </a:xfrm>
          <a:prstGeom prst="ellipse">
            <a:avLst/>
          </a:prstGeom>
          <a:solidFill>
            <a:srgbClr val="D9DEE8"/>
          </a:solidFill>
          <a:ln/>
        </p:spPr>
      </p:sp>
      <p:sp>
        <p:nvSpPr>
          <p:cNvPr id="24" name="Shape 22"/>
          <p:cNvSpPr/>
          <p:nvPr/>
        </p:nvSpPr>
        <p:spPr>
          <a:xfrm>
            <a:off x="1268730" y="6473952"/>
            <a:ext cx="59436" cy="59436"/>
          </a:xfrm>
          <a:prstGeom prst="ellipse">
            <a:avLst/>
          </a:prstGeom>
          <a:solidFill>
            <a:srgbClr val="D9DEE8"/>
          </a:solidFill>
          <a:ln/>
        </p:spPr>
      </p:sp>
      <p:sp>
        <p:nvSpPr>
          <p:cNvPr id="25" name="Text 23"/>
          <p:cNvSpPr txBox="1"/>
          <p:nvPr/>
        </p:nvSpPr>
        <p:spPr>
          <a:xfrm>
            <a:off x="1563624" y="6391656"/>
            <a:ext cx="3291840" cy="274320"/>
          </a:xfrm>
          <a:prstGeom prst="rect">
            <a:avLst/>
          </a:prstGeom>
          <a:noFill/>
          <a:ln/>
        </p:spPr>
        <p:txBody>
          <a:bodyPr wrap="square" lIns="0" tIns="0" rIns="0" bIns="0" rtlCol="0" anchor="ctr"/>
          <a:lstStyle/>
          <a:p>
            <a:pPr marL="0" indent="0">
              <a:buNone/>
            </a:pPr>
            <a:r>
              <a:rPr lang="en-US" sz="850" kern="0" spc="50" dirty="0">
                <a:solidFill>
                  <a:srgbClr val="5B6478"/>
                </a:solidFill>
                <a:latin typeface="Calibri" pitchFamily="34" charset="0"/>
                <a:ea typeface="Calibri" pitchFamily="34" charset="-122"/>
                <a:cs typeface="Calibri" pitchFamily="34" charset="-120"/>
              </a:rPr>
              <a:t>MOTIVATION &amp; MATH</a:t>
            </a:r>
            <a:endParaRPr lang="en-US" sz="8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txBox="1"/>
          <p:nvPr/>
        </p:nvSpPr>
        <p:spPr>
          <a:xfrm>
            <a:off x="640080" y="457200"/>
            <a:ext cx="9144000" cy="320040"/>
          </a:xfrm>
          <a:prstGeom prst="rect">
            <a:avLst/>
          </a:prstGeom>
          <a:noFill/>
          <a:ln/>
        </p:spPr>
        <p:txBody>
          <a:bodyPr wrap="square" lIns="0" tIns="0" rIns="0" bIns="0" rtlCol="0" anchor="ctr"/>
          <a:lstStyle/>
          <a:p>
            <a:pPr marL="0" indent="0">
              <a:buNone/>
            </a:pPr>
            <a:r>
              <a:rPr lang="en-US" sz="1300" b="1" kern="0" spc="100" dirty="0">
                <a:solidFill>
                  <a:srgbClr val="285AB4"/>
                </a:solidFill>
                <a:latin typeface="Calibri" pitchFamily="34" charset="0"/>
                <a:ea typeface="Calibri" pitchFamily="34" charset="-122"/>
                <a:cs typeface="Calibri" pitchFamily="34" charset="-120"/>
              </a:rPr>
              <a:t>BACKPROPAGATION</a:t>
            </a:r>
            <a:endParaRPr lang="en-US" sz="1300" dirty="0"/>
          </a:p>
        </p:txBody>
      </p:sp>
      <p:sp>
        <p:nvSpPr>
          <p:cNvPr id="3" name="Text 1"/>
          <p:cNvSpPr txBox="1"/>
          <p:nvPr/>
        </p:nvSpPr>
        <p:spPr>
          <a:xfrm>
            <a:off x="640080" y="749808"/>
            <a:ext cx="10911535" cy="822960"/>
          </a:xfrm>
          <a:prstGeom prst="rect">
            <a:avLst/>
          </a:prstGeom>
          <a:noFill/>
          <a:ln/>
        </p:spPr>
        <p:txBody>
          <a:bodyPr wrap="square" lIns="0" tIns="0" rIns="0" bIns="0" rtlCol="0" anchor="t"/>
          <a:lstStyle/>
          <a:p>
            <a:pPr marL="0" indent="0">
              <a:buNone/>
            </a:pPr>
            <a:r>
              <a:rPr lang="en-US" sz="2900" b="1" dirty="0">
                <a:solidFill>
                  <a:srgbClr val="1A2238"/>
                </a:solidFill>
                <a:latin typeface="Cambria" pitchFamily="34" charset="0"/>
                <a:ea typeface="Cambria" pitchFamily="34" charset="-122"/>
                <a:cs typeface="Cambria" pitchFamily="34" charset="-120"/>
              </a:rPr>
              <a:t>Computational Graph &amp; Vector-Jacobian Product</a:t>
            </a:r>
            <a:endParaRPr lang="en-US" sz="2900" dirty="0"/>
          </a:p>
        </p:txBody>
      </p:sp>
      <p:sp>
        <p:nvSpPr>
          <p:cNvPr id="4" name="Shape 2"/>
          <p:cNvSpPr/>
          <p:nvPr/>
        </p:nvSpPr>
        <p:spPr>
          <a:xfrm>
            <a:off x="822960" y="2103120"/>
            <a:ext cx="1737360" cy="548640"/>
          </a:xfrm>
          <a:prstGeom prst="roundRect">
            <a:avLst>
              <a:gd name="adj" fmla="val 10000"/>
            </a:avLst>
          </a:prstGeom>
          <a:solidFill>
            <a:srgbClr val="F1F4F9"/>
          </a:solidFill>
          <a:ln w="15875">
            <a:solidFill>
              <a:srgbClr val="D9DEE8"/>
            </a:solidFill>
            <a:prstDash val="solid"/>
          </a:ln>
        </p:spPr>
      </p:sp>
      <p:sp>
        <p:nvSpPr>
          <p:cNvPr id="5" name="Text 3"/>
          <p:cNvSpPr txBox="1"/>
          <p:nvPr/>
        </p:nvSpPr>
        <p:spPr>
          <a:xfrm>
            <a:off x="822960" y="2103120"/>
            <a:ext cx="1737360" cy="548640"/>
          </a:xfrm>
          <a:prstGeom prst="rect">
            <a:avLst/>
          </a:prstGeom>
          <a:noFill/>
          <a:ln/>
        </p:spPr>
        <p:txBody>
          <a:bodyPr wrap="square" lIns="0" tIns="0" rIns="0" bIns="0" rtlCol="0" anchor="ctr"/>
          <a:lstStyle/>
          <a:p>
            <a:pPr marL="0" indent="0" algn="ctr">
              <a:buNone/>
            </a:pPr>
            <a:r>
              <a:rPr lang="en-US" sz="1250" dirty="0">
                <a:solidFill>
                  <a:srgbClr val="1A2238"/>
                </a:solidFill>
                <a:latin typeface="Cambria Math" pitchFamily="34" charset="0"/>
                <a:ea typeface="Cambria Math" pitchFamily="34" charset="-122"/>
                <a:cs typeface="Cambria Math" pitchFamily="34" charset="-120"/>
              </a:rPr>
              <a:t>X (batch)</a:t>
            </a:r>
            <a:endParaRPr lang="en-US" sz="1250" dirty="0"/>
          </a:p>
        </p:txBody>
      </p:sp>
      <p:sp>
        <p:nvSpPr>
          <p:cNvPr id="6" name="Shape 4"/>
          <p:cNvSpPr/>
          <p:nvPr/>
        </p:nvSpPr>
        <p:spPr>
          <a:xfrm>
            <a:off x="2560320" y="2377440"/>
            <a:ext cx="502920" cy="0"/>
          </a:xfrm>
          <a:prstGeom prst="line">
            <a:avLst/>
          </a:prstGeom>
          <a:noFill/>
          <a:ln w="22225">
            <a:solidFill>
              <a:srgbClr val="285AB4"/>
            </a:solidFill>
            <a:prstDash val="solid"/>
            <a:tailEnd type="triangle"/>
          </a:ln>
        </p:spPr>
      </p:sp>
      <p:sp>
        <p:nvSpPr>
          <p:cNvPr id="7" name="Shape 5"/>
          <p:cNvSpPr/>
          <p:nvPr/>
        </p:nvSpPr>
        <p:spPr>
          <a:xfrm>
            <a:off x="3063240" y="2103120"/>
            <a:ext cx="1737360" cy="548640"/>
          </a:xfrm>
          <a:prstGeom prst="roundRect">
            <a:avLst>
              <a:gd name="adj" fmla="val 10000"/>
            </a:avLst>
          </a:prstGeom>
          <a:solidFill>
            <a:srgbClr val="F1F4F9"/>
          </a:solidFill>
          <a:ln w="15875">
            <a:solidFill>
              <a:srgbClr val="D9DEE8"/>
            </a:solidFill>
            <a:prstDash val="solid"/>
          </a:ln>
        </p:spPr>
      </p:sp>
      <p:sp>
        <p:nvSpPr>
          <p:cNvPr id="8" name="Text 6"/>
          <p:cNvSpPr txBox="1"/>
          <p:nvPr/>
        </p:nvSpPr>
        <p:spPr>
          <a:xfrm>
            <a:off x="3063240" y="2103120"/>
            <a:ext cx="1737360" cy="548640"/>
          </a:xfrm>
          <a:prstGeom prst="rect">
            <a:avLst/>
          </a:prstGeom>
          <a:noFill/>
          <a:ln/>
        </p:spPr>
        <p:txBody>
          <a:bodyPr wrap="square" lIns="0" tIns="0" rIns="0" bIns="0" rtlCol="0" anchor="ctr"/>
          <a:lstStyle/>
          <a:p>
            <a:pPr marL="0" indent="0" algn="ctr">
              <a:buNone/>
            </a:pPr>
            <a:r>
              <a:rPr lang="en-US" sz="1250" dirty="0">
                <a:solidFill>
                  <a:srgbClr val="1A2238"/>
                </a:solidFill>
                <a:latin typeface="Cambria Math" pitchFamily="34" charset="0"/>
                <a:ea typeface="Cambria Math" pitchFamily="34" charset="-122"/>
                <a:cs typeface="Cambria Math" pitchFamily="34" charset="-120"/>
              </a:rPr>
              <a:t>W₁, b₁</a:t>
            </a:r>
            <a:endParaRPr lang="en-US" sz="1250" dirty="0"/>
          </a:p>
        </p:txBody>
      </p:sp>
      <p:sp>
        <p:nvSpPr>
          <p:cNvPr id="9" name="Shape 7"/>
          <p:cNvSpPr/>
          <p:nvPr/>
        </p:nvSpPr>
        <p:spPr>
          <a:xfrm>
            <a:off x="4800600" y="2377440"/>
            <a:ext cx="502920" cy="0"/>
          </a:xfrm>
          <a:prstGeom prst="line">
            <a:avLst/>
          </a:prstGeom>
          <a:noFill/>
          <a:ln w="22225">
            <a:solidFill>
              <a:srgbClr val="285AB4"/>
            </a:solidFill>
            <a:prstDash val="solid"/>
            <a:tailEnd type="triangle"/>
          </a:ln>
        </p:spPr>
      </p:sp>
      <p:sp>
        <p:nvSpPr>
          <p:cNvPr id="10" name="Shape 8"/>
          <p:cNvSpPr/>
          <p:nvPr/>
        </p:nvSpPr>
        <p:spPr>
          <a:xfrm>
            <a:off x="5303520" y="2103120"/>
            <a:ext cx="1737360" cy="548640"/>
          </a:xfrm>
          <a:prstGeom prst="roundRect">
            <a:avLst>
              <a:gd name="adj" fmla="val 10000"/>
            </a:avLst>
          </a:prstGeom>
          <a:solidFill>
            <a:srgbClr val="F1F4F9"/>
          </a:solidFill>
          <a:ln w="15875">
            <a:solidFill>
              <a:srgbClr val="D9DEE8"/>
            </a:solidFill>
            <a:prstDash val="solid"/>
          </a:ln>
        </p:spPr>
      </p:sp>
      <p:sp>
        <p:nvSpPr>
          <p:cNvPr id="11" name="Text 9"/>
          <p:cNvSpPr txBox="1"/>
          <p:nvPr/>
        </p:nvSpPr>
        <p:spPr>
          <a:xfrm>
            <a:off x="5303520" y="2103120"/>
            <a:ext cx="1737360" cy="548640"/>
          </a:xfrm>
          <a:prstGeom prst="rect">
            <a:avLst/>
          </a:prstGeom>
          <a:noFill/>
          <a:ln/>
        </p:spPr>
        <p:txBody>
          <a:bodyPr wrap="square" lIns="0" tIns="0" rIns="0" bIns="0" rtlCol="0" anchor="ctr"/>
          <a:lstStyle/>
          <a:p>
            <a:pPr marL="0" indent="0" algn="ctr">
              <a:buNone/>
            </a:pPr>
            <a:r>
              <a:rPr lang="en-US" sz="1250" dirty="0">
                <a:solidFill>
                  <a:srgbClr val="1A2238"/>
                </a:solidFill>
                <a:latin typeface="Cambria Math" pitchFamily="34" charset="0"/>
                <a:ea typeface="Cambria Math" pitchFamily="34" charset="-122"/>
                <a:cs typeface="Cambria Math" pitchFamily="34" charset="-120"/>
              </a:rPr>
              <a:t>H₁ = ReLU(XW₁+b₁)</a:t>
            </a:r>
            <a:endParaRPr lang="en-US" sz="1250" dirty="0"/>
          </a:p>
        </p:txBody>
      </p:sp>
      <p:sp>
        <p:nvSpPr>
          <p:cNvPr id="12" name="Shape 10"/>
          <p:cNvSpPr/>
          <p:nvPr/>
        </p:nvSpPr>
        <p:spPr>
          <a:xfrm>
            <a:off x="7040880" y="2377440"/>
            <a:ext cx="502920" cy="0"/>
          </a:xfrm>
          <a:prstGeom prst="line">
            <a:avLst/>
          </a:prstGeom>
          <a:noFill/>
          <a:ln w="22225">
            <a:solidFill>
              <a:srgbClr val="285AB4"/>
            </a:solidFill>
            <a:prstDash val="solid"/>
            <a:tailEnd type="triangle"/>
          </a:ln>
        </p:spPr>
      </p:sp>
      <p:sp>
        <p:nvSpPr>
          <p:cNvPr id="13" name="Shape 11"/>
          <p:cNvSpPr/>
          <p:nvPr/>
        </p:nvSpPr>
        <p:spPr>
          <a:xfrm>
            <a:off x="7543800" y="2103120"/>
            <a:ext cx="1737360" cy="548640"/>
          </a:xfrm>
          <a:prstGeom prst="roundRect">
            <a:avLst>
              <a:gd name="adj" fmla="val 10000"/>
            </a:avLst>
          </a:prstGeom>
          <a:solidFill>
            <a:srgbClr val="F1F4F9"/>
          </a:solidFill>
          <a:ln w="15875">
            <a:solidFill>
              <a:srgbClr val="D9DEE8"/>
            </a:solidFill>
            <a:prstDash val="solid"/>
          </a:ln>
        </p:spPr>
      </p:sp>
      <p:sp>
        <p:nvSpPr>
          <p:cNvPr id="14" name="Text 12"/>
          <p:cNvSpPr txBox="1"/>
          <p:nvPr/>
        </p:nvSpPr>
        <p:spPr>
          <a:xfrm>
            <a:off x="7543800" y="2103120"/>
            <a:ext cx="1737360" cy="548640"/>
          </a:xfrm>
          <a:prstGeom prst="rect">
            <a:avLst/>
          </a:prstGeom>
          <a:noFill/>
          <a:ln/>
        </p:spPr>
        <p:txBody>
          <a:bodyPr wrap="square" lIns="0" tIns="0" rIns="0" bIns="0" rtlCol="0" anchor="ctr"/>
          <a:lstStyle/>
          <a:p>
            <a:pPr marL="0" indent="0" algn="ctr">
              <a:buNone/>
            </a:pPr>
            <a:r>
              <a:rPr lang="en-US" sz="1250" dirty="0">
                <a:solidFill>
                  <a:srgbClr val="1A2238"/>
                </a:solidFill>
                <a:latin typeface="Cambria Math" pitchFamily="34" charset="0"/>
                <a:ea typeface="Cambria Math" pitchFamily="34" charset="-122"/>
                <a:cs typeface="Cambria Math" pitchFamily="34" charset="-120"/>
              </a:rPr>
              <a:t>W₂, b₂</a:t>
            </a:r>
            <a:endParaRPr lang="en-US" sz="1250" dirty="0"/>
          </a:p>
        </p:txBody>
      </p:sp>
      <p:sp>
        <p:nvSpPr>
          <p:cNvPr id="15" name="Shape 13"/>
          <p:cNvSpPr/>
          <p:nvPr/>
        </p:nvSpPr>
        <p:spPr>
          <a:xfrm>
            <a:off x="9281160" y="2377440"/>
            <a:ext cx="502920" cy="0"/>
          </a:xfrm>
          <a:prstGeom prst="line">
            <a:avLst/>
          </a:prstGeom>
          <a:noFill/>
          <a:ln w="22225">
            <a:solidFill>
              <a:srgbClr val="285AB4"/>
            </a:solidFill>
            <a:prstDash val="solid"/>
            <a:tailEnd type="triangle"/>
          </a:ln>
        </p:spPr>
      </p:sp>
      <p:sp>
        <p:nvSpPr>
          <p:cNvPr id="16" name="Shape 14"/>
          <p:cNvSpPr/>
          <p:nvPr/>
        </p:nvSpPr>
        <p:spPr>
          <a:xfrm>
            <a:off x="9784080" y="2103120"/>
            <a:ext cx="1737360" cy="548640"/>
          </a:xfrm>
          <a:prstGeom prst="roundRect">
            <a:avLst>
              <a:gd name="adj" fmla="val 10000"/>
            </a:avLst>
          </a:prstGeom>
          <a:solidFill>
            <a:srgbClr val="F1F4F9"/>
          </a:solidFill>
          <a:ln w="15875">
            <a:solidFill>
              <a:srgbClr val="D9DEE8"/>
            </a:solidFill>
            <a:prstDash val="solid"/>
          </a:ln>
        </p:spPr>
      </p:sp>
      <p:sp>
        <p:nvSpPr>
          <p:cNvPr id="17" name="Text 15"/>
          <p:cNvSpPr txBox="1"/>
          <p:nvPr/>
        </p:nvSpPr>
        <p:spPr>
          <a:xfrm>
            <a:off x="9784080" y="2103120"/>
            <a:ext cx="1737360" cy="548640"/>
          </a:xfrm>
          <a:prstGeom prst="rect">
            <a:avLst/>
          </a:prstGeom>
          <a:noFill/>
          <a:ln/>
        </p:spPr>
        <p:txBody>
          <a:bodyPr wrap="square" lIns="0" tIns="0" rIns="0" bIns="0" rtlCol="0" anchor="ctr"/>
          <a:lstStyle/>
          <a:p>
            <a:pPr marL="0" indent="0" algn="ctr">
              <a:buNone/>
            </a:pPr>
            <a:r>
              <a:rPr lang="en-US" sz="1250" dirty="0">
                <a:solidFill>
                  <a:srgbClr val="1A2238"/>
                </a:solidFill>
                <a:latin typeface="Cambria Math" pitchFamily="34" charset="0"/>
                <a:ea typeface="Cambria Math" pitchFamily="34" charset="-122"/>
                <a:cs typeface="Cambria Math" pitchFamily="34" charset="-120"/>
              </a:rPr>
              <a:t>Ŷ</a:t>
            </a:r>
            <a:endParaRPr lang="en-US" sz="1250" dirty="0"/>
          </a:p>
        </p:txBody>
      </p:sp>
      <p:sp>
        <p:nvSpPr>
          <p:cNvPr id="18" name="Shape 16"/>
          <p:cNvSpPr/>
          <p:nvPr/>
        </p:nvSpPr>
        <p:spPr>
          <a:xfrm>
            <a:off x="10579049" y="2651759"/>
            <a:ext cx="0" cy="365759"/>
          </a:xfrm>
          <a:prstGeom prst="line">
            <a:avLst/>
          </a:prstGeom>
          <a:noFill/>
          <a:ln w="22225">
            <a:solidFill>
              <a:srgbClr val="285AB4"/>
            </a:solidFill>
            <a:prstDash val="solid"/>
            <a:tailEnd type="triangle"/>
          </a:ln>
        </p:spPr>
      </p:sp>
      <p:sp>
        <p:nvSpPr>
          <p:cNvPr id="19" name="Shape 17"/>
          <p:cNvSpPr/>
          <p:nvPr/>
        </p:nvSpPr>
        <p:spPr>
          <a:xfrm>
            <a:off x="9784080" y="3017519"/>
            <a:ext cx="1737360" cy="548640"/>
          </a:xfrm>
          <a:prstGeom prst="roundRect">
            <a:avLst>
              <a:gd name="adj" fmla="val 10000"/>
            </a:avLst>
          </a:prstGeom>
          <a:solidFill>
            <a:srgbClr val="FBEEEC"/>
          </a:solidFill>
          <a:ln w="15875">
            <a:solidFill>
              <a:srgbClr val="BE3C32"/>
            </a:solidFill>
            <a:prstDash val="solid"/>
          </a:ln>
        </p:spPr>
      </p:sp>
      <p:sp>
        <p:nvSpPr>
          <p:cNvPr id="20" name="Text 18"/>
          <p:cNvSpPr txBox="1"/>
          <p:nvPr/>
        </p:nvSpPr>
        <p:spPr>
          <a:xfrm>
            <a:off x="9784080" y="3017519"/>
            <a:ext cx="1737360" cy="548640"/>
          </a:xfrm>
          <a:prstGeom prst="rect">
            <a:avLst/>
          </a:prstGeom>
          <a:noFill/>
          <a:ln/>
        </p:spPr>
        <p:txBody>
          <a:bodyPr wrap="square" lIns="0" tIns="0" rIns="0" bIns="0" rtlCol="0" anchor="ctr"/>
          <a:lstStyle/>
          <a:p>
            <a:pPr marL="0" indent="0" algn="ctr">
              <a:buNone/>
            </a:pPr>
            <a:r>
              <a:rPr lang="en-US" sz="1250" dirty="0">
                <a:solidFill>
                  <a:srgbClr val="1A2238"/>
                </a:solidFill>
                <a:latin typeface="Cambria Math" pitchFamily="34" charset="0"/>
                <a:ea typeface="Cambria Math" pitchFamily="34" charset="-122"/>
                <a:cs typeface="Cambria Math" pitchFamily="34" charset="-120"/>
              </a:rPr>
              <a:t>Loss L</a:t>
            </a:r>
            <a:endParaRPr lang="en-US" sz="1250" dirty="0"/>
          </a:p>
        </p:txBody>
      </p:sp>
      <p:sp>
        <p:nvSpPr>
          <p:cNvPr id="21" name="Text 19"/>
          <p:cNvSpPr txBox="1"/>
          <p:nvPr/>
        </p:nvSpPr>
        <p:spPr>
          <a:xfrm>
            <a:off x="640080" y="2834640"/>
            <a:ext cx="5486400" cy="365760"/>
          </a:xfrm>
          <a:prstGeom prst="rect">
            <a:avLst/>
          </a:prstGeom>
          <a:noFill/>
          <a:ln/>
        </p:spPr>
        <p:txBody>
          <a:bodyPr wrap="square" lIns="0" tIns="0" rIns="0" bIns="0" rtlCol="0" anchor="ctr"/>
          <a:lstStyle/>
          <a:p>
            <a:pPr marL="0" indent="0">
              <a:buNone/>
            </a:pPr>
            <a:r>
              <a:rPr lang="en-US" sz="1500" b="1" dirty="0">
                <a:solidFill>
                  <a:srgbClr val="285AB4"/>
                </a:solidFill>
                <a:latin typeface="Calibri" pitchFamily="34" charset="0"/>
                <a:ea typeface="Calibri" pitchFamily="34" charset="-122"/>
                <a:cs typeface="Calibri" pitchFamily="34" charset="-120"/>
              </a:rPr>
              <a:t>Forward: lưu các tensor trung gian</a:t>
            </a:r>
            <a:endParaRPr lang="en-US" sz="1500" dirty="0"/>
          </a:p>
        </p:txBody>
      </p:sp>
      <p:sp>
        <p:nvSpPr>
          <p:cNvPr id="22" name="Shape 20"/>
          <p:cNvSpPr/>
          <p:nvPr/>
        </p:nvSpPr>
        <p:spPr>
          <a:xfrm>
            <a:off x="640080" y="3657600"/>
            <a:ext cx="10911535" cy="868680"/>
          </a:xfrm>
          <a:prstGeom prst="roundRect">
            <a:avLst>
              <a:gd name="adj" fmla="val 8421"/>
            </a:avLst>
          </a:prstGeom>
          <a:solidFill>
            <a:srgbClr val="FBEEEC"/>
          </a:solidFill>
          <a:ln w="9525">
            <a:solidFill>
              <a:srgbClr val="D9DEE8"/>
            </a:solidFill>
            <a:prstDash val="solid"/>
          </a:ln>
          <a:effectLst>
            <a:outerShdw blurRad="114300" dist="38100" dir="5400000" algn="bl" rotWithShape="0">
              <a:srgbClr val="1A1A2E">
                <a:alpha val="20000"/>
              </a:srgbClr>
            </a:outerShdw>
          </a:effectLst>
        </p:spPr>
      </p:sp>
      <p:sp>
        <p:nvSpPr>
          <p:cNvPr id="23" name="Text 21"/>
          <p:cNvSpPr txBox="1"/>
          <p:nvPr/>
        </p:nvSpPr>
        <p:spPr>
          <a:xfrm>
            <a:off x="868680" y="3657600"/>
            <a:ext cx="10454335" cy="868680"/>
          </a:xfrm>
          <a:prstGeom prst="rect">
            <a:avLst/>
          </a:prstGeom>
          <a:noFill/>
          <a:ln/>
        </p:spPr>
        <p:txBody>
          <a:bodyPr wrap="square" lIns="0" tIns="0" rIns="0" bIns="0" rtlCol="0" anchor="ctr"/>
          <a:lstStyle/>
          <a:p>
            <a:pPr marL="0" indent="0" algn="ctr">
              <a:buNone/>
            </a:pPr>
            <a:r>
              <a:rPr lang="en-US" sz="1700" dirty="0">
                <a:solidFill>
                  <a:srgbClr val="BE3C32"/>
                </a:solidFill>
                <a:latin typeface="Cambria Math" pitchFamily="34" charset="0"/>
                <a:ea typeface="Cambria Math" pitchFamily="34" charset="-122"/>
                <a:cs typeface="Cambria Math" pitchFamily="34" charset="-120"/>
              </a:rPr>
              <a:t>Backward:  v^T ← v^T · J        (vector–Jacobian product, không lập ma trận Jacobian)</a:t>
            </a:r>
            <a:endParaRPr lang="en-US" sz="1700" dirty="0"/>
          </a:p>
        </p:txBody>
      </p:sp>
      <p:sp>
        <p:nvSpPr>
          <p:cNvPr id="24" name="Text 22"/>
          <p:cNvSpPr txBox="1"/>
          <p:nvPr/>
        </p:nvSpPr>
        <p:spPr>
          <a:xfrm>
            <a:off x="640080" y="4846320"/>
            <a:ext cx="10911535" cy="1280160"/>
          </a:xfrm>
          <a:prstGeom prst="rect">
            <a:avLst/>
          </a:prstGeom>
          <a:noFill/>
          <a:ln/>
        </p:spPr>
        <p:txBody>
          <a:bodyPr wrap="square" lIns="0" tIns="0" rIns="0" bIns="0" rtlCol="0" anchor="t"/>
          <a:lstStyle/>
          <a:p>
            <a:pPr marL="228600" indent="-228600">
              <a:spcAft>
                <a:spcPts val="1000"/>
              </a:spcAft>
              <a:buSzPct val="100000"/>
              <a:buChar char="▪"/>
            </a:pPr>
            <a:r>
              <a:rPr lang="en-US" sz="1700" dirty="0">
                <a:solidFill>
                  <a:srgbClr val="1A2238"/>
                </a:solidFill>
                <a:latin typeface="Calibri" pitchFamily="34" charset="0"/>
                <a:ea typeface="Calibri" pitchFamily="34" charset="-122"/>
                <a:cs typeface="Calibri" pitchFamily="34" charset="-120"/>
              </a:rPr>
              <a:t>PyTorch autograd xây đồ thị khi forward và thực hiện VJP khi backward</a:t>
            </a:r>
            <a:endParaRPr lang="en-US" sz="1700" dirty="0"/>
          </a:p>
          <a:p>
            <a:pPr marL="228600" indent="-228600">
              <a:spcAft>
                <a:spcPts val="1000"/>
              </a:spcAft>
              <a:buSzPct val="100000"/>
              <a:buChar char="▪"/>
            </a:pPr>
            <a:r>
              <a:rPr lang="en-US" sz="1700" dirty="0">
                <a:solidFill>
                  <a:srgbClr val="1A2238"/>
                </a:solidFill>
                <a:latin typeface="Calibri" pitchFamily="34" charset="0"/>
                <a:ea typeface="Calibri" pitchFamily="34" charset="-122"/>
                <a:cs typeface="Calibri" pitchFamily="34" charset="-120"/>
              </a:rPr>
              <a:t>Chi phí backward ≈ cùng bậc forward, không phụ thuộc số phần tử của Jacobian</a:t>
            </a:r>
            <a:endParaRPr lang="en-US" sz="1700" dirty="0"/>
          </a:p>
        </p:txBody>
      </p:sp>
      <p:sp>
        <p:nvSpPr>
          <p:cNvPr id="25" name="Text 23"/>
          <p:cNvSpPr txBox="1"/>
          <p:nvPr/>
        </p:nvSpPr>
        <p:spPr>
          <a:xfrm>
            <a:off x="11185855" y="6446520"/>
            <a:ext cx="731520" cy="274320"/>
          </a:xfrm>
          <a:prstGeom prst="rect">
            <a:avLst/>
          </a:prstGeom>
          <a:noFill/>
          <a:ln/>
        </p:spPr>
        <p:txBody>
          <a:bodyPr wrap="square" lIns="0" tIns="0" rIns="0" bIns="0" rtlCol="0" anchor="ctr"/>
          <a:lstStyle/>
          <a:p>
            <a:pPr marL="0" indent="0" algn="r">
              <a:buNone/>
            </a:pPr>
            <a:r>
              <a:rPr lang="en-US" sz="900" dirty="0">
                <a:solidFill>
                  <a:srgbClr val="5B6478"/>
                </a:solidFill>
                <a:latin typeface="Calibri" pitchFamily="34" charset="0"/>
                <a:ea typeface="Calibri" pitchFamily="34" charset="-122"/>
                <a:cs typeface="Calibri" pitchFamily="34" charset="-120"/>
              </a:rPr>
              <a:t>6/26</a:t>
            </a:r>
            <a:endParaRPr lang="en-US" sz="900" dirty="0"/>
          </a:p>
        </p:txBody>
      </p:sp>
      <p:sp>
        <p:nvSpPr>
          <p:cNvPr id="26" name="Shape 24"/>
          <p:cNvSpPr/>
          <p:nvPr/>
        </p:nvSpPr>
        <p:spPr>
          <a:xfrm>
            <a:off x="595503" y="6459093"/>
            <a:ext cx="89154" cy="89154"/>
          </a:xfrm>
          <a:prstGeom prst="ellipse">
            <a:avLst/>
          </a:prstGeom>
          <a:solidFill>
            <a:srgbClr val="285AB4"/>
          </a:solidFill>
          <a:ln/>
        </p:spPr>
      </p:sp>
      <p:sp>
        <p:nvSpPr>
          <p:cNvPr id="27" name="Shape 25"/>
          <p:cNvSpPr/>
          <p:nvPr/>
        </p:nvSpPr>
        <p:spPr>
          <a:xfrm>
            <a:off x="829818" y="6473952"/>
            <a:ext cx="59436" cy="59436"/>
          </a:xfrm>
          <a:prstGeom prst="ellipse">
            <a:avLst/>
          </a:prstGeom>
          <a:solidFill>
            <a:srgbClr val="D9DEE8"/>
          </a:solidFill>
          <a:ln/>
        </p:spPr>
      </p:sp>
      <p:sp>
        <p:nvSpPr>
          <p:cNvPr id="28" name="Shape 26"/>
          <p:cNvSpPr/>
          <p:nvPr/>
        </p:nvSpPr>
        <p:spPr>
          <a:xfrm>
            <a:off x="1049274" y="6473952"/>
            <a:ext cx="59436" cy="59436"/>
          </a:xfrm>
          <a:prstGeom prst="ellipse">
            <a:avLst/>
          </a:prstGeom>
          <a:solidFill>
            <a:srgbClr val="D9DEE8"/>
          </a:solidFill>
          <a:ln/>
        </p:spPr>
      </p:sp>
      <p:sp>
        <p:nvSpPr>
          <p:cNvPr id="29" name="Shape 27"/>
          <p:cNvSpPr/>
          <p:nvPr/>
        </p:nvSpPr>
        <p:spPr>
          <a:xfrm>
            <a:off x="1268730" y="6473952"/>
            <a:ext cx="59436" cy="59436"/>
          </a:xfrm>
          <a:prstGeom prst="ellipse">
            <a:avLst/>
          </a:prstGeom>
          <a:solidFill>
            <a:srgbClr val="D9DEE8"/>
          </a:solidFill>
          <a:ln/>
        </p:spPr>
      </p:sp>
      <p:sp>
        <p:nvSpPr>
          <p:cNvPr id="30" name="Text 28"/>
          <p:cNvSpPr txBox="1"/>
          <p:nvPr/>
        </p:nvSpPr>
        <p:spPr>
          <a:xfrm>
            <a:off x="1563624" y="6391656"/>
            <a:ext cx="3291840" cy="274320"/>
          </a:xfrm>
          <a:prstGeom prst="rect">
            <a:avLst/>
          </a:prstGeom>
          <a:noFill/>
          <a:ln/>
        </p:spPr>
        <p:txBody>
          <a:bodyPr wrap="square" lIns="0" tIns="0" rIns="0" bIns="0" rtlCol="0" anchor="ctr"/>
          <a:lstStyle/>
          <a:p>
            <a:pPr marL="0" indent="0">
              <a:buNone/>
            </a:pPr>
            <a:r>
              <a:rPr lang="en-US" sz="850" kern="0" spc="50" dirty="0">
                <a:solidFill>
                  <a:srgbClr val="5B6478"/>
                </a:solidFill>
                <a:latin typeface="Calibri" pitchFamily="34" charset="0"/>
                <a:ea typeface="Calibri" pitchFamily="34" charset="-122"/>
                <a:cs typeface="Calibri" pitchFamily="34" charset="-120"/>
              </a:rPr>
              <a:t>MOTIVATION &amp; MATH</a:t>
            </a:r>
            <a:endParaRPr lang="en-US" sz="8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txBox="1"/>
          <p:nvPr/>
        </p:nvSpPr>
        <p:spPr>
          <a:xfrm>
            <a:off x="640080" y="457200"/>
            <a:ext cx="9144000" cy="320040"/>
          </a:xfrm>
          <a:prstGeom prst="rect">
            <a:avLst/>
          </a:prstGeom>
          <a:noFill/>
          <a:ln/>
        </p:spPr>
        <p:txBody>
          <a:bodyPr wrap="square" lIns="0" tIns="0" rIns="0" bIns="0" rtlCol="0" anchor="ctr"/>
          <a:lstStyle/>
          <a:p>
            <a:pPr marL="0" indent="0">
              <a:buNone/>
            </a:pPr>
            <a:r>
              <a:rPr lang="en-US" sz="1300" b="1" kern="0" spc="100" dirty="0">
                <a:solidFill>
                  <a:srgbClr val="285AB4"/>
                </a:solidFill>
                <a:latin typeface="Calibri" pitchFamily="34" charset="0"/>
                <a:ea typeface="Calibri" pitchFamily="34" charset="-122"/>
                <a:cs typeface="Calibri" pitchFamily="34" charset="-120"/>
              </a:rPr>
              <a:t>BACKPROPAGATION</a:t>
            </a:r>
            <a:endParaRPr lang="en-US" sz="1300" dirty="0"/>
          </a:p>
        </p:txBody>
      </p:sp>
      <p:sp>
        <p:nvSpPr>
          <p:cNvPr id="3" name="Text 1"/>
          <p:cNvSpPr txBox="1"/>
          <p:nvPr/>
        </p:nvSpPr>
        <p:spPr>
          <a:xfrm>
            <a:off x="640080" y="749808"/>
            <a:ext cx="10911535" cy="822960"/>
          </a:xfrm>
          <a:prstGeom prst="rect">
            <a:avLst/>
          </a:prstGeom>
          <a:noFill/>
          <a:ln/>
        </p:spPr>
        <p:txBody>
          <a:bodyPr wrap="square" lIns="0" tIns="0" rIns="0" bIns="0" rtlCol="0" anchor="t"/>
          <a:lstStyle/>
          <a:p>
            <a:pPr marL="0" indent="0">
              <a:buNone/>
            </a:pPr>
            <a:r>
              <a:rPr lang="en-US" sz="2900" b="1" dirty="0">
                <a:solidFill>
                  <a:srgbClr val="1A2238"/>
                </a:solidFill>
                <a:latin typeface="Cambria" pitchFamily="34" charset="0"/>
                <a:ea typeface="Cambria" pitchFamily="34" charset="-122"/>
                <a:cs typeface="Cambria" pitchFamily="34" charset="-120"/>
              </a:rPr>
              <a:t>Multi-layer Backpropagation</a:t>
            </a:r>
            <a:endParaRPr lang="en-US" sz="2900" dirty="0"/>
          </a:p>
        </p:txBody>
      </p:sp>
      <p:sp>
        <p:nvSpPr>
          <p:cNvPr id="4" name="Shape 2"/>
          <p:cNvSpPr/>
          <p:nvPr/>
        </p:nvSpPr>
        <p:spPr>
          <a:xfrm>
            <a:off x="914400" y="1691640"/>
            <a:ext cx="1371600" cy="384048"/>
          </a:xfrm>
          <a:prstGeom prst="roundRect">
            <a:avLst>
              <a:gd name="adj" fmla="val 14286"/>
            </a:avLst>
          </a:prstGeom>
          <a:solidFill>
            <a:srgbClr val="F1F4F9"/>
          </a:solidFill>
          <a:ln w="15875">
            <a:solidFill>
              <a:srgbClr val="D9DEE8"/>
            </a:solidFill>
            <a:prstDash val="solid"/>
          </a:ln>
        </p:spPr>
      </p:sp>
      <p:sp>
        <p:nvSpPr>
          <p:cNvPr id="5" name="Text 3"/>
          <p:cNvSpPr txBox="1"/>
          <p:nvPr/>
        </p:nvSpPr>
        <p:spPr>
          <a:xfrm>
            <a:off x="914400" y="1691640"/>
            <a:ext cx="1371600" cy="384048"/>
          </a:xfrm>
          <a:prstGeom prst="rect">
            <a:avLst/>
          </a:prstGeom>
          <a:noFill/>
          <a:ln/>
        </p:spPr>
        <p:txBody>
          <a:bodyPr wrap="square" lIns="0" tIns="0" rIns="0" bIns="0" rtlCol="0" anchor="ctr"/>
          <a:lstStyle/>
          <a:p>
            <a:pPr marL="0" indent="0" algn="ctr">
              <a:buNone/>
            </a:pPr>
            <a:r>
              <a:rPr lang="en-US" sz="1250" dirty="0">
                <a:solidFill>
                  <a:srgbClr val="1A2238"/>
                </a:solidFill>
                <a:latin typeface="Cambria Math" pitchFamily="34" charset="0"/>
                <a:ea typeface="Cambria Math" pitchFamily="34" charset="-122"/>
                <a:cs typeface="Cambria Math" pitchFamily="34" charset="-120"/>
              </a:rPr>
              <a:t>x</a:t>
            </a:r>
            <a:endParaRPr lang="en-US" sz="1250" dirty="0"/>
          </a:p>
        </p:txBody>
      </p:sp>
      <p:sp>
        <p:nvSpPr>
          <p:cNvPr id="6" name="Shape 4"/>
          <p:cNvSpPr/>
          <p:nvPr/>
        </p:nvSpPr>
        <p:spPr>
          <a:xfrm>
            <a:off x="1600200" y="2075688"/>
            <a:ext cx="0" cy="164592"/>
          </a:xfrm>
          <a:prstGeom prst="line">
            <a:avLst/>
          </a:prstGeom>
          <a:noFill/>
          <a:ln w="22860">
            <a:solidFill>
              <a:srgbClr val="285AB4"/>
            </a:solidFill>
            <a:prstDash val="solid"/>
            <a:tailEnd type="triangle"/>
          </a:ln>
        </p:spPr>
      </p:sp>
      <p:sp>
        <p:nvSpPr>
          <p:cNvPr id="7" name="Shape 5"/>
          <p:cNvSpPr/>
          <p:nvPr/>
        </p:nvSpPr>
        <p:spPr>
          <a:xfrm>
            <a:off x="914400" y="2240280"/>
            <a:ext cx="1371600" cy="384048"/>
          </a:xfrm>
          <a:prstGeom prst="roundRect">
            <a:avLst>
              <a:gd name="adj" fmla="val 14286"/>
            </a:avLst>
          </a:prstGeom>
          <a:solidFill>
            <a:srgbClr val="F1F4F9"/>
          </a:solidFill>
          <a:ln w="15875">
            <a:solidFill>
              <a:srgbClr val="D9DEE8"/>
            </a:solidFill>
            <a:prstDash val="solid"/>
          </a:ln>
        </p:spPr>
      </p:sp>
      <p:sp>
        <p:nvSpPr>
          <p:cNvPr id="8" name="Text 6"/>
          <p:cNvSpPr txBox="1"/>
          <p:nvPr/>
        </p:nvSpPr>
        <p:spPr>
          <a:xfrm>
            <a:off x="914400" y="2240280"/>
            <a:ext cx="1371600" cy="384048"/>
          </a:xfrm>
          <a:prstGeom prst="rect">
            <a:avLst/>
          </a:prstGeom>
          <a:noFill/>
          <a:ln/>
        </p:spPr>
        <p:txBody>
          <a:bodyPr wrap="square" lIns="0" tIns="0" rIns="0" bIns="0" rtlCol="0" anchor="ctr"/>
          <a:lstStyle/>
          <a:p>
            <a:pPr marL="0" indent="0" algn="ctr">
              <a:buNone/>
            </a:pPr>
            <a:r>
              <a:rPr lang="en-US" sz="1250" dirty="0">
                <a:solidFill>
                  <a:srgbClr val="1A2238"/>
                </a:solidFill>
                <a:latin typeface="Cambria Math" pitchFamily="34" charset="0"/>
                <a:ea typeface="Cambria Math" pitchFamily="34" charset="-122"/>
                <a:cs typeface="Cambria Math" pitchFamily="34" charset="-120"/>
              </a:rPr>
              <a:t>W₁</a:t>
            </a:r>
            <a:endParaRPr lang="en-US" sz="1250" dirty="0"/>
          </a:p>
        </p:txBody>
      </p:sp>
      <p:sp>
        <p:nvSpPr>
          <p:cNvPr id="9" name="Shape 7"/>
          <p:cNvSpPr/>
          <p:nvPr/>
        </p:nvSpPr>
        <p:spPr>
          <a:xfrm>
            <a:off x="1600200" y="2624328"/>
            <a:ext cx="0" cy="164592"/>
          </a:xfrm>
          <a:prstGeom prst="line">
            <a:avLst/>
          </a:prstGeom>
          <a:noFill/>
          <a:ln w="22860">
            <a:solidFill>
              <a:srgbClr val="285AB4"/>
            </a:solidFill>
            <a:prstDash val="solid"/>
            <a:tailEnd type="triangle"/>
          </a:ln>
        </p:spPr>
      </p:sp>
      <p:sp>
        <p:nvSpPr>
          <p:cNvPr id="10" name="Shape 8"/>
          <p:cNvSpPr/>
          <p:nvPr/>
        </p:nvSpPr>
        <p:spPr>
          <a:xfrm>
            <a:off x="914400" y="2788920"/>
            <a:ext cx="1371600" cy="384048"/>
          </a:xfrm>
          <a:prstGeom prst="roundRect">
            <a:avLst>
              <a:gd name="adj" fmla="val 14286"/>
            </a:avLst>
          </a:prstGeom>
          <a:solidFill>
            <a:srgbClr val="F1F4F9"/>
          </a:solidFill>
          <a:ln w="15875">
            <a:solidFill>
              <a:srgbClr val="D9DEE8"/>
            </a:solidFill>
            <a:prstDash val="solid"/>
          </a:ln>
        </p:spPr>
      </p:sp>
      <p:sp>
        <p:nvSpPr>
          <p:cNvPr id="11" name="Text 9"/>
          <p:cNvSpPr txBox="1"/>
          <p:nvPr/>
        </p:nvSpPr>
        <p:spPr>
          <a:xfrm>
            <a:off x="914400" y="2788920"/>
            <a:ext cx="1371600" cy="384048"/>
          </a:xfrm>
          <a:prstGeom prst="rect">
            <a:avLst/>
          </a:prstGeom>
          <a:noFill/>
          <a:ln/>
        </p:spPr>
        <p:txBody>
          <a:bodyPr wrap="square" lIns="0" tIns="0" rIns="0" bIns="0" rtlCol="0" anchor="ctr"/>
          <a:lstStyle/>
          <a:p>
            <a:pPr marL="0" indent="0" algn="ctr">
              <a:buNone/>
            </a:pPr>
            <a:r>
              <a:rPr lang="en-US" sz="1250" dirty="0">
                <a:solidFill>
                  <a:srgbClr val="1A2238"/>
                </a:solidFill>
                <a:latin typeface="Cambria Math" pitchFamily="34" charset="0"/>
                <a:ea typeface="Cambria Math" pitchFamily="34" charset="-122"/>
                <a:cs typeface="Cambria Math" pitchFamily="34" charset="-120"/>
              </a:rPr>
              <a:t>h₁</a:t>
            </a:r>
            <a:endParaRPr lang="en-US" sz="1250" dirty="0"/>
          </a:p>
        </p:txBody>
      </p:sp>
      <p:sp>
        <p:nvSpPr>
          <p:cNvPr id="12" name="Shape 10"/>
          <p:cNvSpPr/>
          <p:nvPr/>
        </p:nvSpPr>
        <p:spPr>
          <a:xfrm>
            <a:off x="1600200" y="3172968"/>
            <a:ext cx="0" cy="164592"/>
          </a:xfrm>
          <a:prstGeom prst="line">
            <a:avLst/>
          </a:prstGeom>
          <a:noFill/>
          <a:ln w="22860">
            <a:solidFill>
              <a:srgbClr val="285AB4"/>
            </a:solidFill>
            <a:prstDash val="solid"/>
            <a:tailEnd type="triangle"/>
          </a:ln>
        </p:spPr>
      </p:sp>
      <p:sp>
        <p:nvSpPr>
          <p:cNvPr id="13" name="Shape 11"/>
          <p:cNvSpPr/>
          <p:nvPr/>
        </p:nvSpPr>
        <p:spPr>
          <a:xfrm>
            <a:off x="914400" y="3337560"/>
            <a:ext cx="1371600" cy="384048"/>
          </a:xfrm>
          <a:prstGeom prst="roundRect">
            <a:avLst>
              <a:gd name="adj" fmla="val 14286"/>
            </a:avLst>
          </a:prstGeom>
          <a:solidFill>
            <a:srgbClr val="F1F4F9"/>
          </a:solidFill>
          <a:ln w="15875">
            <a:solidFill>
              <a:srgbClr val="D9DEE8"/>
            </a:solidFill>
            <a:prstDash val="solid"/>
          </a:ln>
        </p:spPr>
      </p:sp>
      <p:sp>
        <p:nvSpPr>
          <p:cNvPr id="14" name="Text 12"/>
          <p:cNvSpPr txBox="1"/>
          <p:nvPr/>
        </p:nvSpPr>
        <p:spPr>
          <a:xfrm>
            <a:off x="914400" y="3337560"/>
            <a:ext cx="1371600" cy="384048"/>
          </a:xfrm>
          <a:prstGeom prst="rect">
            <a:avLst/>
          </a:prstGeom>
          <a:noFill/>
          <a:ln/>
        </p:spPr>
        <p:txBody>
          <a:bodyPr wrap="square" lIns="0" tIns="0" rIns="0" bIns="0" rtlCol="0" anchor="ctr"/>
          <a:lstStyle/>
          <a:p>
            <a:pPr marL="0" indent="0" algn="ctr">
              <a:buNone/>
            </a:pPr>
            <a:r>
              <a:rPr lang="en-US" sz="1250" dirty="0">
                <a:solidFill>
                  <a:srgbClr val="1A2238"/>
                </a:solidFill>
                <a:latin typeface="Cambria Math" pitchFamily="34" charset="0"/>
                <a:ea typeface="Cambria Math" pitchFamily="34" charset="-122"/>
                <a:cs typeface="Cambria Math" pitchFamily="34" charset="-120"/>
              </a:rPr>
              <a:t>W₂</a:t>
            </a:r>
            <a:endParaRPr lang="en-US" sz="1250" dirty="0"/>
          </a:p>
        </p:txBody>
      </p:sp>
      <p:sp>
        <p:nvSpPr>
          <p:cNvPr id="15" name="Shape 13"/>
          <p:cNvSpPr/>
          <p:nvPr/>
        </p:nvSpPr>
        <p:spPr>
          <a:xfrm>
            <a:off x="1600200" y="3721608"/>
            <a:ext cx="0" cy="164592"/>
          </a:xfrm>
          <a:prstGeom prst="line">
            <a:avLst/>
          </a:prstGeom>
          <a:noFill/>
          <a:ln w="22860">
            <a:solidFill>
              <a:srgbClr val="285AB4"/>
            </a:solidFill>
            <a:prstDash val="solid"/>
            <a:tailEnd type="triangle"/>
          </a:ln>
        </p:spPr>
      </p:sp>
      <p:sp>
        <p:nvSpPr>
          <p:cNvPr id="16" name="Shape 14"/>
          <p:cNvSpPr/>
          <p:nvPr/>
        </p:nvSpPr>
        <p:spPr>
          <a:xfrm>
            <a:off x="914400" y="3886200"/>
            <a:ext cx="1371600" cy="384048"/>
          </a:xfrm>
          <a:prstGeom prst="roundRect">
            <a:avLst>
              <a:gd name="adj" fmla="val 14286"/>
            </a:avLst>
          </a:prstGeom>
          <a:solidFill>
            <a:srgbClr val="F1F4F9"/>
          </a:solidFill>
          <a:ln w="15875">
            <a:solidFill>
              <a:srgbClr val="D9DEE8"/>
            </a:solidFill>
            <a:prstDash val="solid"/>
          </a:ln>
        </p:spPr>
      </p:sp>
      <p:sp>
        <p:nvSpPr>
          <p:cNvPr id="17" name="Text 15"/>
          <p:cNvSpPr txBox="1"/>
          <p:nvPr/>
        </p:nvSpPr>
        <p:spPr>
          <a:xfrm>
            <a:off x="914400" y="3886200"/>
            <a:ext cx="1371600" cy="384048"/>
          </a:xfrm>
          <a:prstGeom prst="rect">
            <a:avLst/>
          </a:prstGeom>
          <a:noFill/>
          <a:ln/>
        </p:spPr>
        <p:txBody>
          <a:bodyPr wrap="square" lIns="0" tIns="0" rIns="0" bIns="0" rtlCol="0" anchor="ctr"/>
          <a:lstStyle/>
          <a:p>
            <a:pPr marL="0" indent="0" algn="ctr">
              <a:buNone/>
            </a:pPr>
            <a:r>
              <a:rPr lang="en-US" sz="1250" dirty="0">
                <a:solidFill>
                  <a:srgbClr val="1A2238"/>
                </a:solidFill>
                <a:latin typeface="Cambria Math" pitchFamily="34" charset="0"/>
                <a:ea typeface="Cambria Math" pitchFamily="34" charset="-122"/>
                <a:cs typeface="Cambria Math" pitchFamily="34" charset="-120"/>
              </a:rPr>
              <a:t>h₂</a:t>
            </a:r>
            <a:endParaRPr lang="en-US" sz="1250" dirty="0"/>
          </a:p>
        </p:txBody>
      </p:sp>
      <p:sp>
        <p:nvSpPr>
          <p:cNvPr id="18" name="Shape 16"/>
          <p:cNvSpPr/>
          <p:nvPr/>
        </p:nvSpPr>
        <p:spPr>
          <a:xfrm>
            <a:off x="1600200" y="4270248"/>
            <a:ext cx="0" cy="164592"/>
          </a:xfrm>
          <a:prstGeom prst="line">
            <a:avLst/>
          </a:prstGeom>
          <a:noFill/>
          <a:ln w="22860">
            <a:solidFill>
              <a:srgbClr val="285AB4"/>
            </a:solidFill>
            <a:prstDash val="solid"/>
            <a:tailEnd type="triangle"/>
          </a:ln>
        </p:spPr>
      </p:sp>
      <p:sp>
        <p:nvSpPr>
          <p:cNvPr id="19" name="Shape 17"/>
          <p:cNvSpPr/>
          <p:nvPr/>
        </p:nvSpPr>
        <p:spPr>
          <a:xfrm>
            <a:off x="914400" y="4434840"/>
            <a:ext cx="1371600" cy="384048"/>
          </a:xfrm>
          <a:prstGeom prst="roundRect">
            <a:avLst>
              <a:gd name="adj" fmla="val 14286"/>
            </a:avLst>
          </a:prstGeom>
          <a:solidFill>
            <a:srgbClr val="F1F4F9"/>
          </a:solidFill>
          <a:ln w="15875">
            <a:solidFill>
              <a:srgbClr val="D9DEE8"/>
            </a:solidFill>
            <a:prstDash val="solid"/>
          </a:ln>
        </p:spPr>
      </p:sp>
      <p:sp>
        <p:nvSpPr>
          <p:cNvPr id="20" name="Text 18"/>
          <p:cNvSpPr txBox="1"/>
          <p:nvPr/>
        </p:nvSpPr>
        <p:spPr>
          <a:xfrm>
            <a:off x="914400" y="4434840"/>
            <a:ext cx="1371600" cy="384048"/>
          </a:xfrm>
          <a:prstGeom prst="rect">
            <a:avLst/>
          </a:prstGeom>
          <a:noFill/>
          <a:ln/>
        </p:spPr>
        <p:txBody>
          <a:bodyPr wrap="square" lIns="0" tIns="0" rIns="0" bIns="0" rtlCol="0" anchor="ctr"/>
          <a:lstStyle/>
          <a:p>
            <a:pPr marL="0" indent="0" algn="ctr">
              <a:buNone/>
            </a:pPr>
            <a:r>
              <a:rPr lang="en-US" sz="1250" dirty="0">
                <a:solidFill>
                  <a:srgbClr val="1A2238"/>
                </a:solidFill>
                <a:latin typeface="Cambria Math" pitchFamily="34" charset="0"/>
                <a:ea typeface="Cambria Math" pitchFamily="34" charset="-122"/>
                <a:cs typeface="Cambria Math" pitchFamily="34" charset="-120"/>
              </a:rPr>
              <a:t>W₃</a:t>
            </a:r>
            <a:endParaRPr lang="en-US" sz="1250" dirty="0"/>
          </a:p>
        </p:txBody>
      </p:sp>
      <p:sp>
        <p:nvSpPr>
          <p:cNvPr id="21" name="Shape 19"/>
          <p:cNvSpPr/>
          <p:nvPr/>
        </p:nvSpPr>
        <p:spPr>
          <a:xfrm>
            <a:off x="1600200" y="4818888"/>
            <a:ext cx="0" cy="164592"/>
          </a:xfrm>
          <a:prstGeom prst="line">
            <a:avLst/>
          </a:prstGeom>
          <a:noFill/>
          <a:ln w="22860">
            <a:solidFill>
              <a:srgbClr val="285AB4"/>
            </a:solidFill>
            <a:prstDash val="solid"/>
            <a:tailEnd type="triangle"/>
          </a:ln>
        </p:spPr>
      </p:sp>
      <p:sp>
        <p:nvSpPr>
          <p:cNvPr id="22" name="Shape 20"/>
          <p:cNvSpPr/>
          <p:nvPr/>
        </p:nvSpPr>
        <p:spPr>
          <a:xfrm>
            <a:off x="914400" y="4983480"/>
            <a:ext cx="1371600" cy="384048"/>
          </a:xfrm>
          <a:prstGeom prst="roundRect">
            <a:avLst>
              <a:gd name="adj" fmla="val 14286"/>
            </a:avLst>
          </a:prstGeom>
          <a:solidFill>
            <a:srgbClr val="F1F4F9"/>
          </a:solidFill>
          <a:ln w="15875">
            <a:solidFill>
              <a:srgbClr val="D9DEE8"/>
            </a:solidFill>
            <a:prstDash val="solid"/>
          </a:ln>
        </p:spPr>
      </p:sp>
      <p:sp>
        <p:nvSpPr>
          <p:cNvPr id="23" name="Text 21"/>
          <p:cNvSpPr txBox="1"/>
          <p:nvPr/>
        </p:nvSpPr>
        <p:spPr>
          <a:xfrm>
            <a:off x="914400" y="4983480"/>
            <a:ext cx="1371600" cy="384048"/>
          </a:xfrm>
          <a:prstGeom prst="rect">
            <a:avLst/>
          </a:prstGeom>
          <a:noFill/>
          <a:ln/>
        </p:spPr>
        <p:txBody>
          <a:bodyPr wrap="square" lIns="0" tIns="0" rIns="0" bIns="0" rtlCol="0" anchor="ctr"/>
          <a:lstStyle/>
          <a:p>
            <a:pPr marL="0" indent="0" algn="ctr">
              <a:buNone/>
            </a:pPr>
            <a:r>
              <a:rPr lang="en-US" sz="1250" dirty="0">
                <a:solidFill>
                  <a:srgbClr val="1A2238"/>
                </a:solidFill>
                <a:latin typeface="Cambria Math" pitchFamily="34" charset="0"/>
                <a:ea typeface="Cambria Math" pitchFamily="34" charset="-122"/>
                <a:cs typeface="Cambria Math" pitchFamily="34" charset="-120"/>
              </a:rPr>
              <a:t>ŷ</a:t>
            </a:r>
            <a:endParaRPr lang="en-US" sz="1250" dirty="0"/>
          </a:p>
        </p:txBody>
      </p:sp>
      <p:sp>
        <p:nvSpPr>
          <p:cNvPr id="24" name="Shape 22"/>
          <p:cNvSpPr/>
          <p:nvPr/>
        </p:nvSpPr>
        <p:spPr>
          <a:xfrm>
            <a:off x="1600200" y="5367528"/>
            <a:ext cx="0" cy="164592"/>
          </a:xfrm>
          <a:prstGeom prst="line">
            <a:avLst/>
          </a:prstGeom>
          <a:noFill/>
          <a:ln w="22860">
            <a:solidFill>
              <a:srgbClr val="285AB4"/>
            </a:solidFill>
            <a:prstDash val="solid"/>
            <a:tailEnd type="triangle"/>
          </a:ln>
        </p:spPr>
      </p:sp>
      <p:sp>
        <p:nvSpPr>
          <p:cNvPr id="25" name="Shape 23"/>
          <p:cNvSpPr/>
          <p:nvPr/>
        </p:nvSpPr>
        <p:spPr>
          <a:xfrm>
            <a:off x="914400" y="5532120"/>
            <a:ext cx="1371600" cy="384048"/>
          </a:xfrm>
          <a:prstGeom prst="roundRect">
            <a:avLst>
              <a:gd name="adj" fmla="val 14286"/>
            </a:avLst>
          </a:prstGeom>
          <a:solidFill>
            <a:srgbClr val="FBEEEC"/>
          </a:solidFill>
          <a:ln w="15875">
            <a:solidFill>
              <a:srgbClr val="BE3C32"/>
            </a:solidFill>
            <a:prstDash val="solid"/>
          </a:ln>
        </p:spPr>
      </p:sp>
      <p:sp>
        <p:nvSpPr>
          <p:cNvPr id="26" name="Text 24"/>
          <p:cNvSpPr txBox="1"/>
          <p:nvPr/>
        </p:nvSpPr>
        <p:spPr>
          <a:xfrm>
            <a:off x="914400" y="5532120"/>
            <a:ext cx="1371600" cy="384048"/>
          </a:xfrm>
          <a:prstGeom prst="rect">
            <a:avLst/>
          </a:prstGeom>
          <a:noFill/>
          <a:ln/>
        </p:spPr>
        <p:txBody>
          <a:bodyPr wrap="square" lIns="0" tIns="0" rIns="0" bIns="0" rtlCol="0" anchor="ctr"/>
          <a:lstStyle/>
          <a:p>
            <a:pPr marL="0" indent="0" algn="ctr">
              <a:buNone/>
            </a:pPr>
            <a:r>
              <a:rPr lang="en-US" sz="1250" dirty="0">
                <a:solidFill>
                  <a:srgbClr val="1A2238"/>
                </a:solidFill>
                <a:latin typeface="Cambria Math" pitchFamily="34" charset="0"/>
                <a:ea typeface="Cambria Math" pitchFamily="34" charset="-122"/>
                <a:cs typeface="Cambria Math" pitchFamily="34" charset="-120"/>
              </a:rPr>
              <a:t>Loss</a:t>
            </a:r>
            <a:endParaRPr lang="en-US" sz="1250" dirty="0"/>
          </a:p>
        </p:txBody>
      </p:sp>
      <p:sp>
        <p:nvSpPr>
          <p:cNvPr id="27" name="Shape 25"/>
          <p:cNvSpPr/>
          <p:nvPr/>
        </p:nvSpPr>
        <p:spPr>
          <a:xfrm>
            <a:off x="3931920" y="1691640"/>
            <a:ext cx="1645920" cy="384048"/>
          </a:xfrm>
          <a:prstGeom prst="roundRect">
            <a:avLst>
              <a:gd name="adj" fmla="val 14286"/>
            </a:avLst>
          </a:prstGeom>
          <a:solidFill>
            <a:srgbClr val="FBEEEC"/>
          </a:solidFill>
          <a:ln w="15875">
            <a:solidFill>
              <a:srgbClr val="BE3C32"/>
            </a:solidFill>
            <a:prstDash val="solid"/>
          </a:ln>
        </p:spPr>
      </p:sp>
      <p:sp>
        <p:nvSpPr>
          <p:cNvPr id="28" name="Text 26"/>
          <p:cNvSpPr txBox="1"/>
          <p:nvPr/>
        </p:nvSpPr>
        <p:spPr>
          <a:xfrm>
            <a:off x="3931920" y="1691640"/>
            <a:ext cx="1645920" cy="384048"/>
          </a:xfrm>
          <a:prstGeom prst="rect">
            <a:avLst/>
          </a:prstGeom>
          <a:noFill/>
          <a:ln/>
        </p:spPr>
        <p:txBody>
          <a:bodyPr wrap="square" lIns="0" tIns="0" rIns="0" bIns="0" rtlCol="0" anchor="ctr"/>
          <a:lstStyle/>
          <a:p>
            <a:pPr marL="0" indent="0" algn="ctr">
              <a:buNone/>
            </a:pPr>
            <a:r>
              <a:rPr lang="en-US" sz="1250" dirty="0">
                <a:solidFill>
                  <a:srgbClr val="1A2238"/>
                </a:solidFill>
                <a:latin typeface="Cambria Math" pitchFamily="34" charset="0"/>
                <a:ea typeface="Cambria Math" pitchFamily="34" charset="-122"/>
                <a:cs typeface="Cambria Math" pitchFamily="34" charset="-120"/>
              </a:rPr>
              <a:t>Loss</a:t>
            </a:r>
            <a:endParaRPr lang="en-US" sz="1250" dirty="0"/>
          </a:p>
        </p:txBody>
      </p:sp>
      <p:sp>
        <p:nvSpPr>
          <p:cNvPr id="29" name="Shape 27"/>
          <p:cNvSpPr/>
          <p:nvPr/>
        </p:nvSpPr>
        <p:spPr>
          <a:xfrm>
            <a:off x="4754880" y="2075688"/>
            <a:ext cx="0" cy="896112"/>
          </a:xfrm>
          <a:prstGeom prst="line">
            <a:avLst/>
          </a:prstGeom>
          <a:noFill/>
          <a:ln w="22860">
            <a:solidFill>
              <a:srgbClr val="BE3C32"/>
            </a:solidFill>
            <a:prstDash val="solid"/>
            <a:tailEnd type="triangle"/>
          </a:ln>
        </p:spPr>
      </p:sp>
      <p:sp>
        <p:nvSpPr>
          <p:cNvPr id="30" name="Shape 28"/>
          <p:cNvSpPr/>
          <p:nvPr/>
        </p:nvSpPr>
        <p:spPr>
          <a:xfrm>
            <a:off x="3931920" y="2971800"/>
            <a:ext cx="1645920" cy="384048"/>
          </a:xfrm>
          <a:prstGeom prst="roundRect">
            <a:avLst>
              <a:gd name="adj" fmla="val 14286"/>
            </a:avLst>
          </a:prstGeom>
          <a:solidFill>
            <a:srgbClr val="EAF0FB"/>
          </a:solidFill>
          <a:ln w="15875">
            <a:solidFill>
              <a:srgbClr val="285AB4"/>
            </a:solidFill>
            <a:prstDash val="solid"/>
          </a:ln>
        </p:spPr>
      </p:sp>
      <p:sp>
        <p:nvSpPr>
          <p:cNvPr id="31" name="Text 29"/>
          <p:cNvSpPr txBox="1"/>
          <p:nvPr/>
        </p:nvSpPr>
        <p:spPr>
          <a:xfrm>
            <a:off x="3931920" y="2971800"/>
            <a:ext cx="1645920" cy="384048"/>
          </a:xfrm>
          <a:prstGeom prst="rect">
            <a:avLst/>
          </a:prstGeom>
          <a:noFill/>
          <a:ln/>
        </p:spPr>
        <p:txBody>
          <a:bodyPr wrap="square" lIns="0" tIns="0" rIns="0" bIns="0" rtlCol="0" anchor="ctr"/>
          <a:lstStyle/>
          <a:p>
            <a:pPr marL="0" indent="0" algn="ctr">
              <a:buNone/>
            </a:pPr>
            <a:r>
              <a:rPr lang="en-US" sz="1250" dirty="0">
                <a:solidFill>
                  <a:srgbClr val="1A2238"/>
                </a:solidFill>
                <a:latin typeface="Cambria Math" pitchFamily="34" charset="0"/>
                <a:ea typeface="Cambria Math" pitchFamily="34" charset="-122"/>
                <a:cs typeface="Cambria Math" pitchFamily="34" charset="-120"/>
              </a:rPr>
              <a:t>∇W₃</a:t>
            </a:r>
            <a:endParaRPr lang="en-US" sz="1250" dirty="0"/>
          </a:p>
        </p:txBody>
      </p:sp>
      <p:sp>
        <p:nvSpPr>
          <p:cNvPr id="32" name="Shape 30"/>
          <p:cNvSpPr/>
          <p:nvPr/>
        </p:nvSpPr>
        <p:spPr>
          <a:xfrm>
            <a:off x="4754880" y="3355848"/>
            <a:ext cx="0" cy="896112"/>
          </a:xfrm>
          <a:prstGeom prst="line">
            <a:avLst/>
          </a:prstGeom>
          <a:noFill/>
          <a:ln w="22860">
            <a:solidFill>
              <a:srgbClr val="BE3C32"/>
            </a:solidFill>
            <a:prstDash val="solid"/>
            <a:tailEnd type="triangle"/>
          </a:ln>
        </p:spPr>
      </p:sp>
      <p:sp>
        <p:nvSpPr>
          <p:cNvPr id="33" name="Shape 31"/>
          <p:cNvSpPr/>
          <p:nvPr/>
        </p:nvSpPr>
        <p:spPr>
          <a:xfrm>
            <a:off x="3931920" y="4251960"/>
            <a:ext cx="1645920" cy="384048"/>
          </a:xfrm>
          <a:prstGeom prst="roundRect">
            <a:avLst>
              <a:gd name="adj" fmla="val 14286"/>
            </a:avLst>
          </a:prstGeom>
          <a:solidFill>
            <a:srgbClr val="EAF0FB"/>
          </a:solidFill>
          <a:ln w="15875">
            <a:solidFill>
              <a:srgbClr val="285AB4"/>
            </a:solidFill>
            <a:prstDash val="solid"/>
          </a:ln>
        </p:spPr>
      </p:sp>
      <p:sp>
        <p:nvSpPr>
          <p:cNvPr id="34" name="Text 32"/>
          <p:cNvSpPr txBox="1"/>
          <p:nvPr/>
        </p:nvSpPr>
        <p:spPr>
          <a:xfrm>
            <a:off x="3931920" y="4251960"/>
            <a:ext cx="1645920" cy="384048"/>
          </a:xfrm>
          <a:prstGeom prst="rect">
            <a:avLst/>
          </a:prstGeom>
          <a:noFill/>
          <a:ln/>
        </p:spPr>
        <p:txBody>
          <a:bodyPr wrap="square" lIns="0" tIns="0" rIns="0" bIns="0" rtlCol="0" anchor="ctr"/>
          <a:lstStyle/>
          <a:p>
            <a:pPr marL="0" indent="0" algn="ctr">
              <a:buNone/>
            </a:pPr>
            <a:r>
              <a:rPr lang="en-US" sz="1250" dirty="0">
                <a:solidFill>
                  <a:srgbClr val="1A2238"/>
                </a:solidFill>
                <a:latin typeface="Cambria Math" pitchFamily="34" charset="0"/>
                <a:ea typeface="Cambria Math" pitchFamily="34" charset="-122"/>
                <a:cs typeface="Cambria Math" pitchFamily="34" charset="-120"/>
              </a:rPr>
              <a:t>∇W₂</a:t>
            </a:r>
            <a:endParaRPr lang="en-US" sz="1250" dirty="0"/>
          </a:p>
        </p:txBody>
      </p:sp>
      <p:sp>
        <p:nvSpPr>
          <p:cNvPr id="35" name="Shape 33"/>
          <p:cNvSpPr/>
          <p:nvPr/>
        </p:nvSpPr>
        <p:spPr>
          <a:xfrm>
            <a:off x="4754880" y="4636008"/>
            <a:ext cx="0" cy="896112"/>
          </a:xfrm>
          <a:prstGeom prst="line">
            <a:avLst/>
          </a:prstGeom>
          <a:noFill/>
          <a:ln w="22860">
            <a:solidFill>
              <a:srgbClr val="BE3C32"/>
            </a:solidFill>
            <a:prstDash val="solid"/>
            <a:tailEnd type="triangle"/>
          </a:ln>
        </p:spPr>
      </p:sp>
      <p:sp>
        <p:nvSpPr>
          <p:cNvPr id="36" name="Shape 34"/>
          <p:cNvSpPr/>
          <p:nvPr/>
        </p:nvSpPr>
        <p:spPr>
          <a:xfrm>
            <a:off x="3931920" y="5532120"/>
            <a:ext cx="1645920" cy="384048"/>
          </a:xfrm>
          <a:prstGeom prst="roundRect">
            <a:avLst>
              <a:gd name="adj" fmla="val 14286"/>
            </a:avLst>
          </a:prstGeom>
          <a:solidFill>
            <a:srgbClr val="EAF0FB"/>
          </a:solidFill>
          <a:ln w="15875">
            <a:solidFill>
              <a:srgbClr val="285AB4"/>
            </a:solidFill>
            <a:prstDash val="solid"/>
          </a:ln>
        </p:spPr>
      </p:sp>
      <p:sp>
        <p:nvSpPr>
          <p:cNvPr id="37" name="Text 35"/>
          <p:cNvSpPr txBox="1"/>
          <p:nvPr/>
        </p:nvSpPr>
        <p:spPr>
          <a:xfrm>
            <a:off x="3931920" y="5532120"/>
            <a:ext cx="1645920" cy="384048"/>
          </a:xfrm>
          <a:prstGeom prst="rect">
            <a:avLst/>
          </a:prstGeom>
          <a:noFill/>
          <a:ln/>
        </p:spPr>
        <p:txBody>
          <a:bodyPr wrap="square" lIns="0" tIns="0" rIns="0" bIns="0" rtlCol="0" anchor="ctr"/>
          <a:lstStyle/>
          <a:p>
            <a:pPr marL="0" indent="0" algn="ctr">
              <a:buNone/>
            </a:pPr>
            <a:r>
              <a:rPr lang="en-US" sz="1250" dirty="0">
                <a:solidFill>
                  <a:srgbClr val="1A2238"/>
                </a:solidFill>
                <a:latin typeface="Cambria Math" pitchFamily="34" charset="0"/>
                <a:ea typeface="Cambria Math" pitchFamily="34" charset="-122"/>
                <a:cs typeface="Cambria Math" pitchFamily="34" charset="-120"/>
              </a:rPr>
              <a:t>∇W₁</a:t>
            </a:r>
            <a:endParaRPr lang="en-US" sz="1250" dirty="0"/>
          </a:p>
        </p:txBody>
      </p:sp>
      <p:sp>
        <p:nvSpPr>
          <p:cNvPr id="38" name="Shape 36"/>
          <p:cNvSpPr/>
          <p:nvPr/>
        </p:nvSpPr>
        <p:spPr>
          <a:xfrm>
            <a:off x="6035040" y="2011680"/>
            <a:ext cx="971641" cy="822960"/>
          </a:xfrm>
          <a:prstGeom prst="roundRect">
            <a:avLst>
              <a:gd name="adj" fmla="val 6667"/>
            </a:avLst>
          </a:prstGeom>
          <a:solidFill>
            <a:srgbClr val="EAF0FB"/>
          </a:solidFill>
          <a:ln w="15875">
            <a:solidFill>
              <a:srgbClr val="285AB4"/>
            </a:solidFill>
            <a:prstDash val="solid"/>
          </a:ln>
        </p:spPr>
      </p:sp>
      <p:sp>
        <p:nvSpPr>
          <p:cNvPr id="39" name="Text 37"/>
          <p:cNvSpPr txBox="1"/>
          <p:nvPr/>
        </p:nvSpPr>
        <p:spPr>
          <a:xfrm>
            <a:off x="6035040" y="2011680"/>
            <a:ext cx="971641" cy="822960"/>
          </a:xfrm>
          <a:prstGeom prst="rect">
            <a:avLst/>
          </a:prstGeom>
          <a:noFill/>
          <a:ln/>
        </p:spPr>
        <p:txBody>
          <a:bodyPr wrap="square" lIns="0" tIns="0" rIns="0" bIns="0" rtlCol="0" anchor="ctr"/>
          <a:lstStyle/>
          <a:p>
            <a:pPr marL="0" indent="0" algn="ctr">
              <a:buNone/>
            </a:pPr>
            <a:r>
              <a:rPr lang="en-US" sz="1300" b="1" dirty="0">
                <a:solidFill>
                  <a:srgbClr val="285AB4"/>
                </a:solidFill>
                <a:latin typeface="Cambria" pitchFamily="34" charset="0"/>
                <a:ea typeface="Cambria" pitchFamily="34" charset="-122"/>
                <a:cs typeface="Cambria" pitchFamily="34" charset="-120"/>
              </a:rPr>
              <a:t>Forward</a:t>
            </a:r>
            <a:endParaRPr lang="en-US" sz="1300" dirty="0"/>
          </a:p>
        </p:txBody>
      </p:sp>
      <p:sp>
        <p:nvSpPr>
          <p:cNvPr id="40" name="Shape 38"/>
          <p:cNvSpPr/>
          <p:nvPr/>
        </p:nvSpPr>
        <p:spPr>
          <a:xfrm>
            <a:off x="7006681" y="2423160"/>
            <a:ext cx="164592" cy="0"/>
          </a:xfrm>
          <a:prstGeom prst="line">
            <a:avLst/>
          </a:prstGeom>
          <a:noFill/>
          <a:ln w="19050">
            <a:solidFill>
              <a:srgbClr val="5B6478"/>
            </a:solidFill>
            <a:prstDash val="solid"/>
            <a:tailEnd type="triangle"/>
          </a:ln>
        </p:spPr>
      </p:sp>
      <p:sp>
        <p:nvSpPr>
          <p:cNvPr id="41" name="Shape 39"/>
          <p:cNvSpPr/>
          <p:nvPr/>
        </p:nvSpPr>
        <p:spPr>
          <a:xfrm>
            <a:off x="7171273" y="2011680"/>
            <a:ext cx="971641" cy="822960"/>
          </a:xfrm>
          <a:prstGeom prst="roundRect">
            <a:avLst>
              <a:gd name="adj" fmla="val 6667"/>
            </a:avLst>
          </a:prstGeom>
          <a:solidFill>
            <a:srgbClr val="EAF0FB"/>
          </a:solidFill>
          <a:ln w="15875">
            <a:solidFill>
              <a:srgbClr val="285AB4"/>
            </a:solidFill>
            <a:prstDash val="solid"/>
          </a:ln>
        </p:spPr>
      </p:sp>
      <p:sp>
        <p:nvSpPr>
          <p:cNvPr id="42" name="Text 40"/>
          <p:cNvSpPr txBox="1"/>
          <p:nvPr/>
        </p:nvSpPr>
        <p:spPr>
          <a:xfrm>
            <a:off x="7171273" y="2011680"/>
            <a:ext cx="971641" cy="822960"/>
          </a:xfrm>
          <a:prstGeom prst="rect">
            <a:avLst/>
          </a:prstGeom>
          <a:noFill/>
          <a:ln/>
        </p:spPr>
        <p:txBody>
          <a:bodyPr wrap="square" lIns="0" tIns="0" rIns="0" bIns="0" rtlCol="0" anchor="ctr"/>
          <a:lstStyle/>
          <a:p>
            <a:pPr marL="0" indent="0" algn="ctr">
              <a:buNone/>
            </a:pPr>
            <a:r>
              <a:rPr lang="en-US" sz="1300" b="1" dirty="0">
                <a:solidFill>
                  <a:srgbClr val="285AB4"/>
                </a:solidFill>
                <a:latin typeface="Cambria" pitchFamily="34" charset="0"/>
                <a:ea typeface="Cambria" pitchFamily="34" charset="-122"/>
                <a:cs typeface="Cambria" pitchFamily="34" charset="-120"/>
              </a:rPr>
              <a:t>Loss</a:t>
            </a:r>
            <a:endParaRPr lang="en-US" sz="1300" dirty="0"/>
          </a:p>
        </p:txBody>
      </p:sp>
      <p:sp>
        <p:nvSpPr>
          <p:cNvPr id="43" name="Shape 41"/>
          <p:cNvSpPr/>
          <p:nvPr/>
        </p:nvSpPr>
        <p:spPr>
          <a:xfrm>
            <a:off x="8142915" y="2423160"/>
            <a:ext cx="164592" cy="0"/>
          </a:xfrm>
          <a:prstGeom prst="line">
            <a:avLst/>
          </a:prstGeom>
          <a:noFill/>
          <a:ln w="19050">
            <a:solidFill>
              <a:srgbClr val="5B6478"/>
            </a:solidFill>
            <a:prstDash val="solid"/>
            <a:tailEnd type="triangle"/>
          </a:ln>
        </p:spPr>
      </p:sp>
      <p:sp>
        <p:nvSpPr>
          <p:cNvPr id="44" name="Shape 42"/>
          <p:cNvSpPr/>
          <p:nvPr/>
        </p:nvSpPr>
        <p:spPr>
          <a:xfrm>
            <a:off x="8307507" y="2011680"/>
            <a:ext cx="971641" cy="822960"/>
          </a:xfrm>
          <a:prstGeom prst="roundRect">
            <a:avLst>
              <a:gd name="adj" fmla="val 6667"/>
            </a:avLst>
          </a:prstGeom>
          <a:solidFill>
            <a:srgbClr val="FBEEEC"/>
          </a:solidFill>
          <a:ln w="15875">
            <a:solidFill>
              <a:srgbClr val="BE3C32"/>
            </a:solidFill>
            <a:prstDash val="solid"/>
          </a:ln>
        </p:spPr>
      </p:sp>
      <p:sp>
        <p:nvSpPr>
          <p:cNvPr id="45" name="Text 43"/>
          <p:cNvSpPr txBox="1"/>
          <p:nvPr/>
        </p:nvSpPr>
        <p:spPr>
          <a:xfrm>
            <a:off x="8307507" y="2011680"/>
            <a:ext cx="971641" cy="822960"/>
          </a:xfrm>
          <a:prstGeom prst="rect">
            <a:avLst/>
          </a:prstGeom>
          <a:noFill/>
          <a:ln/>
        </p:spPr>
        <p:txBody>
          <a:bodyPr wrap="square" lIns="0" tIns="0" rIns="0" bIns="0" rtlCol="0" anchor="ctr"/>
          <a:lstStyle/>
          <a:p>
            <a:pPr marL="0" indent="0" algn="ctr">
              <a:buNone/>
            </a:pPr>
            <a:r>
              <a:rPr lang="en-US" sz="1300" b="1" dirty="0">
                <a:solidFill>
                  <a:srgbClr val="BE3C32"/>
                </a:solidFill>
                <a:latin typeface="Cambria" pitchFamily="34" charset="0"/>
                <a:ea typeface="Cambria" pitchFamily="34" charset="-122"/>
                <a:cs typeface="Cambria" pitchFamily="34" charset="-120"/>
              </a:rPr>
              <a:t>Backward</a:t>
            </a:r>
            <a:endParaRPr lang="en-US" sz="1300" dirty="0"/>
          </a:p>
        </p:txBody>
      </p:sp>
      <p:sp>
        <p:nvSpPr>
          <p:cNvPr id="46" name="Shape 44"/>
          <p:cNvSpPr/>
          <p:nvPr/>
        </p:nvSpPr>
        <p:spPr>
          <a:xfrm>
            <a:off x="9279148" y="2423160"/>
            <a:ext cx="164592" cy="0"/>
          </a:xfrm>
          <a:prstGeom prst="line">
            <a:avLst/>
          </a:prstGeom>
          <a:noFill/>
          <a:ln w="19050">
            <a:solidFill>
              <a:srgbClr val="5B6478"/>
            </a:solidFill>
            <a:prstDash val="solid"/>
            <a:tailEnd type="triangle"/>
          </a:ln>
        </p:spPr>
      </p:sp>
      <p:sp>
        <p:nvSpPr>
          <p:cNvPr id="47" name="Shape 45"/>
          <p:cNvSpPr/>
          <p:nvPr/>
        </p:nvSpPr>
        <p:spPr>
          <a:xfrm>
            <a:off x="9443740" y="2011680"/>
            <a:ext cx="971641" cy="822960"/>
          </a:xfrm>
          <a:prstGeom prst="roundRect">
            <a:avLst>
              <a:gd name="adj" fmla="val 6667"/>
            </a:avLst>
          </a:prstGeom>
          <a:solidFill>
            <a:srgbClr val="FBEEEC"/>
          </a:solidFill>
          <a:ln w="15875">
            <a:solidFill>
              <a:srgbClr val="BE3C32"/>
            </a:solidFill>
            <a:prstDash val="solid"/>
          </a:ln>
        </p:spPr>
      </p:sp>
      <p:sp>
        <p:nvSpPr>
          <p:cNvPr id="48" name="Text 46"/>
          <p:cNvSpPr txBox="1"/>
          <p:nvPr/>
        </p:nvSpPr>
        <p:spPr>
          <a:xfrm>
            <a:off x="9443740" y="2011680"/>
            <a:ext cx="971641" cy="822960"/>
          </a:xfrm>
          <a:prstGeom prst="rect">
            <a:avLst/>
          </a:prstGeom>
          <a:noFill/>
          <a:ln/>
        </p:spPr>
        <p:txBody>
          <a:bodyPr wrap="square" lIns="0" tIns="0" rIns="0" bIns="0" rtlCol="0" anchor="ctr"/>
          <a:lstStyle/>
          <a:p>
            <a:pPr marL="0" indent="0" algn="ctr">
              <a:buNone/>
            </a:pPr>
            <a:r>
              <a:rPr lang="en-US" sz="1300" b="1" dirty="0">
                <a:solidFill>
                  <a:srgbClr val="BE3C32"/>
                </a:solidFill>
                <a:latin typeface="Cambria" pitchFamily="34" charset="0"/>
                <a:ea typeface="Cambria" pitchFamily="34" charset="-122"/>
                <a:cs typeface="Cambria" pitchFamily="34" charset="-120"/>
              </a:rPr>
              <a:t>Gradients</a:t>
            </a:r>
            <a:endParaRPr lang="en-US" sz="1300" dirty="0"/>
          </a:p>
        </p:txBody>
      </p:sp>
      <p:sp>
        <p:nvSpPr>
          <p:cNvPr id="49" name="Shape 47"/>
          <p:cNvSpPr/>
          <p:nvPr/>
        </p:nvSpPr>
        <p:spPr>
          <a:xfrm>
            <a:off x="10415382" y="2423160"/>
            <a:ext cx="164592" cy="0"/>
          </a:xfrm>
          <a:prstGeom prst="line">
            <a:avLst/>
          </a:prstGeom>
          <a:noFill/>
          <a:ln w="19050">
            <a:solidFill>
              <a:srgbClr val="5B6478"/>
            </a:solidFill>
            <a:prstDash val="solid"/>
            <a:tailEnd type="triangle"/>
          </a:ln>
        </p:spPr>
      </p:sp>
      <p:sp>
        <p:nvSpPr>
          <p:cNvPr id="50" name="Shape 48"/>
          <p:cNvSpPr/>
          <p:nvPr/>
        </p:nvSpPr>
        <p:spPr>
          <a:xfrm>
            <a:off x="10579974" y="2011680"/>
            <a:ext cx="971641" cy="822960"/>
          </a:xfrm>
          <a:prstGeom prst="roundRect">
            <a:avLst>
              <a:gd name="adj" fmla="val 6667"/>
            </a:avLst>
          </a:prstGeom>
          <a:solidFill>
            <a:srgbClr val="FBF3E2"/>
          </a:solidFill>
          <a:ln w="15875">
            <a:solidFill>
              <a:srgbClr val="C68A2E"/>
            </a:solidFill>
            <a:prstDash val="solid"/>
          </a:ln>
        </p:spPr>
      </p:sp>
      <p:sp>
        <p:nvSpPr>
          <p:cNvPr id="51" name="Text 49"/>
          <p:cNvSpPr txBox="1"/>
          <p:nvPr/>
        </p:nvSpPr>
        <p:spPr>
          <a:xfrm>
            <a:off x="10579974" y="2011680"/>
            <a:ext cx="971641" cy="822960"/>
          </a:xfrm>
          <a:prstGeom prst="rect">
            <a:avLst/>
          </a:prstGeom>
          <a:noFill/>
          <a:ln/>
        </p:spPr>
        <p:txBody>
          <a:bodyPr wrap="square" lIns="0" tIns="0" rIns="0" bIns="0" rtlCol="0" anchor="ctr"/>
          <a:lstStyle/>
          <a:p>
            <a:pPr marL="0" indent="0" algn="ctr">
              <a:buNone/>
            </a:pPr>
            <a:r>
              <a:rPr lang="en-US" sz="1300" b="1" dirty="0">
                <a:solidFill>
                  <a:srgbClr val="C68A2E"/>
                </a:solidFill>
                <a:latin typeface="Cambria" pitchFamily="34" charset="0"/>
                <a:ea typeface="Cambria" pitchFamily="34" charset="-122"/>
                <a:cs typeface="Cambria" pitchFamily="34" charset="-120"/>
              </a:rPr>
              <a:t>Optimizer</a:t>
            </a:r>
            <a:endParaRPr lang="en-US" sz="1300" dirty="0"/>
          </a:p>
        </p:txBody>
      </p:sp>
      <p:sp>
        <p:nvSpPr>
          <p:cNvPr id="52" name="Text 50"/>
          <p:cNvSpPr txBox="1"/>
          <p:nvPr/>
        </p:nvSpPr>
        <p:spPr>
          <a:xfrm>
            <a:off x="6035040" y="3108960"/>
            <a:ext cx="5516575" cy="365760"/>
          </a:xfrm>
          <a:prstGeom prst="rect">
            <a:avLst/>
          </a:prstGeom>
          <a:noFill/>
          <a:ln/>
        </p:spPr>
        <p:txBody>
          <a:bodyPr wrap="square" lIns="0" tIns="0" rIns="0" bIns="0" rtlCol="0" anchor="ctr"/>
          <a:lstStyle/>
          <a:p>
            <a:pPr marL="0" indent="0">
              <a:buNone/>
            </a:pPr>
            <a:r>
              <a:rPr lang="en-US" sz="1600" b="1" dirty="0">
                <a:solidFill>
                  <a:srgbClr val="BE3C32"/>
                </a:solidFill>
                <a:latin typeface="Calibri" pitchFamily="34" charset="0"/>
                <a:ea typeface="Calibri" pitchFamily="34" charset="-122"/>
                <a:cs typeface="Calibri" pitchFamily="34" charset="-120"/>
              </a:rPr>
              <a:t>Backprop = tính gradient</a:t>
            </a:r>
            <a:endParaRPr lang="en-US" sz="1600" dirty="0"/>
          </a:p>
        </p:txBody>
      </p:sp>
      <p:sp>
        <p:nvSpPr>
          <p:cNvPr id="53" name="Text 51"/>
          <p:cNvSpPr txBox="1"/>
          <p:nvPr/>
        </p:nvSpPr>
        <p:spPr>
          <a:xfrm>
            <a:off x="6035040" y="3520440"/>
            <a:ext cx="5516575" cy="365760"/>
          </a:xfrm>
          <a:prstGeom prst="rect">
            <a:avLst/>
          </a:prstGeom>
          <a:noFill/>
          <a:ln/>
        </p:spPr>
        <p:txBody>
          <a:bodyPr wrap="square" lIns="0" tIns="0" rIns="0" bIns="0" rtlCol="0" anchor="ctr"/>
          <a:lstStyle/>
          <a:p>
            <a:pPr marL="0" indent="0">
              <a:buNone/>
            </a:pPr>
            <a:r>
              <a:rPr lang="en-US" sz="1600" b="1" dirty="0">
                <a:solidFill>
                  <a:srgbClr val="C68A2E"/>
                </a:solidFill>
                <a:latin typeface="Calibri" pitchFamily="34" charset="0"/>
                <a:ea typeface="Calibri" pitchFamily="34" charset="-122"/>
                <a:cs typeface="Calibri" pitchFamily="34" charset="-120"/>
              </a:rPr>
              <a:t>Gradient Descent = dùng gradient để cập nhật tham số</a:t>
            </a:r>
            <a:endParaRPr lang="en-US" sz="1600" dirty="0"/>
          </a:p>
        </p:txBody>
      </p:sp>
      <p:sp>
        <p:nvSpPr>
          <p:cNvPr id="54" name="Text 52"/>
          <p:cNvSpPr txBox="1"/>
          <p:nvPr/>
        </p:nvSpPr>
        <p:spPr>
          <a:xfrm>
            <a:off x="11185855" y="6446520"/>
            <a:ext cx="731520" cy="274320"/>
          </a:xfrm>
          <a:prstGeom prst="rect">
            <a:avLst/>
          </a:prstGeom>
          <a:noFill/>
          <a:ln/>
        </p:spPr>
        <p:txBody>
          <a:bodyPr wrap="square" lIns="0" tIns="0" rIns="0" bIns="0" rtlCol="0" anchor="ctr"/>
          <a:lstStyle/>
          <a:p>
            <a:pPr marL="0" indent="0" algn="r">
              <a:buNone/>
            </a:pPr>
            <a:r>
              <a:rPr lang="en-US" sz="900" dirty="0">
                <a:solidFill>
                  <a:srgbClr val="5B6478"/>
                </a:solidFill>
                <a:latin typeface="Calibri" pitchFamily="34" charset="0"/>
                <a:ea typeface="Calibri" pitchFamily="34" charset="-122"/>
                <a:cs typeface="Calibri" pitchFamily="34" charset="-120"/>
              </a:rPr>
              <a:t>7/26</a:t>
            </a:r>
            <a:endParaRPr lang="en-US" sz="900" dirty="0"/>
          </a:p>
        </p:txBody>
      </p:sp>
      <p:sp>
        <p:nvSpPr>
          <p:cNvPr id="55" name="Shape 53"/>
          <p:cNvSpPr/>
          <p:nvPr/>
        </p:nvSpPr>
        <p:spPr>
          <a:xfrm>
            <a:off x="595503" y="6459093"/>
            <a:ext cx="89154" cy="89154"/>
          </a:xfrm>
          <a:prstGeom prst="ellipse">
            <a:avLst/>
          </a:prstGeom>
          <a:solidFill>
            <a:srgbClr val="285AB4"/>
          </a:solidFill>
          <a:ln/>
        </p:spPr>
      </p:sp>
      <p:sp>
        <p:nvSpPr>
          <p:cNvPr id="56" name="Shape 54"/>
          <p:cNvSpPr/>
          <p:nvPr/>
        </p:nvSpPr>
        <p:spPr>
          <a:xfrm>
            <a:off x="829818" y="6473952"/>
            <a:ext cx="59436" cy="59436"/>
          </a:xfrm>
          <a:prstGeom prst="ellipse">
            <a:avLst/>
          </a:prstGeom>
          <a:solidFill>
            <a:srgbClr val="D9DEE8"/>
          </a:solidFill>
          <a:ln/>
        </p:spPr>
      </p:sp>
      <p:sp>
        <p:nvSpPr>
          <p:cNvPr id="57" name="Shape 55"/>
          <p:cNvSpPr/>
          <p:nvPr/>
        </p:nvSpPr>
        <p:spPr>
          <a:xfrm>
            <a:off x="1049274" y="6473952"/>
            <a:ext cx="59436" cy="59436"/>
          </a:xfrm>
          <a:prstGeom prst="ellipse">
            <a:avLst/>
          </a:prstGeom>
          <a:solidFill>
            <a:srgbClr val="D9DEE8"/>
          </a:solidFill>
          <a:ln/>
        </p:spPr>
      </p:sp>
      <p:sp>
        <p:nvSpPr>
          <p:cNvPr id="58" name="Shape 56"/>
          <p:cNvSpPr/>
          <p:nvPr/>
        </p:nvSpPr>
        <p:spPr>
          <a:xfrm>
            <a:off x="1268730" y="6473952"/>
            <a:ext cx="59436" cy="59436"/>
          </a:xfrm>
          <a:prstGeom prst="ellipse">
            <a:avLst/>
          </a:prstGeom>
          <a:solidFill>
            <a:srgbClr val="D9DEE8"/>
          </a:solidFill>
          <a:ln/>
        </p:spPr>
      </p:sp>
      <p:sp>
        <p:nvSpPr>
          <p:cNvPr id="59" name="Text 57"/>
          <p:cNvSpPr txBox="1"/>
          <p:nvPr/>
        </p:nvSpPr>
        <p:spPr>
          <a:xfrm>
            <a:off x="1563624" y="6391656"/>
            <a:ext cx="3291840" cy="274320"/>
          </a:xfrm>
          <a:prstGeom prst="rect">
            <a:avLst/>
          </a:prstGeom>
          <a:noFill/>
          <a:ln/>
        </p:spPr>
        <p:txBody>
          <a:bodyPr wrap="square" lIns="0" tIns="0" rIns="0" bIns="0" rtlCol="0" anchor="ctr"/>
          <a:lstStyle/>
          <a:p>
            <a:pPr marL="0" indent="0">
              <a:buNone/>
            </a:pPr>
            <a:r>
              <a:rPr lang="en-US" sz="850" kern="0" spc="50" dirty="0">
                <a:solidFill>
                  <a:srgbClr val="5B6478"/>
                </a:solidFill>
                <a:latin typeface="Calibri" pitchFamily="34" charset="0"/>
                <a:ea typeface="Calibri" pitchFamily="34" charset="-122"/>
                <a:cs typeface="Calibri" pitchFamily="34" charset="-120"/>
              </a:rPr>
              <a:t>MOTIVATION &amp; MATH</a:t>
            </a:r>
            <a:endParaRPr lang="en-US" sz="8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txBox="1"/>
          <p:nvPr/>
        </p:nvSpPr>
        <p:spPr>
          <a:xfrm>
            <a:off x="640080" y="457200"/>
            <a:ext cx="9144000" cy="320040"/>
          </a:xfrm>
          <a:prstGeom prst="rect">
            <a:avLst/>
          </a:prstGeom>
          <a:noFill/>
          <a:ln/>
        </p:spPr>
        <p:txBody>
          <a:bodyPr wrap="square" lIns="0" tIns="0" rIns="0" bIns="0" rtlCol="0" anchor="ctr"/>
          <a:lstStyle/>
          <a:p>
            <a:pPr marL="0" indent="0">
              <a:buNone/>
            </a:pPr>
            <a:r>
              <a:rPr lang="en-US" sz="1300" b="1" kern="0" spc="100" dirty="0">
                <a:solidFill>
                  <a:srgbClr val="285AB4"/>
                </a:solidFill>
                <a:latin typeface="Calibri" pitchFamily="34" charset="0"/>
                <a:ea typeface="Calibri" pitchFamily="34" charset="-122"/>
                <a:cs typeface="Calibri" pitchFamily="34" charset="-120"/>
              </a:rPr>
              <a:t>VANISHING / EXPLODING GRADIENT</a:t>
            </a:r>
            <a:endParaRPr lang="en-US" sz="1300" dirty="0"/>
          </a:p>
        </p:txBody>
      </p:sp>
      <p:sp>
        <p:nvSpPr>
          <p:cNvPr id="3" name="Text 1"/>
          <p:cNvSpPr txBox="1"/>
          <p:nvPr/>
        </p:nvSpPr>
        <p:spPr>
          <a:xfrm>
            <a:off x="640080" y="749808"/>
            <a:ext cx="10911535" cy="822960"/>
          </a:xfrm>
          <a:prstGeom prst="rect">
            <a:avLst/>
          </a:prstGeom>
          <a:noFill/>
          <a:ln/>
        </p:spPr>
        <p:txBody>
          <a:bodyPr wrap="square" lIns="0" tIns="0" rIns="0" bIns="0" rtlCol="0" anchor="t"/>
          <a:lstStyle/>
          <a:p>
            <a:pPr marL="0" indent="0">
              <a:buNone/>
            </a:pPr>
            <a:r>
              <a:rPr lang="en-US" sz="2900" b="1" dirty="0">
                <a:solidFill>
                  <a:srgbClr val="1A2238"/>
                </a:solidFill>
                <a:latin typeface="Cambria" pitchFamily="34" charset="0"/>
                <a:ea typeface="Cambria" pitchFamily="34" charset="-122"/>
                <a:cs typeface="Cambria" pitchFamily="34" charset="-120"/>
              </a:rPr>
              <a:t>Vanishing Gradient</a:t>
            </a:r>
            <a:endParaRPr lang="en-US" sz="2900" dirty="0"/>
          </a:p>
        </p:txBody>
      </p:sp>
      <p:sp>
        <p:nvSpPr>
          <p:cNvPr id="4" name="Shape 2"/>
          <p:cNvSpPr/>
          <p:nvPr/>
        </p:nvSpPr>
        <p:spPr>
          <a:xfrm>
            <a:off x="640080" y="1783080"/>
            <a:ext cx="10911535" cy="822960"/>
          </a:xfrm>
          <a:prstGeom prst="roundRect">
            <a:avLst>
              <a:gd name="adj" fmla="val 8889"/>
            </a:avLst>
          </a:prstGeom>
          <a:solidFill>
            <a:srgbClr val="F1F4F9"/>
          </a:solidFill>
          <a:ln w="9525">
            <a:solidFill>
              <a:srgbClr val="D9DEE8"/>
            </a:solidFill>
            <a:prstDash val="solid"/>
          </a:ln>
          <a:effectLst>
            <a:outerShdw blurRad="114300" dist="38100" dir="5400000" algn="bl" rotWithShape="0">
              <a:srgbClr val="1A1A2E">
                <a:alpha val="20000"/>
              </a:srgbClr>
            </a:outerShdw>
          </a:effectLst>
        </p:spPr>
      </p:sp>
      <p:sp>
        <p:nvSpPr>
          <p:cNvPr id="5" name="Text 3"/>
          <p:cNvSpPr txBox="1"/>
          <p:nvPr/>
        </p:nvSpPr>
        <p:spPr>
          <a:xfrm>
            <a:off x="868680" y="1783080"/>
            <a:ext cx="10454335" cy="822960"/>
          </a:xfrm>
          <a:prstGeom prst="rect">
            <a:avLst/>
          </a:prstGeom>
          <a:noFill/>
          <a:ln/>
        </p:spPr>
        <p:txBody>
          <a:bodyPr wrap="square" lIns="0" tIns="0" rIns="0" bIns="0" rtlCol="0" anchor="ctr"/>
          <a:lstStyle/>
          <a:p>
            <a:pPr marL="0" indent="0" algn="ctr">
              <a:buNone/>
            </a:pPr>
            <a:r>
              <a:rPr lang="en-US" sz="1500" dirty="0">
                <a:solidFill>
                  <a:srgbClr val="16213E"/>
                </a:solidFill>
                <a:latin typeface="Cambria Math" pitchFamily="34" charset="0"/>
                <a:ea typeface="Cambria Math" pitchFamily="34" charset="-122"/>
                <a:cs typeface="Cambria Math" pitchFamily="34" charset="-120"/>
              </a:rPr>
              <a:t>Minh hoạ: nếu mỗi bước co norm gradient theo hệ số ≈0.5, qua 20 layer:  0.5²⁰ ≈ 9.54×10⁻⁷</a:t>
            </a:r>
            <a:endParaRPr lang="en-US" sz="1500" dirty="0"/>
          </a:p>
        </p:txBody>
      </p:sp>
      <p:sp>
        <p:nvSpPr>
          <p:cNvPr id="6" name="Shape 4"/>
          <p:cNvSpPr/>
          <p:nvPr/>
        </p:nvSpPr>
        <p:spPr>
          <a:xfrm>
            <a:off x="2651760" y="2834640"/>
            <a:ext cx="6949440" cy="365760"/>
          </a:xfrm>
          <a:prstGeom prst="roundRect">
            <a:avLst>
              <a:gd name="adj" fmla="val 10000"/>
            </a:avLst>
          </a:prstGeom>
          <a:solidFill>
            <a:srgbClr val="BE3C32"/>
          </a:solidFill>
          <a:ln/>
        </p:spPr>
      </p:sp>
      <p:sp>
        <p:nvSpPr>
          <p:cNvPr id="7" name="Text 5"/>
          <p:cNvSpPr txBox="1"/>
          <p:nvPr/>
        </p:nvSpPr>
        <p:spPr>
          <a:xfrm>
            <a:off x="640080" y="2834640"/>
            <a:ext cx="1920240" cy="365760"/>
          </a:xfrm>
          <a:prstGeom prst="rect">
            <a:avLst/>
          </a:prstGeom>
          <a:noFill/>
          <a:ln/>
        </p:spPr>
        <p:txBody>
          <a:bodyPr wrap="square" lIns="0" tIns="0" rIns="0" bIns="0" rtlCol="0" anchor="ctr"/>
          <a:lstStyle/>
          <a:p>
            <a:pPr marL="0" indent="0">
              <a:buNone/>
            </a:pPr>
            <a:r>
              <a:rPr lang="en-US" sz="1250" dirty="0">
                <a:solidFill>
                  <a:srgbClr val="5B6478"/>
                </a:solidFill>
                <a:latin typeface="Calibri" pitchFamily="34" charset="0"/>
                <a:ea typeface="Calibri" pitchFamily="34" charset="-122"/>
                <a:cs typeface="Calibri" pitchFamily="34" charset="-120"/>
              </a:rPr>
              <a:t>Layer 20</a:t>
            </a:r>
            <a:endParaRPr lang="en-US" sz="1250" dirty="0"/>
          </a:p>
        </p:txBody>
      </p:sp>
      <p:sp>
        <p:nvSpPr>
          <p:cNvPr id="8" name="Shape 6"/>
          <p:cNvSpPr/>
          <p:nvPr/>
        </p:nvSpPr>
        <p:spPr>
          <a:xfrm>
            <a:off x="2651760" y="3328416"/>
            <a:ext cx="3840480" cy="365760"/>
          </a:xfrm>
          <a:prstGeom prst="roundRect">
            <a:avLst>
              <a:gd name="adj" fmla="val 10000"/>
            </a:avLst>
          </a:prstGeom>
          <a:solidFill>
            <a:srgbClr val="BE3C32"/>
          </a:solidFill>
          <a:ln/>
        </p:spPr>
      </p:sp>
      <p:sp>
        <p:nvSpPr>
          <p:cNvPr id="9" name="Text 7"/>
          <p:cNvSpPr txBox="1"/>
          <p:nvPr/>
        </p:nvSpPr>
        <p:spPr>
          <a:xfrm>
            <a:off x="640080" y="3328416"/>
            <a:ext cx="1920240" cy="365760"/>
          </a:xfrm>
          <a:prstGeom prst="rect">
            <a:avLst/>
          </a:prstGeom>
          <a:noFill/>
          <a:ln/>
        </p:spPr>
        <p:txBody>
          <a:bodyPr wrap="square" lIns="0" tIns="0" rIns="0" bIns="0" rtlCol="0" anchor="ctr"/>
          <a:lstStyle/>
          <a:p>
            <a:pPr marL="0" indent="0">
              <a:buNone/>
            </a:pPr>
            <a:r>
              <a:rPr lang="en-US" sz="1250" dirty="0">
                <a:solidFill>
                  <a:srgbClr val="5B6478"/>
                </a:solidFill>
                <a:latin typeface="Calibri" pitchFamily="34" charset="0"/>
                <a:ea typeface="Calibri" pitchFamily="34" charset="-122"/>
                <a:cs typeface="Calibri" pitchFamily="34" charset="-120"/>
              </a:rPr>
              <a:t>Layer 15</a:t>
            </a:r>
            <a:endParaRPr lang="en-US" sz="1250" dirty="0"/>
          </a:p>
        </p:txBody>
      </p:sp>
      <p:sp>
        <p:nvSpPr>
          <p:cNvPr id="10" name="Shape 8"/>
          <p:cNvSpPr/>
          <p:nvPr/>
        </p:nvSpPr>
        <p:spPr>
          <a:xfrm>
            <a:off x="2651760" y="3822192"/>
            <a:ext cx="1737360" cy="365760"/>
          </a:xfrm>
          <a:prstGeom prst="roundRect">
            <a:avLst>
              <a:gd name="adj" fmla="val 10000"/>
            </a:avLst>
          </a:prstGeom>
          <a:solidFill>
            <a:srgbClr val="BE3C32"/>
          </a:solidFill>
          <a:ln/>
        </p:spPr>
      </p:sp>
      <p:sp>
        <p:nvSpPr>
          <p:cNvPr id="11" name="Text 9"/>
          <p:cNvSpPr txBox="1"/>
          <p:nvPr/>
        </p:nvSpPr>
        <p:spPr>
          <a:xfrm>
            <a:off x="640080" y="3822192"/>
            <a:ext cx="1920240" cy="365760"/>
          </a:xfrm>
          <a:prstGeom prst="rect">
            <a:avLst/>
          </a:prstGeom>
          <a:noFill/>
          <a:ln/>
        </p:spPr>
        <p:txBody>
          <a:bodyPr wrap="square" lIns="0" tIns="0" rIns="0" bIns="0" rtlCol="0" anchor="ctr"/>
          <a:lstStyle/>
          <a:p>
            <a:pPr marL="0" indent="0">
              <a:buNone/>
            </a:pPr>
            <a:r>
              <a:rPr lang="en-US" sz="1250" dirty="0">
                <a:solidFill>
                  <a:srgbClr val="5B6478"/>
                </a:solidFill>
                <a:latin typeface="Calibri" pitchFamily="34" charset="0"/>
                <a:ea typeface="Calibri" pitchFamily="34" charset="-122"/>
                <a:cs typeface="Calibri" pitchFamily="34" charset="-120"/>
              </a:rPr>
              <a:t>Layer 10</a:t>
            </a:r>
            <a:endParaRPr lang="en-US" sz="1250" dirty="0"/>
          </a:p>
        </p:txBody>
      </p:sp>
      <p:sp>
        <p:nvSpPr>
          <p:cNvPr id="12" name="Shape 10"/>
          <p:cNvSpPr/>
          <p:nvPr/>
        </p:nvSpPr>
        <p:spPr>
          <a:xfrm>
            <a:off x="2651760" y="4315968"/>
            <a:ext cx="548640" cy="365760"/>
          </a:xfrm>
          <a:prstGeom prst="roundRect">
            <a:avLst>
              <a:gd name="adj" fmla="val 10000"/>
            </a:avLst>
          </a:prstGeom>
          <a:solidFill>
            <a:srgbClr val="BE3C32"/>
          </a:solidFill>
          <a:ln/>
        </p:spPr>
      </p:sp>
      <p:sp>
        <p:nvSpPr>
          <p:cNvPr id="13" name="Text 11"/>
          <p:cNvSpPr txBox="1"/>
          <p:nvPr/>
        </p:nvSpPr>
        <p:spPr>
          <a:xfrm>
            <a:off x="640080" y="4315968"/>
            <a:ext cx="1920240" cy="365760"/>
          </a:xfrm>
          <a:prstGeom prst="rect">
            <a:avLst/>
          </a:prstGeom>
          <a:noFill/>
          <a:ln/>
        </p:spPr>
        <p:txBody>
          <a:bodyPr wrap="square" lIns="0" tIns="0" rIns="0" bIns="0" rtlCol="0" anchor="ctr"/>
          <a:lstStyle/>
          <a:p>
            <a:pPr marL="0" indent="0">
              <a:buNone/>
            </a:pPr>
            <a:r>
              <a:rPr lang="en-US" sz="1250" dirty="0">
                <a:solidFill>
                  <a:srgbClr val="5B6478"/>
                </a:solidFill>
                <a:latin typeface="Calibri" pitchFamily="34" charset="0"/>
                <a:ea typeface="Calibri" pitchFamily="34" charset="-122"/>
                <a:cs typeface="Calibri" pitchFamily="34" charset="-120"/>
              </a:rPr>
              <a:t>Layer 5</a:t>
            </a:r>
            <a:endParaRPr lang="en-US" sz="1250" dirty="0"/>
          </a:p>
        </p:txBody>
      </p:sp>
      <p:sp>
        <p:nvSpPr>
          <p:cNvPr id="14" name="Shape 12"/>
          <p:cNvSpPr/>
          <p:nvPr/>
        </p:nvSpPr>
        <p:spPr>
          <a:xfrm>
            <a:off x="2651760" y="4809744"/>
            <a:ext cx="109728" cy="365760"/>
          </a:xfrm>
          <a:prstGeom prst="roundRect">
            <a:avLst>
              <a:gd name="adj" fmla="val 33333"/>
            </a:avLst>
          </a:prstGeom>
          <a:solidFill>
            <a:srgbClr val="BE3C32"/>
          </a:solidFill>
          <a:ln/>
        </p:spPr>
      </p:sp>
      <p:sp>
        <p:nvSpPr>
          <p:cNvPr id="15" name="Text 13"/>
          <p:cNvSpPr txBox="1"/>
          <p:nvPr/>
        </p:nvSpPr>
        <p:spPr>
          <a:xfrm>
            <a:off x="640080" y="4809744"/>
            <a:ext cx="1920240" cy="365760"/>
          </a:xfrm>
          <a:prstGeom prst="rect">
            <a:avLst/>
          </a:prstGeom>
          <a:noFill/>
          <a:ln/>
        </p:spPr>
        <p:txBody>
          <a:bodyPr wrap="square" lIns="0" tIns="0" rIns="0" bIns="0" rtlCol="0" anchor="ctr"/>
          <a:lstStyle/>
          <a:p>
            <a:pPr marL="0" indent="0">
              <a:buNone/>
            </a:pPr>
            <a:r>
              <a:rPr lang="en-US" sz="1250" dirty="0">
                <a:solidFill>
                  <a:srgbClr val="5B6478"/>
                </a:solidFill>
                <a:latin typeface="Calibri" pitchFamily="34" charset="0"/>
                <a:ea typeface="Calibri" pitchFamily="34" charset="-122"/>
                <a:cs typeface="Calibri" pitchFamily="34" charset="-120"/>
              </a:rPr>
              <a:t>Layer 1</a:t>
            </a:r>
            <a:endParaRPr lang="en-US" sz="1250" dirty="0"/>
          </a:p>
        </p:txBody>
      </p:sp>
      <p:sp>
        <p:nvSpPr>
          <p:cNvPr id="16" name="Text 14"/>
          <p:cNvSpPr txBox="1"/>
          <p:nvPr/>
        </p:nvSpPr>
        <p:spPr>
          <a:xfrm>
            <a:off x="640080" y="5440680"/>
            <a:ext cx="10911535" cy="548640"/>
          </a:xfrm>
          <a:prstGeom prst="rect">
            <a:avLst/>
          </a:prstGeom>
          <a:noFill/>
          <a:ln/>
        </p:spPr>
        <p:txBody>
          <a:bodyPr wrap="square" lIns="0" tIns="0" rIns="0" bIns="0" rtlCol="0" anchor="t"/>
          <a:lstStyle/>
          <a:p>
            <a:pPr marL="228600" indent="-228600">
              <a:spcAft>
                <a:spcPts val="600"/>
              </a:spcAft>
              <a:buSzPct val="100000"/>
              <a:buChar char="▪"/>
            </a:pPr>
            <a:r>
              <a:rPr lang="en-US" sz="1600" dirty="0">
                <a:solidFill>
                  <a:srgbClr val="1A2238"/>
                </a:solidFill>
                <a:latin typeface="Calibri" pitchFamily="34" charset="0"/>
                <a:ea typeface="Calibri" pitchFamily="34" charset="-122"/>
                <a:cs typeface="Calibri" pitchFamily="34" charset="-120"/>
              </a:rPr>
              <a:t>Tích nhiều Jacobian / weight transformation → gradient co lại</a:t>
            </a:r>
            <a:endParaRPr lang="en-US" sz="1600" dirty="0"/>
          </a:p>
        </p:txBody>
      </p:sp>
      <p:sp>
        <p:nvSpPr>
          <p:cNvPr id="17" name="Text 15"/>
          <p:cNvSpPr txBox="1"/>
          <p:nvPr/>
        </p:nvSpPr>
        <p:spPr>
          <a:xfrm>
            <a:off x="11185855" y="6446520"/>
            <a:ext cx="731520" cy="274320"/>
          </a:xfrm>
          <a:prstGeom prst="rect">
            <a:avLst/>
          </a:prstGeom>
          <a:noFill/>
          <a:ln/>
        </p:spPr>
        <p:txBody>
          <a:bodyPr wrap="square" lIns="0" tIns="0" rIns="0" bIns="0" rtlCol="0" anchor="ctr"/>
          <a:lstStyle/>
          <a:p>
            <a:pPr marL="0" indent="0" algn="r">
              <a:buNone/>
            </a:pPr>
            <a:r>
              <a:rPr lang="en-US" sz="900" dirty="0">
                <a:solidFill>
                  <a:srgbClr val="5B6478"/>
                </a:solidFill>
                <a:latin typeface="Calibri" pitchFamily="34" charset="0"/>
                <a:ea typeface="Calibri" pitchFamily="34" charset="-122"/>
                <a:cs typeface="Calibri" pitchFamily="34" charset="-120"/>
              </a:rPr>
              <a:t>8/26</a:t>
            </a:r>
            <a:endParaRPr lang="en-US" sz="900" dirty="0"/>
          </a:p>
        </p:txBody>
      </p:sp>
      <p:sp>
        <p:nvSpPr>
          <p:cNvPr id="18" name="Shape 16"/>
          <p:cNvSpPr/>
          <p:nvPr/>
        </p:nvSpPr>
        <p:spPr>
          <a:xfrm>
            <a:off x="610362" y="6473952"/>
            <a:ext cx="59436" cy="59436"/>
          </a:xfrm>
          <a:prstGeom prst="ellipse">
            <a:avLst/>
          </a:prstGeom>
          <a:solidFill>
            <a:srgbClr val="D9DEE8"/>
          </a:solidFill>
          <a:ln/>
        </p:spPr>
      </p:sp>
      <p:sp>
        <p:nvSpPr>
          <p:cNvPr id="19" name="Shape 17"/>
          <p:cNvSpPr/>
          <p:nvPr/>
        </p:nvSpPr>
        <p:spPr>
          <a:xfrm>
            <a:off x="814959" y="6459093"/>
            <a:ext cx="89154" cy="89154"/>
          </a:xfrm>
          <a:prstGeom prst="ellipse">
            <a:avLst/>
          </a:prstGeom>
          <a:solidFill>
            <a:srgbClr val="285AB4"/>
          </a:solidFill>
          <a:ln/>
        </p:spPr>
      </p:sp>
      <p:sp>
        <p:nvSpPr>
          <p:cNvPr id="20" name="Shape 18"/>
          <p:cNvSpPr/>
          <p:nvPr/>
        </p:nvSpPr>
        <p:spPr>
          <a:xfrm>
            <a:off x="1049274" y="6473952"/>
            <a:ext cx="59436" cy="59436"/>
          </a:xfrm>
          <a:prstGeom prst="ellipse">
            <a:avLst/>
          </a:prstGeom>
          <a:solidFill>
            <a:srgbClr val="D9DEE8"/>
          </a:solidFill>
          <a:ln/>
        </p:spPr>
      </p:sp>
      <p:sp>
        <p:nvSpPr>
          <p:cNvPr id="21" name="Shape 19"/>
          <p:cNvSpPr/>
          <p:nvPr/>
        </p:nvSpPr>
        <p:spPr>
          <a:xfrm>
            <a:off x="1268730" y="6473952"/>
            <a:ext cx="59436" cy="59436"/>
          </a:xfrm>
          <a:prstGeom prst="ellipse">
            <a:avLst/>
          </a:prstGeom>
          <a:solidFill>
            <a:srgbClr val="D9DEE8"/>
          </a:solidFill>
          <a:ln/>
        </p:spPr>
      </p:sp>
      <p:sp>
        <p:nvSpPr>
          <p:cNvPr id="22" name="Text 20"/>
          <p:cNvSpPr txBox="1"/>
          <p:nvPr/>
        </p:nvSpPr>
        <p:spPr>
          <a:xfrm>
            <a:off x="1563624" y="6391656"/>
            <a:ext cx="3291840" cy="274320"/>
          </a:xfrm>
          <a:prstGeom prst="rect">
            <a:avLst/>
          </a:prstGeom>
          <a:noFill/>
          <a:ln/>
        </p:spPr>
        <p:txBody>
          <a:bodyPr wrap="square" lIns="0" tIns="0" rIns="0" bIns="0" rtlCol="0" anchor="ctr"/>
          <a:lstStyle/>
          <a:p>
            <a:pPr marL="0" indent="0">
              <a:buNone/>
            </a:pPr>
            <a:r>
              <a:rPr lang="en-US" sz="850" kern="0" spc="50" dirty="0">
                <a:solidFill>
                  <a:srgbClr val="5B6478"/>
                </a:solidFill>
                <a:latin typeface="Calibri" pitchFamily="34" charset="0"/>
                <a:ea typeface="Calibri" pitchFamily="34" charset="-122"/>
                <a:cs typeface="Calibri" pitchFamily="34" charset="-120"/>
              </a:rPr>
              <a:t>VANISHING/EXPLODING &amp; INIT</a:t>
            </a:r>
            <a:endParaRPr lang="en-US" sz="8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txBox="1"/>
          <p:nvPr/>
        </p:nvSpPr>
        <p:spPr>
          <a:xfrm>
            <a:off x="640080" y="457200"/>
            <a:ext cx="9144000" cy="320040"/>
          </a:xfrm>
          <a:prstGeom prst="rect">
            <a:avLst/>
          </a:prstGeom>
          <a:noFill/>
          <a:ln/>
        </p:spPr>
        <p:txBody>
          <a:bodyPr wrap="square" lIns="0" tIns="0" rIns="0" bIns="0" rtlCol="0" anchor="ctr"/>
          <a:lstStyle/>
          <a:p>
            <a:pPr marL="0" indent="0">
              <a:buNone/>
            </a:pPr>
            <a:r>
              <a:rPr lang="en-US" sz="1300" b="1" kern="0" spc="100" dirty="0">
                <a:solidFill>
                  <a:srgbClr val="285AB4"/>
                </a:solidFill>
                <a:latin typeface="Calibri" pitchFamily="34" charset="0"/>
                <a:ea typeface="Calibri" pitchFamily="34" charset="-122"/>
                <a:cs typeface="Calibri" pitchFamily="34" charset="-120"/>
              </a:rPr>
              <a:t>VANISHING / EXPLODING GRADIENT</a:t>
            </a:r>
            <a:endParaRPr lang="en-US" sz="1300" dirty="0"/>
          </a:p>
        </p:txBody>
      </p:sp>
      <p:sp>
        <p:nvSpPr>
          <p:cNvPr id="3" name="Text 1"/>
          <p:cNvSpPr txBox="1"/>
          <p:nvPr/>
        </p:nvSpPr>
        <p:spPr>
          <a:xfrm>
            <a:off x="640080" y="749808"/>
            <a:ext cx="10911535" cy="822960"/>
          </a:xfrm>
          <a:prstGeom prst="rect">
            <a:avLst/>
          </a:prstGeom>
          <a:noFill/>
          <a:ln/>
        </p:spPr>
        <p:txBody>
          <a:bodyPr wrap="square" lIns="0" tIns="0" rIns="0" bIns="0" rtlCol="0" anchor="t"/>
          <a:lstStyle/>
          <a:p>
            <a:pPr marL="0" indent="0">
              <a:buNone/>
            </a:pPr>
            <a:r>
              <a:rPr lang="en-US" sz="2900" b="1" dirty="0">
                <a:solidFill>
                  <a:srgbClr val="1A2238"/>
                </a:solidFill>
                <a:latin typeface="Cambria" pitchFamily="34" charset="0"/>
                <a:ea typeface="Cambria" pitchFamily="34" charset="-122"/>
                <a:cs typeface="Cambria" pitchFamily="34" charset="-120"/>
              </a:rPr>
              <a:t>Exploding Gradient</a:t>
            </a:r>
            <a:endParaRPr lang="en-US" sz="2900" dirty="0"/>
          </a:p>
        </p:txBody>
      </p:sp>
      <p:sp>
        <p:nvSpPr>
          <p:cNvPr id="4" name="Shape 2"/>
          <p:cNvSpPr/>
          <p:nvPr/>
        </p:nvSpPr>
        <p:spPr>
          <a:xfrm>
            <a:off x="640080" y="1783080"/>
            <a:ext cx="10911535" cy="822960"/>
          </a:xfrm>
          <a:prstGeom prst="roundRect">
            <a:avLst>
              <a:gd name="adj" fmla="val 8889"/>
            </a:avLst>
          </a:prstGeom>
          <a:solidFill>
            <a:srgbClr val="F1F4F9"/>
          </a:solidFill>
          <a:ln w="9525">
            <a:solidFill>
              <a:srgbClr val="D9DEE8"/>
            </a:solidFill>
            <a:prstDash val="solid"/>
          </a:ln>
          <a:effectLst>
            <a:outerShdw blurRad="114300" dist="38100" dir="5400000" algn="bl" rotWithShape="0">
              <a:srgbClr val="1A1A2E">
                <a:alpha val="20000"/>
              </a:srgbClr>
            </a:outerShdw>
          </a:effectLst>
        </p:spPr>
      </p:sp>
      <p:sp>
        <p:nvSpPr>
          <p:cNvPr id="5" name="Text 3"/>
          <p:cNvSpPr txBox="1"/>
          <p:nvPr/>
        </p:nvSpPr>
        <p:spPr>
          <a:xfrm>
            <a:off x="868680" y="1783080"/>
            <a:ext cx="10454335" cy="822960"/>
          </a:xfrm>
          <a:prstGeom prst="rect">
            <a:avLst/>
          </a:prstGeom>
          <a:noFill/>
          <a:ln/>
        </p:spPr>
        <p:txBody>
          <a:bodyPr wrap="square" lIns="0" tIns="0" rIns="0" bIns="0" rtlCol="0" anchor="ctr"/>
          <a:lstStyle/>
          <a:p>
            <a:pPr marL="0" indent="0" algn="ctr">
              <a:buNone/>
            </a:pPr>
            <a:r>
              <a:rPr lang="en-US" sz="1500" dirty="0">
                <a:solidFill>
                  <a:srgbClr val="16213E"/>
                </a:solidFill>
                <a:latin typeface="Cambria Math" pitchFamily="34" charset="0"/>
                <a:ea typeface="Cambria Math" pitchFamily="34" charset="-122"/>
                <a:cs typeface="Cambria Math" pitchFamily="34" charset="-120"/>
              </a:rPr>
              <a:t>Minh hoạ: nếu mỗi bước khuếch đại norm gradient theo hệ số ≈1.5, qua 20 layer:  1.5²⁰ ≈ 3325</a:t>
            </a:r>
            <a:endParaRPr lang="en-US" sz="1500" dirty="0"/>
          </a:p>
        </p:txBody>
      </p:sp>
      <p:sp>
        <p:nvSpPr>
          <p:cNvPr id="6" name="Shape 4"/>
          <p:cNvSpPr/>
          <p:nvPr/>
        </p:nvSpPr>
        <p:spPr>
          <a:xfrm>
            <a:off x="2651760" y="2834640"/>
            <a:ext cx="109728" cy="365760"/>
          </a:xfrm>
          <a:prstGeom prst="roundRect">
            <a:avLst>
              <a:gd name="adj" fmla="val 33333"/>
            </a:avLst>
          </a:prstGeom>
          <a:solidFill>
            <a:srgbClr val="7D3C98"/>
          </a:solidFill>
          <a:ln/>
        </p:spPr>
      </p:sp>
      <p:sp>
        <p:nvSpPr>
          <p:cNvPr id="7" name="Text 5"/>
          <p:cNvSpPr txBox="1"/>
          <p:nvPr/>
        </p:nvSpPr>
        <p:spPr>
          <a:xfrm>
            <a:off x="640080" y="2834640"/>
            <a:ext cx="1920240" cy="365760"/>
          </a:xfrm>
          <a:prstGeom prst="rect">
            <a:avLst/>
          </a:prstGeom>
          <a:noFill/>
          <a:ln/>
        </p:spPr>
        <p:txBody>
          <a:bodyPr wrap="square" lIns="0" tIns="0" rIns="0" bIns="0" rtlCol="0" anchor="ctr"/>
          <a:lstStyle/>
          <a:p>
            <a:pPr marL="0" indent="0">
              <a:buNone/>
            </a:pPr>
            <a:r>
              <a:rPr lang="en-US" sz="1250" dirty="0">
                <a:solidFill>
                  <a:srgbClr val="5B6478"/>
                </a:solidFill>
                <a:latin typeface="Calibri" pitchFamily="34" charset="0"/>
                <a:ea typeface="Calibri" pitchFamily="34" charset="-122"/>
                <a:cs typeface="Calibri" pitchFamily="34" charset="-120"/>
              </a:rPr>
              <a:t>Layer 1</a:t>
            </a:r>
            <a:endParaRPr lang="en-US" sz="1250" dirty="0"/>
          </a:p>
        </p:txBody>
      </p:sp>
      <p:sp>
        <p:nvSpPr>
          <p:cNvPr id="8" name="Shape 6"/>
          <p:cNvSpPr/>
          <p:nvPr/>
        </p:nvSpPr>
        <p:spPr>
          <a:xfrm>
            <a:off x="2651760" y="3328416"/>
            <a:ext cx="457200" cy="365760"/>
          </a:xfrm>
          <a:prstGeom prst="roundRect">
            <a:avLst>
              <a:gd name="adj" fmla="val 10000"/>
            </a:avLst>
          </a:prstGeom>
          <a:solidFill>
            <a:srgbClr val="7D3C98"/>
          </a:solidFill>
          <a:ln/>
        </p:spPr>
      </p:sp>
      <p:sp>
        <p:nvSpPr>
          <p:cNvPr id="9" name="Text 7"/>
          <p:cNvSpPr txBox="1"/>
          <p:nvPr/>
        </p:nvSpPr>
        <p:spPr>
          <a:xfrm>
            <a:off x="640080" y="3328416"/>
            <a:ext cx="1920240" cy="365760"/>
          </a:xfrm>
          <a:prstGeom prst="rect">
            <a:avLst/>
          </a:prstGeom>
          <a:noFill/>
          <a:ln/>
        </p:spPr>
        <p:txBody>
          <a:bodyPr wrap="square" lIns="0" tIns="0" rIns="0" bIns="0" rtlCol="0" anchor="ctr"/>
          <a:lstStyle/>
          <a:p>
            <a:pPr marL="0" indent="0">
              <a:buNone/>
            </a:pPr>
            <a:r>
              <a:rPr lang="en-US" sz="1250" dirty="0">
                <a:solidFill>
                  <a:srgbClr val="5B6478"/>
                </a:solidFill>
                <a:latin typeface="Calibri" pitchFamily="34" charset="0"/>
                <a:ea typeface="Calibri" pitchFamily="34" charset="-122"/>
                <a:cs typeface="Calibri" pitchFamily="34" charset="-120"/>
              </a:rPr>
              <a:t>Layer 5</a:t>
            </a:r>
            <a:endParaRPr lang="en-US" sz="1250" dirty="0"/>
          </a:p>
        </p:txBody>
      </p:sp>
      <p:sp>
        <p:nvSpPr>
          <p:cNvPr id="10" name="Shape 8"/>
          <p:cNvSpPr/>
          <p:nvPr/>
        </p:nvSpPr>
        <p:spPr>
          <a:xfrm>
            <a:off x="2651760" y="3822192"/>
            <a:ext cx="1463040" cy="365760"/>
          </a:xfrm>
          <a:prstGeom prst="roundRect">
            <a:avLst>
              <a:gd name="adj" fmla="val 10000"/>
            </a:avLst>
          </a:prstGeom>
          <a:solidFill>
            <a:srgbClr val="7D3C98"/>
          </a:solidFill>
          <a:ln/>
        </p:spPr>
      </p:sp>
      <p:sp>
        <p:nvSpPr>
          <p:cNvPr id="11" name="Text 9"/>
          <p:cNvSpPr txBox="1"/>
          <p:nvPr/>
        </p:nvSpPr>
        <p:spPr>
          <a:xfrm>
            <a:off x="640080" y="3822192"/>
            <a:ext cx="1920240" cy="365760"/>
          </a:xfrm>
          <a:prstGeom prst="rect">
            <a:avLst/>
          </a:prstGeom>
          <a:noFill/>
          <a:ln/>
        </p:spPr>
        <p:txBody>
          <a:bodyPr wrap="square" lIns="0" tIns="0" rIns="0" bIns="0" rtlCol="0" anchor="ctr"/>
          <a:lstStyle/>
          <a:p>
            <a:pPr marL="0" indent="0">
              <a:buNone/>
            </a:pPr>
            <a:r>
              <a:rPr lang="en-US" sz="1250" dirty="0">
                <a:solidFill>
                  <a:srgbClr val="5B6478"/>
                </a:solidFill>
                <a:latin typeface="Calibri" pitchFamily="34" charset="0"/>
                <a:ea typeface="Calibri" pitchFamily="34" charset="-122"/>
                <a:cs typeface="Calibri" pitchFamily="34" charset="-120"/>
              </a:rPr>
              <a:t>Layer 10</a:t>
            </a:r>
            <a:endParaRPr lang="en-US" sz="1250" dirty="0"/>
          </a:p>
        </p:txBody>
      </p:sp>
      <p:sp>
        <p:nvSpPr>
          <p:cNvPr id="12" name="Shape 10"/>
          <p:cNvSpPr/>
          <p:nvPr/>
        </p:nvSpPr>
        <p:spPr>
          <a:xfrm>
            <a:off x="2651760" y="4315968"/>
            <a:ext cx="4023360" cy="365760"/>
          </a:xfrm>
          <a:prstGeom prst="roundRect">
            <a:avLst>
              <a:gd name="adj" fmla="val 10000"/>
            </a:avLst>
          </a:prstGeom>
          <a:solidFill>
            <a:srgbClr val="7D3C98"/>
          </a:solidFill>
          <a:ln/>
        </p:spPr>
      </p:sp>
      <p:sp>
        <p:nvSpPr>
          <p:cNvPr id="13" name="Text 11"/>
          <p:cNvSpPr txBox="1"/>
          <p:nvPr/>
        </p:nvSpPr>
        <p:spPr>
          <a:xfrm>
            <a:off x="640080" y="4315968"/>
            <a:ext cx="1920240" cy="365760"/>
          </a:xfrm>
          <a:prstGeom prst="rect">
            <a:avLst/>
          </a:prstGeom>
          <a:noFill/>
          <a:ln/>
        </p:spPr>
        <p:txBody>
          <a:bodyPr wrap="square" lIns="0" tIns="0" rIns="0" bIns="0" rtlCol="0" anchor="ctr"/>
          <a:lstStyle/>
          <a:p>
            <a:pPr marL="0" indent="0">
              <a:buNone/>
            </a:pPr>
            <a:r>
              <a:rPr lang="en-US" sz="1250" dirty="0">
                <a:solidFill>
                  <a:srgbClr val="5B6478"/>
                </a:solidFill>
                <a:latin typeface="Calibri" pitchFamily="34" charset="0"/>
                <a:ea typeface="Calibri" pitchFamily="34" charset="-122"/>
                <a:cs typeface="Calibri" pitchFamily="34" charset="-120"/>
              </a:rPr>
              <a:t>Layer 15</a:t>
            </a:r>
            <a:endParaRPr lang="en-US" sz="1250" dirty="0"/>
          </a:p>
        </p:txBody>
      </p:sp>
      <p:sp>
        <p:nvSpPr>
          <p:cNvPr id="14" name="Shape 12"/>
          <p:cNvSpPr/>
          <p:nvPr/>
        </p:nvSpPr>
        <p:spPr>
          <a:xfrm>
            <a:off x="2651760" y="4809744"/>
            <a:ext cx="7498080" cy="365760"/>
          </a:xfrm>
          <a:prstGeom prst="roundRect">
            <a:avLst>
              <a:gd name="adj" fmla="val 10000"/>
            </a:avLst>
          </a:prstGeom>
          <a:solidFill>
            <a:srgbClr val="7D3C98"/>
          </a:solidFill>
          <a:ln/>
        </p:spPr>
      </p:sp>
      <p:sp>
        <p:nvSpPr>
          <p:cNvPr id="15" name="Text 13"/>
          <p:cNvSpPr txBox="1"/>
          <p:nvPr/>
        </p:nvSpPr>
        <p:spPr>
          <a:xfrm>
            <a:off x="640080" y="4809744"/>
            <a:ext cx="1920240" cy="365760"/>
          </a:xfrm>
          <a:prstGeom prst="rect">
            <a:avLst/>
          </a:prstGeom>
          <a:noFill/>
          <a:ln/>
        </p:spPr>
        <p:txBody>
          <a:bodyPr wrap="square" lIns="0" tIns="0" rIns="0" bIns="0" rtlCol="0" anchor="ctr"/>
          <a:lstStyle/>
          <a:p>
            <a:pPr marL="0" indent="0">
              <a:buNone/>
            </a:pPr>
            <a:r>
              <a:rPr lang="en-US" sz="1250" dirty="0">
                <a:solidFill>
                  <a:srgbClr val="5B6478"/>
                </a:solidFill>
                <a:latin typeface="Calibri" pitchFamily="34" charset="0"/>
                <a:ea typeface="Calibri" pitchFamily="34" charset="-122"/>
                <a:cs typeface="Calibri" pitchFamily="34" charset="-120"/>
              </a:rPr>
              <a:t>Layer 20</a:t>
            </a:r>
            <a:endParaRPr lang="en-US" sz="1250" dirty="0"/>
          </a:p>
        </p:txBody>
      </p:sp>
      <p:sp>
        <p:nvSpPr>
          <p:cNvPr id="16" name="Text 14"/>
          <p:cNvSpPr txBox="1"/>
          <p:nvPr/>
        </p:nvSpPr>
        <p:spPr>
          <a:xfrm>
            <a:off x="640080" y="5532120"/>
            <a:ext cx="10911535" cy="548640"/>
          </a:xfrm>
          <a:prstGeom prst="rect">
            <a:avLst/>
          </a:prstGeom>
          <a:noFill/>
          <a:ln/>
        </p:spPr>
        <p:txBody>
          <a:bodyPr wrap="square" lIns="0" tIns="0" rIns="0" bIns="0" rtlCol="0" anchor="t"/>
          <a:lstStyle/>
          <a:p>
            <a:pPr marL="228600" indent="-228600">
              <a:spcAft>
                <a:spcPts val="500"/>
              </a:spcAft>
              <a:buSzPct val="100000"/>
              <a:buChar char="▪"/>
            </a:pPr>
            <a:r>
              <a:rPr lang="en-US" sz="1600" dirty="0">
                <a:solidFill>
                  <a:srgbClr val="1A2238"/>
                </a:solidFill>
                <a:latin typeface="Calibri" pitchFamily="34" charset="0"/>
                <a:ea typeface="Calibri" pitchFamily="34" charset="-122"/>
                <a:cs typeface="Calibri" pitchFamily="34" charset="-120"/>
              </a:rPr>
              <a:t>Tích nhiều Jacobian / weight transformation → gradient phình ra</a:t>
            </a:r>
            <a:endParaRPr lang="en-US" sz="1600" dirty="0"/>
          </a:p>
        </p:txBody>
      </p:sp>
      <p:sp>
        <p:nvSpPr>
          <p:cNvPr id="17" name="Text 15"/>
          <p:cNvSpPr txBox="1"/>
          <p:nvPr/>
        </p:nvSpPr>
        <p:spPr>
          <a:xfrm>
            <a:off x="11185855" y="6446520"/>
            <a:ext cx="731520" cy="274320"/>
          </a:xfrm>
          <a:prstGeom prst="rect">
            <a:avLst/>
          </a:prstGeom>
          <a:noFill/>
          <a:ln/>
        </p:spPr>
        <p:txBody>
          <a:bodyPr wrap="square" lIns="0" tIns="0" rIns="0" bIns="0" rtlCol="0" anchor="ctr"/>
          <a:lstStyle/>
          <a:p>
            <a:pPr marL="0" indent="0" algn="r">
              <a:buNone/>
            </a:pPr>
            <a:r>
              <a:rPr lang="en-US" sz="900" dirty="0">
                <a:solidFill>
                  <a:srgbClr val="5B6478"/>
                </a:solidFill>
                <a:latin typeface="Calibri" pitchFamily="34" charset="0"/>
                <a:ea typeface="Calibri" pitchFamily="34" charset="-122"/>
                <a:cs typeface="Calibri" pitchFamily="34" charset="-120"/>
              </a:rPr>
              <a:t>9/26</a:t>
            </a:r>
            <a:endParaRPr lang="en-US" sz="900" dirty="0"/>
          </a:p>
        </p:txBody>
      </p:sp>
      <p:sp>
        <p:nvSpPr>
          <p:cNvPr id="18" name="Shape 16"/>
          <p:cNvSpPr/>
          <p:nvPr/>
        </p:nvSpPr>
        <p:spPr>
          <a:xfrm>
            <a:off x="610362" y="6473952"/>
            <a:ext cx="59436" cy="59436"/>
          </a:xfrm>
          <a:prstGeom prst="ellipse">
            <a:avLst/>
          </a:prstGeom>
          <a:solidFill>
            <a:srgbClr val="D9DEE8"/>
          </a:solidFill>
          <a:ln/>
        </p:spPr>
      </p:sp>
      <p:sp>
        <p:nvSpPr>
          <p:cNvPr id="19" name="Shape 17"/>
          <p:cNvSpPr/>
          <p:nvPr/>
        </p:nvSpPr>
        <p:spPr>
          <a:xfrm>
            <a:off x="814959" y="6459093"/>
            <a:ext cx="89154" cy="89154"/>
          </a:xfrm>
          <a:prstGeom prst="ellipse">
            <a:avLst/>
          </a:prstGeom>
          <a:solidFill>
            <a:srgbClr val="285AB4"/>
          </a:solidFill>
          <a:ln/>
        </p:spPr>
      </p:sp>
      <p:sp>
        <p:nvSpPr>
          <p:cNvPr id="20" name="Shape 18"/>
          <p:cNvSpPr/>
          <p:nvPr/>
        </p:nvSpPr>
        <p:spPr>
          <a:xfrm>
            <a:off x="1049274" y="6473952"/>
            <a:ext cx="59436" cy="59436"/>
          </a:xfrm>
          <a:prstGeom prst="ellipse">
            <a:avLst/>
          </a:prstGeom>
          <a:solidFill>
            <a:srgbClr val="D9DEE8"/>
          </a:solidFill>
          <a:ln/>
        </p:spPr>
      </p:sp>
      <p:sp>
        <p:nvSpPr>
          <p:cNvPr id="21" name="Shape 19"/>
          <p:cNvSpPr/>
          <p:nvPr/>
        </p:nvSpPr>
        <p:spPr>
          <a:xfrm>
            <a:off x="1268730" y="6473952"/>
            <a:ext cx="59436" cy="59436"/>
          </a:xfrm>
          <a:prstGeom prst="ellipse">
            <a:avLst/>
          </a:prstGeom>
          <a:solidFill>
            <a:srgbClr val="D9DEE8"/>
          </a:solidFill>
          <a:ln/>
        </p:spPr>
      </p:sp>
      <p:sp>
        <p:nvSpPr>
          <p:cNvPr id="22" name="Text 20"/>
          <p:cNvSpPr txBox="1"/>
          <p:nvPr/>
        </p:nvSpPr>
        <p:spPr>
          <a:xfrm>
            <a:off x="1563624" y="6391656"/>
            <a:ext cx="3291840" cy="274320"/>
          </a:xfrm>
          <a:prstGeom prst="rect">
            <a:avLst/>
          </a:prstGeom>
          <a:noFill/>
          <a:ln/>
        </p:spPr>
        <p:txBody>
          <a:bodyPr wrap="square" lIns="0" tIns="0" rIns="0" bIns="0" rtlCol="0" anchor="ctr"/>
          <a:lstStyle/>
          <a:p>
            <a:pPr marL="0" indent="0">
              <a:buNone/>
            </a:pPr>
            <a:r>
              <a:rPr lang="en-US" sz="850" kern="0" spc="50" dirty="0">
                <a:solidFill>
                  <a:srgbClr val="5B6478"/>
                </a:solidFill>
                <a:latin typeface="Calibri" pitchFamily="34" charset="0"/>
                <a:ea typeface="Calibri" pitchFamily="34" charset="-122"/>
                <a:cs typeface="Calibri" pitchFamily="34" charset="-120"/>
              </a:rPr>
              <a:t>VANISHING/EXPLODING &amp; INIT</a:t>
            </a:r>
            <a:endParaRPr lang="en-US" sz="8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txBox="1"/>
          <p:nvPr/>
        </p:nvSpPr>
        <p:spPr>
          <a:xfrm>
            <a:off x="640080" y="457200"/>
            <a:ext cx="9144000" cy="320040"/>
          </a:xfrm>
          <a:prstGeom prst="rect">
            <a:avLst/>
          </a:prstGeom>
          <a:noFill/>
          <a:ln/>
        </p:spPr>
        <p:txBody>
          <a:bodyPr wrap="square" lIns="0" tIns="0" rIns="0" bIns="0" rtlCol="0" anchor="ctr"/>
          <a:lstStyle/>
          <a:p>
            <a:pPr marL="0" indent="0">
              <a:buNone/>
            </a:pPr>
            <a:r>
              <a:rPr lang="en-US" sz="1300" b="1" kern="0" spc="100" dirty="0">
                <a:solidFill>
                  <a:srgbClr val="285AB4"/>
                </a:solidFill>
                <a:latin typeface="Calibri" pitchFamily="34" charset="0"/>
                <a:ea typeface="Calibri" pitchFamily="34" charset="-122"/>
                <a:cs typeface="Calibri" pitchFamily="34" charset="-120"/>
              </a:rPr>
              <a:t>PARAMETER INITIALIZATION</a:t>
            </a:r>
            <a:endParaRPr lang="en-US" sz="1300" dirty="0"/>
          </a:p>
        </p:txBody>
      </p:sp>
      <p:sp>
        <p:nvSpPr>
          <p:cNvPr id="3" name="Text 1"/>
          <p:cNvSpPr txBox="1"/>
          <p:nvPr/>
        </p:nvSpPr>
        <p:spPr>
          <a:xfrm>
            <a:off x="640080" y="749808"/>
            <a:ext cx="10911535" cy="822960"/>
          </a:xfrm>
          <a:prstGeom prst="rect">
            <a:avLst/>
          </a:prstGeom>
          <a:noFill/>
          <a:ln/>
        </p:spPr>
        <p:txBody>
          <a:bodyPr wrap="square" lIns="0" tIns="0" rIns="0" bIns="0" rtlCol="0" anchor="t"/>
          <a:lstStyle/>
          <a:p>
            <a:pPr marL="0" indent="0">
              <a:buNone/>
            </a:pPr>
            <a:r>
              <a:rPr lang="en-US" sz="2900" b="1" dirty="0">
                <a:solidFill>
                  <a:srgbClr val="1A2238"/>
                </a:solidFill>
                <a:latin typeface="Cambria" pitchFamily="34" charset="0"/>
                <a:ea typeface="Cambria" pitchFamily="34" charset="-122"/>
                <a:cs typeface="Cambria" pitchFamily="34" charset="-120"/>
              </a:rPr>
              <a:t>Tại sao không đặt tất cả weight = 0?</a:t>
            </a:r>
            <a:endParaRPr lang="en-US" sz="2900" dirty="0"/>
          </a:p>
        </p:txBody>
      </p:sp>
      <p:sp>
        <p:nvSpPr>
          <p:cNvPr id="4" name="Shape 2"/>
          <p:cNvSpPr/>
          <p:nvPr/>
        </p:nvSpPr>
        <p:spPr>
          <a:xfrm>
            <a:off x="640080" y="1783080"/>
            <a:ext cx="10911535" cy="640080"/>
          </a:xfrm>
          <a:prstGeom prst="roundRect">
            <a:avLst>
              <a:gd name="adj" fmla="val 11429"/>
            </a:avLst>
          </a:prstGeom>
          <a:solidFill>
            <a:srgbClr val="F1F4F9"/>
          </a:solidFill>
          <a:ln w="9525">
            <a:solidFill>
              <a:srgbClr val="D9DEE8"/>
            </a:solidFill>
            <a:prstDash val="solid"/>
          </a:ln>
          <a:effectLst>
            <a:outerShdw blurRad="114300" dist="38100" dir="5400000" algn="bl" rotWithShape="0">
              <a:srgbClr val="1A1A2E">
                <a:alpha val="20000"/>
              </a:srgbClr>
            </a:outerShdw>
          </a:effectLst>
        </p:spPr>
      </p:sp>
      <p:sp>
        <p:nvSpPr>
          <p:cNvPr id="5" name="Text 3"/>
          <p:cNvSpPr txBox="1"/>
          <p:nvPr/>
        </p:nvSpPr>
        <p:spPr>
          <a:xfrm>
            <a:off x="868680" y="1783080"/>
            <a:ext cx="10454335" cy="640080"/>
          </a:xfrm>
          <a:prstGeom prst="rect">
            <a:avLst/>
          </a:prstGeom>
          <a:noFill/>
          <a:ln/>
        </p:spPr>
        <p:txBody>
          <a:bodyPr wrap="square" lIns="0" tIns="0" rIns="0" bIns="0" rtlCol="0" anchor="ctr"/>
          <a:lstStyle/>
          <a:p>
            <a:pPr marL="0" indent="0" algn="ctr">
              <a:buNone/>
            </a:pPr>
            <a:r>
              <a:rPr lang="en-US" sz="1700" dirty="0">
                <a:solidFill>
                  <a:srgbClr val="16213E"/>
                </a:solidFill>
                <a:latin typeface="Cambria Math" pitchFamily="34" charset="0"/>
                <a:ea typeface="Cambria Math" pitchFamily="34" charset="-122"/>
                <a:cs typeface="Cambria Math" pitchFamily="34" charset="-120"/>
              </a:rPr>
              <a:t>W = np.zeros(...)</a:t>
            </a:r>
            <a:endParaRPr lang="en-US" sz="1700" dirty="0"/>
          </a:p>
        </p:txBody>
      </p:sp>
      <p:sp>
        <p:nvSpPr>
          <p:cNvPr id="6" name="Text 4"/>
          <p:cNvSpPr txBox="1"/>
          <p:nvPr/>
        </p:nvSpPr>
        <p:spPr>
          <a:xfrm>
            <a:off x="640080" y="2651760"/>
            <a:ext cx="10911535" cy="2103120"/>
          </a:xfrm>
          <a:prstGeom prst="rect">
            <a:avLst/>
          </a:prstGeom>
          <a:noFill/>
          <a:ln/>
        </p:spPr>
        <p:txBody>
          <a:bodyPr wrap="square" lIns="0" tIns="0" rIns="0" bIns="0" rtlCol="0" anchor="t"/>
          <a:lstStyle/>
          <a:p>
            <a:pPr marL="228600" indent="-228600">
              <a:spcAft>
                <a:spcPts val="1200"/>
              </a:spcAft>
              <a:buSzPct val="100000"/>
              <a:buChar char="▪"/>
            </a:pPr>
            <a:r>
              <a:rPr lang="en-US" sz="1600" dirty="0">
                <a:solidFill>
                  <a:srgbClr val="1A2238"/>
                </a:solidFill>
                <a:latin typeface="Calibri" pitchFamily="34" charset="0"/>
                <a:ea typeface="Calibri" pitchFamily="34" charset="-122"/>
                <a:cs typeface="Calibri" pitchFamily="34" charset="-120"/>
              </a:rPr>
              <a:t>Mọi hidden unit trong một lớp nhận cùng input và cùng weight ⇒ cùng z, cùng a, cùng gradient</a:t>
            </a:r>
            <a:endParaRPr lang="en-US" sz="1600" dirty="0"/>
          </a:p>
          <a:p>
            <a:pPr marL="228600" indent="-228600">
              <a:spcAft>
                <a:spcPts val="1200"/>
              </a:spcAft>
              <a:buSzPct val="100000"/>
              <a:buChar char="▪"/>
            </a:pPr>
            <a:r>
              <a:rPr lang="en-US" sz="1600" dirty="0">
                <a:solidFill>
                  <a:srgbClr val="1A2238"/>
                </a:solidFill>
                <a:latin typeface="Calibri" pitchFamily="34" charset="0"/>
                <a:ea typeface="Calibri" pitchFamily="34" charset="-122"/>
                <a:cs typeface="Calibri" pitchFamily="34" charset="-120"/>
              </a:rPr>
              <a:t>Zero-init KHÔNG PHÁ ĐƯỢC SYMMETRY (failure to break symmetry): các unit luôn giống nhau sau mỗi update</a:t>
            </a:r>
            <a:endParaRPr lang="en-US" sz="1600" dirty="0"/>
          </a:p>
          <a:p>
            <a:pPr marL="228600" indent="-228600">
              <a:spcAft>
                <a:spcPts val="1200"/>
              </a:spcAft>
              <a:buSzPct val="100000"/>
              <a:buChar char="▪"/>
            </a:pPr>
            <a:r>
              <a:rPr lang="en-US" sz="1600" dirty="0">
                <a:solidFill>
                  <a:srgbClr val="1A2238"/>
                </a:solidFill>
                <a:latin typeface="Calibri" pitchFamily="34" charset="0"/>
                <a:ea typeface="Calibri" pitchFamily="34" charset="-122"/>
                <a:cs typeface="Calibri" pitchFamily="34" charset="-120"/>
              </a:rPr>
              <a:t>Vấn đề nằm ở WEIGHT. Bias khởi tạo 0 vẫn chấp nhận được, vì đối xứng đã do weight gây ra</a:t>
            </a:r>
            <a:endParaRPr lang="en-US" sz="1600" dirty="0"/>
          </a:p>
        </p:txBody>
      </p:sp>
      <p:sp>
        <p:nvSpPr>
          <p:cNvPr id="7" name="Text 5"/>
          <p:cNvSpPr txBox="1"/>
          <p:nvPr/>
        </p:nvSpPr>
        <p:spPr>
          <a:xfrm>
            <a:off x="640080" y="5029200"/>
            <a:ext cx="3840480" cy="822960"/>
          </a:xfrm>
          <a:prstGeom prst="rect">
            <a:avLst/>
          </a:prstGeom>
          <a:noFill/>
          <a:ln/>
        </p:spPr>
        <p:txBody>
          <a:bodyPr wrap="square" lIns="0" tIns="0" rIns="0" bIns="0" rtlCol="0" anchor="b"/>
          <a:lstStyle/>
          <a:p>
            <a:pPr marL="0" indent="0" algn="ctr">
              <a:buNone/>
            </a:pPr>
            <a:r>
              <a:rPr lang="en-US" sz="3000" b="1" dirty="0">
                <a:solidFill>
                  <a:srgbClr val="BE3C32"/>
                </a:solidFill>
                <a:latin typeface="Cambria" pitchFamily="34" charset="0"/>
                <a:ea typeface="Cambria" pitchFamily="34" charset="-122"/>
                <a:cs typeface="Cambria" pitchFamily="34" charset="-120"/>
              </a:rPr>
              <a:t>0.0</a:t>
            </a:r>
            <a:endParaRPr lang="en-US" sz="3000" dirty="0"/>
          </a:p>
        </p:txBody>
      </p:sp>
      <p:sp>
        <p:nvSpPr>
          <p:cNvPr id="8" name="Text 6"/>
          <p:cNvSpPr txBox="1"/>
          <p:nvPr/>
        </p:nvSpPr>
        <p:spPr>
          <a:xfrm>
            <a:off x="640080" y="5852160"/>
            <a:ext cx="3840480" cy="548640"/>
          </a:xfrm>
          <a:prstGeom prst="rect">
            <a:avLst/>
          </a:prstGeom>
          <a:noFill/>
          <a:ln/>
        </p:spPr>
        <p:txBody>
          <a:bodyPr wrap="square" lIns="0" tIns="0" rIns="0" bIns="0" rtlCol="0" anchor="t"/>
          <a:lstStyle/>
          <a:p>
            <a:pPr marL="0" indent="0" algn="ctr">
              <a:buNone/>
            </a:pPr>
            <a:r>
              <a:rPr lang="en-US" sz="1100" dirty="0">
                <a:solidFill>
                  <a:srgbClr val="5B6478"/>
                </a:solidFill>
                <a:latin typeface="Calibri" pitchFamily="34" charset="0"/>
                <a:ea typeface="Calibri" pitchFamily="34" charset="-122"/>
                <a:cs typeface="Calibri" pitchFamily="34" charset="-120"/>
              </a:rPr>
              <a:t>Gradient RMS lớp ẩn thứ nhất, tại khởi tạo (Zero-init, 10 hidden layer, ReLU) — test acc = 10.0%</a:t>
            </a:r>
            <a:endParaRPr lang="en-US" sz="1100" dirty="0"/>
          </a:p>
        </p:txBody>
      </p:sp>
      <p:sp>
        <p:nvSpPr>
          <p:cNvPr id="9" name="Text 7"/>
          <p:cNvSpPr txBox="1"/>
          <p:nvPr/>
        </p:nvSpPr>
        <p:spPr>
          <a:xfrm>
            <a:off x="4846320" y="5257800"/>
            <a:ext cx="6705295" cy="1005840"/>
          </a:xfrm>
          <a:prstGeom prst="rect">
            <a:avLst/>
          </a:prstGeom>
          <a:noFill/>
          <a:ln/>
        </p:spPr>
        <p:txBody>
          <a:bodyPr wrap="square" lIns="0" tIns="0" rIns="0" bIns="0" rtlCol="0" anchor="ctr"/>
          <a:lstStyle/>
          <a:p>
            <a:pPr marL="0" indent="0">
              <a:buNone/>
            </a:pPr>
            <a:r>
              <a:rPr lang="en-US" sz="1200" i="1" dirty="0">
                <a:solidFill>
                  <a:srgbClr val="5B6478"/>
                </a:solidFill>
                <a:latin typeface="Calibri" pitchFamily="34" charset="0"/>
                <a:ea typeface="Calibri" pitchFamily="34" charset="-122"/>
                <a:cs typeface="Calibri" pitchFamily="34" charset="-120"/>
              </a:rPr>
              <a:t>Số liệu từ cùng setup Demo (10 hidden layer, ReLU, seed 42) — results/logs/deep_demo_zero.json.</a:t>
            </a:r>
            <a:endParaRPr lang="en-US" sz="1200" dirty="0"/>
          </a:p>
        </p:txBody>
      </p:sp>
      <p:sp>
        <p:nvSpPr>
          <p:cNvPr id="10" name="Text 8"/>
          <p:cNvSpPr txBox="1"/>
          <p:nvPr/>
        </p:nvSpPr>
        <p:spPr>
          <a:xfrm>
            <a:off x="11185855" y="6446520"/>
            <a:ext cx="731520" cy="274320"/>
          </a:xfrm>
          <a:prstGeom prst="rect">
            <a:avLst/>
          </a:prstGeom>
          <a:noFill/>
          <a:ln/>
        </p:spPr>
        <p:txBody>
          <a:bodyPr wrap="square" lIns="0" tIns="0" rIns="0" bIns="0" rtlCol="0" anchor="ctr"/>
          <a:lstStyle/>
          <a:p>
            <a:pPr marL="0" indent="0" algn="r">
              <a:buNone/>
            </a:pPr>
            <a:r>
              <a:rPr lang="en-US" sz="900" dirty="0">
                <a:solidFill>
                  <a:srgbClr val="5B6478"/>
                </a:solidFill>
                <a:latin typeface="Calibri" pitchFamily="34" charset="0"/>
                <a:ea typeface="Calibri" pitchFamily="34" charset="-122"/>
                <a:cs typeface="Calibri" pitchFamily="34" charset="-120"/>
              </a:rPr>
              <a:t>10/26</a:t>
            </a:r>
            <a:endParaRPr lang="en-US" sz="900" dirty="0"/>
          </a:p>
        </p:txBody>
      </p:sp>
      <p:sp>
        <p:nvSpPr>
          <p:cNvPr id="11" name="Shape 9"/>
          <p:cNvSpPr/>
          <p:nvPr/>
        </p:nvSpPr>
        <p:spPr>
          <a:xfrm>
            <a:off x="610362" y="6473952"/>
            <a:ext cx="59436" cy="59436"/>
          </a:xfrm>
          <a:prstGeom prst="ellipse">
            <a:avLst/>
          </a:prstGeom>
          <a:solidFill>
            <a:srgbClr val="D9DEE8"/>
          </a:solidFill>
          <a:ln/>
        </p:spPr>
      </p:sp>
      <p:sp>
        <p:nvSpPr>
          <p:cNvPr id="12" name="Shape 10"/>
          <p:cNvSpPr/>
          <p:nvPr/>
        </p:nvSpPr>
        <p:spPr>
          <a:xfrm>
            <a:off x="814959" y="6459093"/>
            <a:ext cx="89154" cy="89154"/>
          </a:xfrm>
          <a:prstGeom prst="ellipse">
            <a:avLst/>
          </a:prstGeom>
          <a:solidFill>
            <a:srgbClr val="285AB4"/>
          </a:solidFill>
          <a:ln/>
        </p:spPr>
      </p:sp>
      <p:sp>
        <p:nvSpPr>
          <p:cNvPr id="13" name="Shape 11"/>
          <p:cNvSpPr/>
          <p:nvPr/>
        </p:nvSpPr>
        <p:spPr>
          <a:xfrm>
            <a:off x="1049274" y="6473952"/>
            <a:ext cx="59436" cy="59436"/>
          </a:xfrm>
          <a:prstGeom prst="ellipse">
            <a:avLst/>
          </a:prstGeom>
          <a:solidFill>
            <a:srgbClr val="D9DEE8"/>
          </a:solidFill>
          <a:ln/>
        </p:spPr>
      </p:sp>
      <p:sp>
        <p:nvSpPr>
          <p:cNvPr id="14" name="Shape 12"/>
          <p:cNvSpPr/>
          <p:nvPr/>
        </p:nvSpPr>
        <p:spPr>
          <a:xfrm>
            <a:off x="1268730" y="6473952"/>
            <a:ext cx="59436" cy="59436"/>
          </a:xfrm>
          <a:prstGeom prst="ellipse">
            <a:avLst/>
          </a:prstGeom>
          <a:solidFill>
            <a:srgbClr val="D9DEE8"/>
          </a:solidFill>
          <a:ln/>
        </p:spPr>
      </p:sp>
      <p:sp>
        <p:nvSpPr>
          <p:cNvPr id="15" name="Text 13"/>
          <p:cNvSpPr txBox="1"/>
          <p:nvPr/>
        </p:nvSpPr>
        <p:spPr>
          <a:xfrm>
            <a:off x="1563624" y="6391656"/>
            <a:ext cx="3291840" cy="274320"/>
          </a:xfrm>
          <a:prstGeom prst="rect">
            <a:avLst/>
          </a:prstGeom>
          <a:noFill/>
          <a:ln/>
        </p:spPr>
        <p:txBody>
          <a:bodyPr wrap="square" lIns="0" tIns="0" rIns="0" bIns="0" rtlCol="0" anchor="ctr"/>
          <a:lstStyle/>
          <a:p>
            <a:pPr marL="0" indent="0">
              <a:buNone/>
            </a:pPr>
            <a:r>
              <a:rPr lang="en-US" sz="850" kern="0" spc="50" dirty="0">
                <a:solidFill>
                  <a:srgbClr val="5B6478"/>
                </a:solidFill>
                <a:latin typeface="Calibri" pitchFamily="34" charset="0"/>
                <a:ea typeface="Calibri" pitchFamily="34" charset="-122"/>
                <a:cs typeface="Calibri" pitchFamily="34" charset="-120"/>
              </a:rPr>
              <a:t>VANISHING/EXPLODING &amp; INIT</a:t>
            </a:r>
            <a:endParaRPr lang="en-US" sz="8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txBox="1"/>
          <p:nvPr/>
        </p:nvSpPr>
        <p:spPr>
          <a:xfrm>
            <a:off x="640080" y="457200"/>
            <a:ext cx="9144000" cy="320040"/>
          </a:xfrm>
          <a:prstGeom prst="rect">
            <a:avLst/>
          </a:prstGeom>
          <a:noFill/>
          <a:ln/>
        </p:spPr>
        <p:txBody>
          <a:bodyPr wrap="square" lIns="0" tIns="0" rIns="0" bIns="0" rtlCol="0" anchor="ctr"/>
          <a:lstStyle/>
          <a:p>
            <a:pPr marL="0" indent="0">
              <a:buNone/>
            </a:pPr>
            <a:r>
              <a:rPr lang="en-US" sz="1300" b="1" kern="0" spc="100" dirty="0">
                <a:solidFill>
                  <a:srgbClr val="285AB4"/>
                </a:solidFill>
                <a:latin typeface="Calibri" pitchFamily="34" charset="0"/>
                <a:ea typeface="Calibri" pitchFamily="34" charset="-122"/>
                <a:cs typeface="Calibri" pitchFamily="34" charset="-120"/>
              </a:rPr>
              <a:t>PARAMETER INITIALIZATION</a:t>
            </a:r>
            <a:endParaRPr lang="en-US" sz="1300" dirty="0"/>
          </a:p>
        </p:txBody>
      </p:sp>
      <p:sp>
        <p:nvSpPr>
          <p:cNvPr id="3" name="Text 1"/>
          <p:cNvSpPr txBox="1"/>
          <p:nvPr/>
        </p:nvSpPr>
        <p:spPr>
          <a:xfrm>
            <a:off x="640080" y="749808"/>
            <a:ext cx="10911535" cy="822960"/>
          </a:xfrm>
          <a:prstGeom prst="rect">
            <a:avLst/>
          </a:prstGeom>
          <a:noFill/>
          <a:ln/>
        </p:spPr>
        <p:txBody>
          <a:bodyPr wrap="square" lIns="0" tIns="0" rIns="0" bIns="0" rtlCol="0" anchor="t"/>
          <a:lstStyle/>
          <a:p>
            <a:pPr marL="0" indent="0">
              <a:buNone/>
            </a:pPr>
            <a:r>
              <a:rPr lang="en-US" sz="2900" b="1" dirty="0">
                <a:solidFill>
                  <a:srgbClr val="1A2238"/>
                </a:solidFill>
                <a:latin typeface="Cambria" pitchFamily="34" charset="0"/>
                <a:ea typeface="Cambria" pitchFamily="34" charset="-122"/>
                <a:cs typeface="Cambria" pitchFamily="34" charset="-120"/>
              </a:rPr>
              <a:t>Random Initialization</a:t>
            </a:r>
            <a:endParaRPr lang="en-US" sz="2900" dirty="0"/>
          </a:p>
        </p:txBody>
      </p:sp>
      <p:sp>
        <p:nvSpPr>
          <p:cNvPr id="4" name="Shape 2"/>
          <p:cNvSpPr/>
          <p:nvPr/>
        </p:nvSpPr>
        <p:spPr>
          <a:xfrm>
            <a:off x="640080" y="1737360"/>
            <a:ext cx="10911535" cy="640080"/>
          </a:xfrm>
          <a:prstGeom prst="roundRect">
            <a:avLst>
              <a:gd name="adj" fmla="val 11429"/>
            </a:avLst>
          </a:prstGeom>
          <a:solidFill>
            <a:srgbClr val="F1F4F9"/>
          </a:solidFill>
          <a:ln w="9525">
            <a:solidFill>
              <a:srgbClr val="D9DEE8"/>
            </a:solidFill>
            <a:prstDash val="solid"/>
          </a:ln>
          <a:effectLst>
            <a:outerShdw blurRad="114300" dist="38100" dir="5400000" algn="bl" rotWithShape="0">
              <a:srgbClr val="1A1A2E">
                <a:alpha val="20000"/>
              </a:srgbClr>
            </a:outerShdw>
          </a:effectLst>
        </p:spPr>
      </p:sp>
      <p:sp>
        <p:nvSpPr>
          <p:cNvPr id="5" name="Text 3"/>
          <p:cNvSpPr txBox="1"/>
          <p:nvPr/>
        </p:nvSpPr>
        <p:spPr>
          <a:xfrm>
            <a:off x="868680" y="1737360"/>
            <a:ext cx="10454335" cy="640080"/>
          </a:xfrm>
          <a:prstGeom prst="rect">
            <a:avLst/>
          </a:prstGeom>
          <a:noFill/>
          <a:ln/>
        </p:spPr>
        <p:txBody>
          <a:bodyPr wrap="square" lIns="0" tIns="0" rIns="0" bIns="0" rtlCol="0" anchor="ctr"/>
          <a:lstStyle/>
          <a:p>
            <a:pPr marL="0" indent="0" algn="ctr">
              <a:buNone/>
            </a:pPr>
            <a:r>
              <a:rPr lang="en-US" sz="1700" dirty="0">
                <a:solidFill>
                  <a:srgbClr val="16213E"/>
                </a:solidFill>
                <a:latin typeface="Cambria Math" pitchFamily="34" charset="0"/>
                <a:ea typeface="Cambria Math" pitchFamily="34" charset="-122"/>
                <a:cs typeface="Cambria Math" pitchFamily="34" charset="-120"/>
              </a:rPr>
              <a:t>W = np.random.randn(...) × std</a:t>
            </a:r>
            <a:endParaRPr lang="en-US" sz="1700" dirty="0"/>
          </a:p>
        </p:txBody>
      </p:sp>
      <p:sp>
        <p:nvSpPr>
          <p:cNvPr id="6" name="Shape 4"/>
          <p:cNvSpPr/>
          <p:nvPr/>
        </p:nvSpPr>
        <p:spPr>
          <a:xfrm>
            <a:off x="640080" y="2514600"/>
            <a:ext cx="5120640" cy="2880360"/>
          </a:xfrm>
          <a:prstGeom prst="roundRect">
            <a:avLst>
              <a:gd name="adj" fmla="val 2540"/>
            </a:avLst>
          </a:prstGeom>
          <a:solidFill>
            <a:srgbClr val="EAF0FB"/>
          </a:solidFill>
          <a:ln w="12700">
            <a:solidFill>
              <a:srgbClr val="285AB4"/>
            </a:solidFill>
            <a:prstDash val="solid"/>
          </a:ln>
          <a:effectLst>
            <a:outerShdw blurRad="114300" dist="38100" dir="5400000" algn="bl" rotWithShape="0">
              <a:srgbClr val="1A1A2E">
                <a:alpha val="20000"/>
              </a:srgbClr>
            </a:outerShdw>
          </a:effectLst>
        </p:spPr>
      </p:sp>
      <p:sp>
        <p:nvSpPr>
          <p:cNvPr id="7" name="Text 5"/>
          <p:cNvSpPr txBox="1"/>
          <p:nvPr/>
        </p:nvSpPr>
        <p:spPr>
          <a:xfrm>
            <a:off x="914400" y="2715768"/>
            <a:ext cx="4572000" cy="548640"/>
          </a:xfrm>
          <a:prstGeom prst="rect">
            <a:avLst/>
          </a:prstGeom>
          <a:noFill/>
          <a:ln/>
        </p:spPr>
        <p:txBody>
          <a:bodyPr wrap="square" lIns="0" tIns="0" rIns="0" bIns="0" rtlCol="0" anchor="ctr"/>
          <a:lstStyle/>
          <a:p>
            <a:pPr marL="0" indent="0">
              <a:buNone/>
            </a:pPr>
            <a:r>
              <a:rPr lang="en-US" sz="1450" b="1" dirty="0">
                <a:solidFill>
                  <a:srgbClr val="285AB4"/>
                </a:solidFill>
                <a:latin typeface="Cambria" pitchFamily="34" charset="0"/>
                <a:ea typeface="Cambria" pitchFamily="34" charset="-122"/>
                <a:cs typeface="Cambria" pitchFamily="34" charset="-120"/>
              </a:rPr>
              <a:t>std quá NHỎ</a:t>
            </a:r>
            <a:endParaRPr lang="en-US" sz="1450" dirty="0"/>
          </a:p>
        </p:txBody>
      </p:sp>
      <p:sp>
        <p:nvSpPr>
          <p:cNvPr id="8" name="Text 6"/>
          <p:cNvSpPr txBox="1"/>
          <p:nvPr/>
        </p:nvSpPr>
        <p:spPr>
          <a:xfrm>
            <a:off x="914400" y="3383280"/>
            <a:ext cx="4572000" cy="1874520"/>
          </a:xfrm>
          <a:prstGeom prst="rect">
            <a:avLst/>
          </a:prstGeom>
          <a:noFill/>
          <a:ln/>
        </p:spPr>
        <p:txBody>
          <a:bodyPr wrap="square" lIns="0" tIns="0" rIns="0" bIns="0" rtlCol="0" anchor="t"/>
          <a:lstStyle/>
          <a:p>
            <a:pPr marL="228600" indent="-228600">
              <a:spcAft>
                <a:spcPts val="900"/>
              </a:spcAft>
              <a:buSzPct val="100000"/>
              <a:buChar char="▪"/>
            </a:pPr>
            <a:r>
              <a:rPr lang="en-US" sz="1350" dirty="0">
                <a:solidFill>
                  <a:srgbClr val="1A2238"/>
                </a:solidFill>
                <a:latin typeface="Calibri" pitchFamily="34" charset="0"/>
                <a:ea typeface="Calibri" pitchFamily="34" charset="-122"/>
                <a:cs typeface="Calibri" pitchFamily="34" charset="-120"/>
              </a:rPr>
              <a:t>weight rất nhỏ có xu hướng làm co lại scale của pre-activation/activation</a:t>
            </a:r>
            <a:endParaRPr lang="en-US" sz="1350" dirty="0"/>
          </a:p>
          <a:p>
            <a:pPr marL="228600" indent="-228600">
              <a:spcAft>
                <a:spcPts val="900"/>
              </a:spcAft>
              <a:buSzPct val="100000"/>
              <a:buChar char="▪"/>
            </a:pPr>
            <a:r>
              <a:rPr lang="en-US" sz="1350" dirty="0">
                <a:solidFill>
                  <a:srgbClr val="1A2238"/>
                </a:solidFill>
                <a:latin typeface="Calibri" pitchFamily="34" charset="0"/>
                <a:ea typeface="Calibri" pitchFamily="34" charset="-122"/>
                <a:cs typeface="Calibri" pitchFamily="34" charset="-120"/>
              </a:rPr>
              <a:t>→ gradient nhỏ dần qua mỗi lớp</a:t>
            </a:r>
            <a:endParaRPr lang="en-US" sz="1350" dirty="0"/>
          </a:p>
          <a:p>
            <a:pPr marL="228600" indent="-228600">
              <a:spcAft>
                <a:spcPts val="900"/>
              </a:spcAft>
              <a:buSzPct val="100000"/>
              <a:buChar char="▪"/>
            </a:pPr>
            <a:r>
              <a:rPr lang="en-US" sz="1350" dirty="0">
                <a:solidFill>
                  <a:srgbClr val="1A2238"/>
                </a:solidFill>
                <a:latin typeface="Calibri" pitchFamily="34" charset="0"/>
                <a:ea typeface="Calibri" pitchFamily="34" charset="-122"/>
                <a:cs typeface="Calibri" pitchFamily="34" charset="-120"/>
              </a:rPr>
              <a:t>→ có xu hướng VANISHING GRADIENT</a:t>
            </a:r>
            <a:endParaRPr lang="en-US" sz="1350" dirty="0"/>
          </a:p>
        </p:txBody>
      </p:sp>
      <p:sp>
        <p:nvSpPr>
          <p:cNvPr id="9" name="Shape 7"/>
          <p:cNvSpPr/>
          <p:nvPr/>
        </p:nvSpPr>
        <p:spPr>
          <a:xfrm>
            <a:off x="6430975" y="2514600"/>
            <a:ext cx="5120640" cy="2880360"/>
          </a:xfrm>
          <a:prstGeom prst="roundRect">
            <a:avLst>
              <a:gd name="adj" fmla="val 2540"/>
            </a:avLst>
          </a:prstGeom>
          <a:solidFill>
            <a:srgbClr val="F3EAFB"/>
          </a:solidFill>
          <a:ln w="12700">
            <a:solidFill>
              <a:srgbClr val="7D3C98"/>
            </a:solidFill>
            <a:prstDash val="solid"/>
          </a:ln>
          <a:effectLst>
            <a:outerShdw blurRad="114300" dist="38100" dir="5400000" algn="bl" rotWithShape="0">
              <a:srgbClr val="1A1A2E">
                <a:alpha val="20000"/>
              </a:srgbClr>
            </a:outerShdw>
          </a:effectLst>
        </p:spPr>
      </p:sp>
      <p:sp>
        <p:nvSpPr>
          <p:cNvPr id="10" name="Text 8"/>
          <p:cNvSpPr txBox="1"/>
          <p:nvPr/>
        </p:nvSpPr>
        <p:spPr>
          <a:xfrm>
            <a:off x="6705295" y="2715768"/>
            <a:ext cx="4572000" cy="548640"/>
          </a:xfrm>
          <a:prstGeom prst="rect">
            <a:avLst/>
          </a:prstGeom>
          <a:noFill/>
          <a:ln/>
        </p:spPr>
        <p:txBody>
          <a:bodyPr wrap="square" lIns="0" tIns="0" rIns="0" bIns="0" rtlCol="0" anchor="ctr"/>
          <a:lstStyle/>
          <a:p>
            <a:pPr marL="0" indent="0">
              <a:buNone/>
            </a:pPr>
            <a:r>
              <a:rPr lang="en-US" sz="1450" b="1" dirty="0">
                <a:solidFill>
                  <a:srgbClr val="7D3C98"/>
                </a:solidFill>
                <a:latin typeface="Cambria" pitchFamily="34" charset="0"/>
                <a:ea typeface="Cambria" pitchFamily="34" charset="-122"/>
                <a:cs typeface="Cambria" pitchFamily="34" charset="-120"/>
              </a:rPr>
              <a:t>std quá LỚN</a:t>
            </a:r>
            <a:endParaRPr lang="en-US" sz="1450" dirty="0"/>
          </a:p>
        </p:txBody>
      </p:sp>
      <p:sp>
        <p:nvSpPr>
          <p:cNvPr id="11" name="Text 9"/>
          <p:cNvSpPr txBox="1"/>
          <p:nvPr/>
        </p:nvSpPr>
        <p:spPr>
          <a:xfrm>
            <a:off x="6705295" y="3383280"/>
            <a:ext cx="4572000" cy="1874520"/>
          </a:xfrm>
          <a:prstGeom prst="rect">
            <a:avLst/>
          </a:prstGeom>
          <a:noFill/>
          <a:ln/>
        </p:spPr>
        <p:txBody>
          <a:bodyPr wrap="square" lIns="0" tIns="0" rIns="0" bIns="0" rtlCol="0" anchor="t"/>
          <a:lstStyle/>
          <a:p>
            <a:pPr marL="228600" indent="-228600">
              <a:spcAft>
                <a:spcPts val="900"/>
              </a:spcAft>
              <a:buSzPct val="100000"/>
              <a:buChar char="▪"/>
            </a:pPr>
            <a:r>
              <a:rPr lang="en-US" sz="1350" dirty="0">
                <a:solidFill>
                  <a:srgbClr val="1A2238"/>
                </a:solidFill>
                <a:latin typeface="Calibri" pitchFamily="34" charset="0"/>
                <a:ea typeface="Calibri" pitchFamily="34" charset="-122"/>
                <a:cs typeface="Calibri" pitchFamily="34" charset="-120"/>
              </a:rPr>
              <a:t>weight lớn → activation/pre-activation lớn</a:t>
            </a:r>
            <a:endParaRPr lang="en-US" sz="1350" dirty="0"/>
          </a:p>
          <a:p>
            <a:pPr marL="228600" indent="-228600">
              <a:spcAft>
                <a:spcPts val="900"/>
              </a:spcAft>
              <a:buSzPct val="100000"/>
              <a:buChar char="▪"/>
            </a:pPr>
            <a:r>
              <a:rPr lang="en-US" sz="1350" dirty="0">
                <a:solidFill>
                  <a:srgbClr val="1A2238"/>
                </a:solidFill>
                <a:latin typeface="Calibri" pitchFamily="34" charset="0"/>
                <a:ea typeface="Calibri" pitchFamily="34" charset="-122"/>
                <a:cs typeface="Calibri" pitchFamily="34" charset="-120"/>
              </a:rPr>
              <a:t>Trong setup MLP + ReLU đang thí nghiệm: gradient bùng nổ qua các lớp (exploding)</a:t>
            </a:r>
            <a:endParaRPr lang="en-US" sz="1350" dirty="0"/>
          </a:p>
          <a:p>
            <a:pPr marL="228600" indent="-228600">
              <a:spcAft>
                <a:spcPts val="900"/>
              </a:spcAft>
              <a:buSzPct val="100000"/>
              <a:buChar char="▪"/>
            </a:pPr>
            <a:r>
              <a:rPr lang="en-US" sz="1350" dirty="0">
                <a:solidFill>
                  <a:srgbClr val="1A2238"/>
                </a:solidFill>
                <a:latin typeface="Calibri" pitchFamily="34" charset="0"/>
                <a:ea typeface="Calibri" pitchFamily="34" charset="-122"/>
                <a:cs typeface="Calibri" pitchFamily="34" charset="-120"/>
              </a:rPr>
              <a:t>Với sigmoid/tanh: pre-activation dễ bão hoà → derivative ≈ 0 (vanishing)</a:t>
            </a:r>
            <a:endParaRPr lang="en-US" sz="1350" dirty="0"/>
          </a:p>
        </p:txBody>
      </p:sp>
      <p:sp>
        <p:nvSpPr>
          <p:cNvPr id="12" name="Text 10"/>
          <p:cNvSpPr txBox="1"/>
          <p:nvPr/>
        </p:nvSpPr>
        <p:spPr>
          <a:xfrm>
            <a:off x="640080" y="5532120"/>
            <a:ext cx="10911535" cy="822960"/>
          </a:xfrm>
          <a:prstGeom prst="rect">
            <a:avLst/>
          </a:prstGeom>
          <a:noFill/>
          <a:ln/>
        </p:spPr>
        <p:txBody>
          <a:bodyPr wrap="square" lIns="0" tIns="0" rIns="0" bIns="0" rtlCol="0" anchor="t"/>
          <a:lstStyle/>
          <a:p>
            <a:pPr marL="228600" indent="-228600">
              <a:spcAft>
                <a:spcPts val="400"/>
              </a:spcAft>
              <a:buSzPct val="100000"/>
              <a:buChar char="▪"/>
            </a:pPr>
            <a:r>
              <a:rPr lang="en-US" sz="1400" dirty="0">
                <a:solidFill>
                  <a:srgbClr val="1A2238"/>
                </a:solidFill>
                <a:latin typeface="Calibri" pitchFamily="34" charset="0"/>
                <a:ea typeface="Calibri" pitchFamily="34" charset="-122"/>
                <a:cs typeface="Calibri" pitchFamily="34" charset="-120"/>
              </a:rPr>
              <a:t>Std nhỏ → vanishing (đo ở slide 17)</a:t>
            </a:r>
            <a:endParaRPr lang="en-US" sz="1400" dirty="0"/>
          </a:p>
          <a:p>
            <a:pPr marL="228600" indent="-228600">
              <a:spcAft>
                <a:spcPts val="400"/>
              </a:spcAft>
              <a:buSzPct val="100000"/>
              <a:buChar char="▪"/>
            </a:pPr>
            <a:r>
              <a:rPr lang="en-US" sz="1400" dirty="0">
                <a:solidFill>
                  <a:srgbClr val="1A2238"/>
                </a:solidFill>
                <a:latin typeface="Calibri" pitchFamily="34" charset="0"/>
                <a:ea typeface="Calibri" pitchFamily="34" charset="-122"/>
                <a:cs typeface="Calibri" pitchFamily="34" charset="-120"/>
              </a:rPr>
              <a:t>Std lớn → exploding (đo ở slide 17)</a:t>
            </a:r>
            <a:endParaRPr lang="en-US" sz="1400" dirty="0"/>
          </a:p>
        </p:txBody>
      </p:sp>
      <p:sp>
        <p:nvSpPr>
          <p:cNvPr id="13" name="Text 11"/>
          <p:cNvSpPr txBox="1"/>
          <p:nvPr/>
        </p:nvSpPr>
        <p:spPr>
          <a:xfrm>
            <a:off x="11185855" y="6446520"/>
            <a:ext cx="731520" cy="274320"/>
          </a:xfrm>
          <a:prstGeom prst="rect">
            <a:avLst/>
          </a:prstGeom>
          <a:noFill/>
          <a:ln/>
        </p:spPr>
        <p:txBody>
          <a:bodyPr wrap="square" lIns="0" tIns="0" rIns="0" bIns="0" rtlCol="0" anchor="ctr"/>
          <a:lstStyle/>
          <a:p>
            <a:pPr marL="0" indent="0" algn="r">
              <a:buNone/>
            </a:pPr>
            <a:r>
              <a:rPr lang="en-US" sz="900" dirty="0">
                <a:solidFill>
                  <a:srgbClr val="5B6478"/>
                </a:solidFill>
                <a:latin typeface="Calibri" pitchFamily="34" charset="0"/>
                <a:ea typeface="Calibri" pitchFamily="34" charset="-122"/>
                <a:cs typeface="Calibri" pitchFamily="34" charset="-120"/>
              </a:rPr>
              <a:t>11/26</a:t>
            </a:r>
            <a:endParaRPr lang="en-US" sz="900" dirty="0"/>
          </a:p>
        </p:txBody>
      </p:sp>
      <p:sp>
        <p:nvSpPr>
          <p:cNvPr id="14" name="Shape 12"/>
          <p:cNvSpPr/>
          <p:nvPr/>
        </p:nvSpPr>
        <p:spPr>
          <a:xfrm>
            <a:off x="610362" y="6473952"/>
            <a:ext cx="59436" cy="59436"/>
          </a:xfrm>
          <a:prstGeom prst="ellipse">
            <a:avLst/>
          </a:prstGeom>
          <a:solidFill>
            <a:srgbClr val="D9DEE8"/>
          </a:solidFill>
          <a:ln/>
        </p:spPr>
      </p:sp>
      <p:sp>
        <p:nvSpPr>
          <p:cNvPr id="15" name="Shape 13"/>
          <p:cNvSpPr/>
          <p:nvPr/>
        </p:nvSpPr>
        <p:spPr>
          <a:xfrm>
            <a:off x="814959" y="6459093"/>
            <a:ext cx="89154" cy="89154"/>
          </a:xfrm>
          <a:prstGeom prst="ellipse">
            <a:avLst/>
          </a:prstGeom>
          <a:solidFill>
            <a:srgbClr val="285AB4"/>
          </a:solidFill>
          <a:ln/>
        </p:spPr>
      </p:sp>
      <p:sp>
        <p:nvSpPr>
          <p:cNvPr id="16" name="Shape 14"/>
          <p:cNvSpPr/>
          <p:nvPr/>
        </p:nvSpPr>
        <p:spPr>
          <a:xfrm>
            <a:off x="1049274" y="6473952"/>
            <a:ext cx="59436" cy="59436"/>
          </a:xfrm>
          <a:prstGeom prst="ellipse">
            <a:avLst/>
          </a:prstGeom>
          <a:solidFill>
            <a:srgbClr val="D9DEE8"/>
          </a:solidFill>
          <a:ln/>
        </p:spPr>
      </p:sp>
      <p:sp>
        <p:nvSpPr>
          <p:cNvPr id="17" name="Shape 15"/>
          <p:cNvSpPr/>
          <p:nvPr/>
        </p:nvSpPr>
        <p:spPr>
          <a:xfrm>
            <a:off x="1268730" y="6473952"/>
            <a:ext cx="59436" cy="59436"/>
          </a:xfrm>
          <a:prstGeom prst="ellipse">
            <a:avLst/>
          </a:prstGeom>
          <a:solidFill>
            <a:srgbClr val="D9DEE8"/>
          </a:solidFill>
          <a:ln/>
        </p:spPr>
      </p:sp>
      <p:sp>
        <p:nvSpPr>
          <p:cNvPr id="18" name="Text 16"/>
          <p:cNvSpPr txBox="1"/>
          <p:nvPr/>
        </p:nvSpPr>
        <p:spPr>
          <a:xfrm>
            <a:off x="1563624" y="6391656"/>
            <a:ext cx="3291840" cy="274320"/>
          </a:xfrm>
          <a:prstGeom prst="rect">
            <a:avLst/>
          </a:prstGeom>
          <a:noFill/>
          <a:ln/>
        </p:spPr>
        <p:txBody>
          <a:bodyPr wrap="square" lIns="0" tIns="0" rIns="0" bIns="0" rtlCol="0" anchor="ctr"/>
          <a:lstStyle/>
          <a:p>
            <a:pPr marL="0" indent="0">
              <a:buNone/>
            </a:pPr>
            <a:r>
              <a:rPr lang="en-US" sz="850" kern="0" spc="50" dirty="0">
                <a:solidFill>
                  <a:srgbClr val="5B6478"/>
                </a:solidFill>
                <a:latin typeface="Calibri" pitchFamily="34" charset="0"/>
                <a:ea typeface="Calibri" pitchFamily="34" charset="-122"/>
                <a:cs typeface="Calibri" pitchFamily="34" charset="-120"/>
              </a:rPr>
              <a:t>VANISHING/EXPLODING &amp; INIT</a:t>
            </a:r>
            <a:endParaRPr lang="en-US" sz="8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txBox="1"/>
          <p:nvPr/>
        </p:nvSpPr>
        <p:spPr>
          <a:xfrm>
            <a:off x="640080" y="457200"/>
            <a:ext cx="9144000" cy="320040"/>
          </a:xfrm>
          <a:prstGeom prst="rect">
            <a:avLst/>
          </a:prstGeom>
          <a:noFill/>
          <a:ln/>
        </p:spPr>
        <p:txBody>
          <a:bodyPr wrap="square" lIns="0" tIns="0" rIns="0" bIns="0" rtlCol="0" anchor="ctr"/>
          <a:lstStyle/>
          <a:p>
            <a:pPr marL="0" indent="0">
              <a:buNone/>
            </a:pPr>
            <a:r>
              <a:rPr lang="en-US" sz="1300" b="1" kern="0" spc="100" dirty="0">
                <a:solidFill>
                  <a:srgbClr val="285AB4"/>
                </a:solidFill>
                <a:latin typeface="Calibri" pitchFamily="34" charset="0"/>
                <a:ea typeface="Calibri" pitchFamily="34" charset="-122"/>
                <a:cs typeface="Calibri" pitchFamily="34" charset="-120"/>
              </a:rPr>
              <a:t>PARAMETER INITIALIZATION</a:t>
            </a:r>
            <a:endParaRPr lang="en-US" sz="1300" dirty="0"/>
          </a:p>
        </p:txBody>
      </p:sp>
      <p:sp>
        <p:nvSpPr>
          <p:cNvPr id="3" name="Text 1"/>
          <p:cNvSpPr txBox="1"/>
          <p:nvPr/>
        </p:nvSpPr>
        <p:spPr>
          <a:xfrm>
            <a:off x="640080" y="749808"/>
            <a:ext cx="10911535" cy="822960"/>
          </a:xfrm>
          <a:prstGeom prst="rect">
            <a:avLst/>
          </a:prstGeom>
          <a:noFill/>
          <a:ln/>
        </p:spPr>
        <p:txBody>
          <a:bodyPr wrap="square" lIns="0" tIns="0" rIns="0" bIns="0" rtlCol="0" anchor="t"/>
          <a:lstStyle/>
          <a:p>
            <a:pPr marL="0" indent="0">
              <a:buNone/>
            </a:pPr>
            <a:r>
              <a:rPr lang="en-US" sz="2900" b="1" dirty="0">
                <a:solidFill>
                  <a:srgbClr val="1A2238"/>
                </a:solidFill>
                <a:latin typeface="Cambria" pitchFamily="34" charset="0"/>
                <a:ea typeface="Cambria" pitchFamily="34" charset="-122"/>
                <a:cs typeface="Cambria" pitchFamily="34" charset="-120"/>
              </a:rPr>
              <a:t>Xavier / Glorot Initialization</a:t>
            </a:r>
            <a:endParaRPr lang="en-US" sz="2900" dirty="0"/>
          </a:p>
        </p:txBody>
      </p:sp>
      <p:sp>
        <p:nvSpPr>
          <p:cNvPr id="4" name="Shape 2"/>
          <p:cNvSpPr/>
          <p:nvPr/>
        </p:nvSpPr>
        <p:spPr>
          <a:xfrm>
            <a:off x="640080" y="1783080"/>
            <a:ext cx="10911535" cy="777240"/>
          </a:xfrm>
          <a:prstGeom prst="roundRect">
            <a:avLst>
              <a:gd name="adj" fmla="val 9412"/>
            </a:avLst>
          </a:prstGeom>
          <a:solidFill>
            <a:srgbClr val="F1F4F9"/>
          </a:solidFill>
          <a:ln w="9525">
            <a:solidFill>
              <a:srgbClr val="D9DEE8"/>
            </a:solidFill>
            <a:prstDash val="solid"/>
          </a:ln>
          <a:effectLst>
            <a:outerShdw blurRad="114300" dist="38100" dir="5400000" algn="bl" rotWithShape="0">
              <a:srgbClr val="1A1A2E">
                <a:alpha val="20000"/>
              </a:srgbClr>
            </a:outerShdw>
          </a:effectLst>
        </p:spPr>
      </p:sp>
      <p:sp>
        <p:nvSpPr>
          <p:cNvPr id="5" name="Text 3"/>
          <p:cNvSpPr txBox="1"/>
          <p:nvPr/>
        </p:nvSpPr>
        <p:spPr>
          <a:xfrm>
            <a:off x="868680" y="1783080"/>
            <a:ext cx="10454335" cy="777240"/>
          </a:xfrm>
          <a:prstGeom prst="rect">
            <a:avLst/>
          </a:prstGeom>
          <a:noFill/>
          <a:ln/>
        </p:spPr>
        <p:txBody>
          <a:bodyPr wrap="square" lIns="0" tIns="0" rIns="0" bIns="0" rtlCol="0" anchor="ctr"/>
          <a:lstStyle/>
          <a:p>
            <a:pPr marL="0" indent="0" algn="ctr">
              <a:buNone/>
            </a:pPr>
            <a:r>
              <a:rPr lang="en-US" sz="1800" dirty="0">
                <a:solidFill>
                  <a:srgbClr val="16213E"/>
                </a:solidFill>
                <a:latin typeface="Cambria Math" pitchFamily="34" charset="0"/>
                <a:ea typeface="Cambria Math" pitchFamily="34" charset="-122"/>
                <a:cs typeface="Cambria Math" pitchFamily="34" charset="-120"/>
              </a:rPr>
              <a:t>Xavier / Glorot Normal:   Var(W) = 2 / (fan</a:t>
            </a:r>
            <a:r>
              <a:rPr lang="en-US" sz="1800" baseline="-40000" dirty="0">
                <a:solidFill>
                  <a:srgbClr val="16213E"/>
                </a:solidFill>
                <a:latin typeface="Cambria Math" pitchFamily="34" charset="0"/>
                <a:ea typeface="Cambria Math" pitchFamily="34" charset="-122"/>
                <a:cs typeface="Cambria Math" pitchFamily="34" charset="-120"/>
              </a:rPr>
              <a:t>in</a:t>
            </a:r>
            <a:r>
              <a:rPr lang="en-US" sz="1800" dirty="0">
                <a:solidFill>
                  <a:srgbClr val="16213E"/>
                </a:solidFill>
                <a:latin typeface="Cambria Math" pitchFamily="34" charset="0"/>
                <a:ea typeface="Cambria Math" pitchFamily="34" charset="-122"/>
                <a:cs typeface="Cambria Math" pitchFamily="34" charset="-120"/>
              </a:rPr>
              <a:t> + fan</a:t>
            </a:r>
            <a:r>
              <a:rPr lang="en-US" sz="1800" baseline="-40000" dirty="0">
                <a:solidFill>
                  <a:srgbClr val="16213E"/>
                </a:solidFill>
                <a:latin typeface="Cambria Math" pitchFamily="34" charset="0"/>
                <a:ea typeface="Cambria Math" pitchFamily="34" charset="-122"/>
                <a:cs typeface="Cambria Math" pitchFamily="34" charset="-120"/>
              </a:rPr>
              <a:t>out</a:t>
            </a:r>
            <a:r>
              <a:rPr lang="en-US" sz="1800" dirty="0">
                <a:solidFill>
                  <a:srgbClr val="16213E"/>
                </a:solidFill>
                <a:latin typeface="Cambria Math" pitchFamily="34" charset="0"/>
                <a:ea typeface="Cambria Math" pitchFamily="34" charset="-122"/>
                <a:cs typeface="Cambria Math" pitchFamily="34" charset="-120"/>
              </a:rPr>
              <a:t>)</a:t>
            </a:r>
            <a:endParaRPr lang="en-US" sz="1800" dirty="0"/>
          </a:p>
        </p:txBody>
      </p:sp>
      <p:sp>
        <p:nvSpPr>
          <p:cNvPr id="6" name="Text 4"/>
          <p:cNvSpPr txBox="1"/>
          <p:nvPr/>
        </p:nvSpPr>
        <p:spPr>
          <a:xfrm>
            <a:off x="640080" y="2834640"/>
            <a:ext cx="10911535" cy="2377440"/>
          </a:xfrm>
          <a:prstGeom prst="rect">
            <a:avLst/>
          </a:prstGeom>
          <a:noFill/>
          <a:ln/>
        </p:spPr>
        <p:txBody>
          <a:bodyPr wrap="square" lIns="0" tIns="0" rIns="0" bIns="0" rtlCol="0" anchor="t"/>
          <a:lstStyle/>
          <a:p>
            <a:pPr marL="228600" indent="-228600">
              <a:spcAft>
                <a:spcPts val="1200"/>
              </a:spcAft>
              <a:buSzPct val="100000"/>
              <a:buChar char="▪"/>
            </a:pPr>
            <a:r>
              <a:rPr lang="en-US" sz="1700" dirty="0">
                <a:solidFill>
                  <a:srgbClr val="1A2238"/>
                </a:solidFill>
                <a:latin typeface="Calibri" pitchFamily="34" charset="0"/>
                <a:ea typeface="Calibri" pitchFamily="34" charset="-122"/>
                <a:cs typeface="Calibri" pitchFamily="34" charset="-120"/>
              </a:rPr>
              <a:t>Giả định: activation tuyến tính quanh 0, hoặc đối xứng quanh 0 (vd. Tanh)</a:t>
            </a:r>
            <a:endParaRPr lang="en-US" sz="1700" dirty="0"/>
          </a:p>
          <a:p>
            <a:pPr marL="228600" indent="-228600">
              <a:spcAft>
                <a:spcPts val="1200"/>
              </a:spcAft>
              <a:buSzPct val="100000"/>
              <a:buChar char="▪"/>
            </a:pPr>
            <a:r>
              <a:rPr lang="en-US" sz="1700" dirty="0">
                <a:solidFill>
                  <a:srgbClr val="1A2238"/>
                </a:solidFill>
                <a:latin typeface="Calibri" pitchFamily="34" charset="0"/>
                <a:ea typeface="Calibri" pitchFamily="34" charset="-122"/>
                <a:cs typeface="Calibri" pitchFamily="34" charset="-120"/>
              </a:rPr>
              <a:t>Với ReLU: triệt tiêu miền âm → E[a²] giảm xấp xỉ ½ mỗi lớp → variance co dần (khớp slide 24)</a:t>
            </a:r>
            <a:endParaRPr lang="en-US" sz="1700" dirty="0"/>
          </a:p>
          <a:p>
            <a:pPr marL="228600" indent="-228600">
              <a:spcAft>
                <a:spcPts val="1200"/>
              </a:spcAft>
              <a:buSzPct val="100000"/>
              <a:buChar char="▪"/>
            </a:pPr>
            <a:r>
              <a:rPr lang="en-US" sz="1700" dirty="0">
                <a:solidFill>
                  <a:srgbClr val="1A2238"/>
                </a:solidFill>
                <a:latin typeface="Calibri" pitchFamily="34" charset="0"/>
                <a:ea typeface="Calibri" pitchFamily="34" charset="-122"/>
                <a:cs typeface="Calibri" pitchFamily="34" charset="-120"/>
              </a:rPr>
              <a:t>Dạng Normal ở đây; Xavier Uniform cùng variance, phân phối đều</a:t>
            </a:r>
            <a:endParaRPr lang="en-US" sz="1700" dirty="0"/>
          </a:p>
        </p:txBody>
      </p:sp>
      <p:sp>
        <p:nvSpPr>
          <p:cNvPr id="7" name="Text 5"/>
          <p:cNvSpPr txBox="1"/>
          <p:nvPr/>
        </p:nvSpPr>
        <p:spPr>
          <a:xfrm>
            <a:off x="11185855" y="6446520"/>
            <a:ext cx="731520" cy="274320"/>
          </a:xfrm>
          <a:prstGeom prst="rect">
            <a:avLst/>
          </a:prstGeom>
          <a:noFill/>
          <a:ln/>
        </p:spPr>
        <p:txBody>
          <a:bodyPr wrap="square" lIns="0" tIns="0" rIns="0" bIns="0" rtlCol="0" anchor="ctr"/>
          <a:lstStyle/>
          <a:p>
            <a:pPr marL="0" indent="0" algn="r">
              <a:buNone/>
            </a:pPr>
            <a:r>
              <a:rPr lang="en-US" sz="900" dirty="0">
                <a:solidFill>
                  <a:srgbClr val="5B6478"/>
                </a:solidFill>
                <a:latin typeface="Calibri" pitchFamily="34" charset="0"/>
                <a:ea typeface="Calibri" pitchFamily="34" charset="-122"/>
                <a:cs typeface="Calibri" pitchFamily="34" charset="-120"/>
              </a:rPr>
              <a:t>12/26</a:t>
            </a:r>
            <a:endParaRPr lang="en-US" sz="900" dirty="0"/>
          </a:p>
        </p:txBody>
      </p:sp>
      <p:sp>
        <p:nvSpPr>
          <p:cNvPr id="8" name="Shape 6"/>
          <p:cNvSpPr/>
          <p:nvPr/>
        </p:nvSpPr>
        <p:spPr>
          <a:xfrm>
            <a:off x="610362" y="6473952"/>
            <a:ext cx="59436" cy="59436"/>
          </a:xfrm>
          <a:prstGeom prst="ellipse">
            <a:avLst/>
          </a:prstGeom>
          <a:solidFill>
            <a:srgbClr val="D9DEE8"/>
          </a:solidFill>
          <a:ln/>
        </p:spPr>
      </p:sp>
      <p:sp>
        <p:nvSpPr>
          <p:cNvPr id="9" name="Shape 7"/>
          <p:cNvSpPr/>
          <p:nvPr/>
        </p:nvSpPr>
        <p:spPr>
          <a:xfrm>
            <a:off x="814959" y="6459093"/>
            <a:ext cx="89154" cy="89154"/>
          </a:xfrm>
          <a:prstGeom prst="ellipse">
            <a:avLst/>
          </a:prstGeom>
          <a:solidFill>
            <a:srgbClr val="285AB4"/>
          </a:solidFill>
          <a:ln/>
        </p:spPr>
      </p:sp>
      <p:sp>
        <p:nvSpPr>
          <p:cNvPr id="10" name="Shape 8"/>
          <p:cNvSpPr/>
          <p:nvPr/>
        </p:nvSpPr>
        <p:spPr>
          <a:xfrm>
            <a:off x="1049274" y="6473952"/>
            <a:ext cx="59436" cy="59436"/>
          </a:xfrm>
          <a:prstGeom prst="ellipse">
            <a:avLst/>
          </a:prstGeom>
          <a:solidFill>
            <a:srgbClr val="D9DEE8"/>
          </a:solidFill>
          <a:ln/>
        </p:spPr>
      </p:sp>
      <p:sp>
        <p:nvSpPr>
          <p:cNvPr id="11" name="Shape 9"/>
          <p:cNvSpPr/>
          <p:nvPr/>
        </p:nvSpPr>
        <p:spPr>
          <a:xfrm>
            <a:off x="1268730" y="6473952"/>
            <a:ext cx="59436" cy="59436"/>
          </a:xfrm>
          <a:prstGeom prst="ellipse">
            <a:avLst/>
          </a:prstGeom>
          <a:solidFill>
            <a:srgbClr val="D9DEE8"/>
          </a:solidFill>
          <a:ln/>
        </p:spPr>
      </p:sp>
      <p:sp>
        <p:nvSpPr>
          <p:cNvPr id="12" name="Text 10"/>
          <p:cNvSpPr txBox="1"/>
          <p:nvPr/>
        </p:nvSpPr>
        <p:spPr>
          <a:xfrm>
            <a:off x="1563624" y="6391656"/>
            <a:ext cx="3291840" cy="274320"/>
          </a:xfrm>
          <a:prstGeom prst="rect">
            <a:avLst/>
          </a:prstGeom>
          <a:noFill/>
          <a:ln/>
        </p:spPr>
        <p:txBody>
          <a:bodyPr wrap="square" lIns="0" tIns="0" rIns="0" bIns="0" rtlCol="0" anchor="ctr"/>
          <a:lstStyle/>
          <a:p>
            <a:pPr marL="0" indent="0">
              <a:buNone/>
            </a:pPr>
            <a:r>
              <a:rPr lang="en-US" sz="850" kern="0" spc="50" dirty="0">
                <a:solidFill>
                  <a:srgbClr val="5B6478"/>
                </a:solidFill>
                <a:latin typeface="Calibri" pitchFamily="34" charset="0"/>
                <a:ea typeface="Calibri" pitchFamily="34" charset="-122"/>
                <a:cs typeface="Calibri" pitchFamily="34" charset="-120"/>
              </a:rPr>
              <a:t>VANISHING/EXPLODING &amp; INIT</a:t>
            </a:r>
            <a:endParaRPr lang="en-US" sz="8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txBox="1"/>
          <p:nvPr/>
        </p:nvSpPr>
        <p:spPr>
          <a:xfrm>
            <a:off x="640080" y="457200"/>
            <a:ext cx="9144000" cy="320040"/>
          </a:xfrm>
          <a:prstGeom prst="rect">
            <a:avLst/>
          </a:prstGeom>
          <a:noFill/>
          <a:ln/>
        </p:spPr>
        <p:txBody>
          <a:bodyPr wrap="square" lIns="0" tIns="0" rIns="0" bIns="0" rtlCol="0" anchor="ctr"/>
          <a:lstStyle/>
          <a:p>
            <a:pPr marL="0" indent="0">
              <a:buNone/>
            </a:pPr>
            <a:r>
              <a:rPr lang="en-US" sz="1300" b="1" kern="0" spc="100" dirty="0">
                <a:solidFill>
                  <a:srgbClr val="285AB4"/>
                </a:solidFill>
                <a:latin typeface="Calibri" pitchFamily="34" charset="0"/>
                <a:ea typeface="Calibri" pitchFamily="34" charset="-122"/>
                <a:cs typeface="Calibri" pitchFamily="34" charset="-120"/>
              </a:rPr>
              <a:t>PARAMETER INITIALIZATION</a:t>
            </a:r>
            <a:endParaRPr lang="en-US" sz="1300" dirty="0"/>
          </a:p>
        </p:txBody>
      </p:sp>
      <p:sp>
        <p:nvSpPr>
          <p:cNvPr id="3" name="Text 1"/>
          <p:cNvSpPr txBox="1"/>
          <p:nvPr/>
        </p:nvSpPr>
        <p:spPr>
          <a:xfrm>
            <a:off x="640080" y="749808"/>
            <a:ext cx="10911535" cy="822960"/>
          </a:xfrm>
          <a:prstGeom prst="rect">
            <a:avLst/>
          </a:prstGeom>
          <a:noFill/>
          <a:ln/>
        </p:spPr>
        <p:txBody>
          <a:bodyPr wrap="square" lIns="0" tIns="0" rIns="0" bIns="0" rtlCol="0" anchor="t"/>
          <a:lstStyle/>
          <a:p>
            <a:pPr marL="0" indent="0">
              <a:buNone/>
            </a:pPr>
            <a:r>
              <a:rPr lang="en-US" sz="2900" b="1" dirty="0">
                <a:solidFill>
                  <a:srgbClr val="1A2238"/>
                </a:solidFill>
                <a:latin typeface="Cambria" pitchFamily="34" charset="0"/>
                <a:ea typeface="Cambria" pitchFamily="34" charset="-122"/>
                <a:cs typeface="Cambria" pitchFamily="34" charset="-120"/>
              </a:rPr>
              <a:t>He / Kaiming Initialization</a:t>
            </a:r>
            <a:endParaRPr lang="en-US" sz="2900" dirty="0"/>
          </a:p>
        </p:txBody>
      </p:sp>
      <p:sp>
        <p:nvSpPr>
          <p:cNvPr id="4" name="Shape 2"/>
          <p:cNvSpPr/>
          <p:nvPr/>
        </p:nvSpPr>
        <p:spPr>
          <a:xfrm>
            <a:off x="640080" y="1783080"/>
            <a:ext cx="10911535" cy="777240"/>
          </a:xfrm>
          <a:prstGeom prst="roundRect">
            <a:avLst>
              <a:gd name="adj" fmla="val 9412"/>
            </a:avLst>
          </a:prstGeom>
          <a:solidFill>
            <a:srgbClr val="F1F4F9"/>
          </a:solidFill>
          <a:ln w="9525">
            <a:solidFill>
              <a:srgbClr val="D9DEE8"/>
            </a:solidFill>
            <a:prstDash val="solid"/>
          </a:ln>
          <a:effectLst>
            <a:outerShdw blurRad="114300" dist="38100" dir="5400000" algn="bl" rotWithShape="0">
              <a:srgbClr val="1A1A2E">
                <a:alpha val="20000"/>
              </a:srgbClr>
            </a:outerShdw>
          </a:effectLst>
        </p:spPr>
      </p:sp>
      <p:sp>
        <p:nvSpPr>
          <p:cNvPr id="5" name="Text 3"/>
          <p:cNvSpPr txBox="1"/>
          <p:nvPr/>
        </p:nvSpPr>
        <p:spPr>
          <a:xfrm>
            <a:off x="868680" y="1783080"/>
            <a:ext cx="10454335" cy="777240"/>
          </a:xfrm>
          <a:prstGeom prst="rect">
            <a:avLst/>
          </a:prstGeom>
          <a:noFill/>
          <a:ln/>
        </p:spPr>
        <p:txBody>
          <a:bodyPr wrap="square" lIns="0" tIns="0" rIns="0" bIns="0" rtlCol="0" anchor="ctr"/>
          <a:lstStyle/>
          <a:p>
            <a:pPr marL="0" indent="0" algn="ctr">
              <a:buNone/>
            </a:pPr>
            <a:r>
              <a:rPr lang="en-US" sz="1800" dirty="0">
                <a:solidFill>
                  <a:srgbClr val="16213E"/>
                </a:solidFill>
                <a:latin typeface="Cambria Math" pitchFamily="34" charset="0"/>
                <a:ea typeface="Cambria Math" pitchFamily="34" charset="-122"/>
                <a:cs typeface="Cambria Math" pitchFamily="34" charset="-120"/>
              </a:rPr>
              <a:t>He/Kaiming Normal (ReLU):   W</a:t>
            </a:r>
            <a:r>
              <a:rPr lang="en-US" sz="1800" baseline="-40000" dirty="0">
                <a:solidFill>
                  <a:srgbClr val="16213E"/>
                </a:solidFill>
                <a:latin typeface="Cambria Math" pitchFamily="34" charset="0"/>
                <a:ea typeface="Cambria Math" pitchFamily="34" charset="-122"/>
                <a:cs typeface="Cambria Math" pitchFamily="34" charset="-120"/>
              </a:rPr>
              <a:t>ij</a:t>
            </a:r>
            <a:r>
              <a:rPr lang="en-US" sz="1800" dirty="0">
                <a:solidFill>
                  <a:srgbClr val="16213E"/>
                </a:solidFill>
                <a:latin typeface="Cambria Math" pitchFamily="34" charset="0"/>
                <a:ea typeface="Cambria Math" pitchFamily="34" charset="-122"/>
                <a:cs typeface="Cambria Math" pitchFamily="34" charset="-120"/>
              </a:rPr>
              <a:t> ~ N(0, 2/n</a:t>
            </a:r>
            <a:r>
              <a:rPr lang="en-US" sz="1800" baseline="-40000" dirty="0">
                <a:solidFill>
                  <a:srgbClr val="16213E"/>
                </a:solidFill>
                <a:latin typeface="Cambria Math" pitchFamily="34" charset="0"/>
                <a:ea typeface="Cambria Math" pitchFamily="34" charset="-122"/>
                <a:cs typeface="Cambria Math" pitchFamily="34" charset="-120"/>
              </a:rPr>
              <a:t>in</a:t>
            </a:r>
            <a:r>
              <a:rPr lang="en-US" sz="1800" dirty="0">
                <a:solidFill>
                  <a:srgbClr val="16213E"/>
                </a:solidFill>
                <a:latin typeface="Cambria Math" pitchFamily="34" charset="0"/>
                <a:ea typeface="Cambria Math" pitchFamily="34" charset="-122"/>
                <a:cs typeface="Cambria Math" pitchFamily="34" charset="-120"/>
              </a:rPr>
              <a:t>)</a:t>
            </a:r>
            <a:endParaRPr lang="en-US" sz="1800" dirty="0"/>
          </a:p>
        </p:txBody>
      </p:sp>
      <p:sp>
        <p:nvSpPr>
          <p:cNvPr id="6" name="Text 4"/>
          <p:cNvSpPr txBox="1"/>
          <p:nvPr/>
        </p:nvSpPr>
        <p:spPr>
          <a:xfrm>
            <a:off x="640080" y="2834640"/>
            <a:ext cx="10911535" cy="2194560"/>
          </a:xfrm>
          <a:prstGeom prst="rect">
            <a:avLst/>
          </a:prstGeom>
          <a:noFill/>
          <a:ln/>
        </p:spPr>
        <p:txBody>
          <a:bodyPr wrap="square" lIns="0" tIns="0" rIns="0" bIns="0" rtlCol="0" anchor="t"/>
          <a:lstStyle/>
          <a:p>
            <a:pPr marL="228600" indent="-228600">
              <a:buSzPct val="100000"/>
              <a:buChar char="▪"/>
            </a:pPr>
            <a:r>
              <a:rPr lang="en-US" sz="1800" dirty="0">
                <a:solidFill>
                  <a:srgbClr val="1A2238"/>
                </a:solidFill>
                <a:latin typeface="Calibri" pitchFamily="34" charset="0"/>
                <a:ea typeface="Calibri" pitchFamily="34" charset="-122"/>
                <a:cs typeface="Calibri" pitchFamily="34" charset="-120"/>
              </a:rPr>
              <a:t>ReLU làm giảm second moment E[a²]; He bù lại bằng scale 2 / n</a:t>
            </a:r>
            <a:r>
              <a:rPr lang="en-US" sz="1800" baseline="-40000" dirty="0">
                <a:solidFill>
                  <a:srgbClr val="1A2238"/>
                </a:solidFill>
                <a:latin typeface="Calibri" pitchFamily="34" charset="0"/>
                <a:ea typeface="Calibri" pitchFamily="34" charset="-122"/>
                <a:cs typeface="Calibri" pitchFamily="34" charset="-120"/>
              </a:rPr>
              <a:t>in</a:t>
            </a:r>
            <a:endParaRPr lang="en-US" sz="1800" dirty="0"/>
          </a:p>
          <a:p>
            <a:pPr marL="228600" indent="-228600">
              <a:spcAft>
                <a:spcPts val="1400"/>
              </a:spcAft>
              <a:buSzPct val="100000"/>
              <a:buChar char="▪"/>
            </a:pPr>
            <a:r>
              <a:rPr lang="en-US" sz="1800" dirty="0">
                <a:solidFill>
                  <a:srgbClr val="1A2238"/>
                </a:solidFill>
                <a:latin typeface="Calibri" pitchFamily="34" charset="0"/>
                <a:ea typeface="Calibri" pitchFamily="34" charset="-122"/>
                <a:cs typeface="Calibri" pitchFamily="34" charset="-120"/>
              </a:rPr>
              <a:t>Chính xác hơn: kiểm soát E[a²], không phải variance (ReLU không zero-centered)</a:t>
            </a:r>
            <a:endParaRPr lang="en-US" sz="1800" dirty="0"/>
          </a:p>
        </p:txBody>
      </p:sp>
      <p:sp>
        <p:nvSpPr>
          <p:cNvPr id="7" name="Text 5"/>
          <p:cNvSpPr txBox="1"/>
          <p:nvPr/>
        </p:nvSpPr>
        <p:spPr>
          <a:xfrm>
            <a:off x="11185855" y="6446520"/>
            <a:ext cx="731520" cy="274320"/>
          </a:xfrm>
          <a:prstGeom prst="rect">
            <a:avLst/>
          </a:prstGeom>
          <a:noFill/>
          <a:ln/>
        </p:spPr>
        <p:txBody>
          <a:bodyPr wrap="square" lIns="0" tIns="0" rIns="0" bIns="0" rtlCol="0" anchor="ctr"/>
          <a:lstStyle/>
          <a:p>
            <a:pPr marL="0" indent="0" algn="r">
              <a:buNone/>
            </a:pPr>
            <a:r>
              <a:rPr lang="en-US" sz="900" dirty="0">
                <a:solidFill>
                  <a:srgbClr val="5B6478"/>
                </a:solidFill>
                <a:latin typeface="Calibri" pitchFamily="34" charset="0"/>
                <a:ea typeface="Calibri" pitchFamily="34" charset="-122"/>
                <a:cs typeface="Calibri" pitchFamily="34" charset="-120"/>
              </a:rPr>
              <a:t>13/26</a:t>
            </a:r>
            <a:endParaRPr lang="en-US" sz="900" dirty="0"/>
          </a:p>
        </p:txBody>
      </p:sp>
      <p:sp>
        <p:nvSpPr>
          <p:cNvPr id="8" name="Shape 6"/>
          <p:cNvSpPr/>
          <p:nvPr/>
        </p:nvSpPr>
        <p:spPr>
          <a:xfrm>
            <a:off x="610362" y="6473952"/>
            <a:ext cx="59436" cy="59436"/>
          </a:xfrm>
          <a:prstGeom prst="ellipse">
            <a:avLst/>
          </a:prstGeom>
          <a:solidFill>
            <a:srgbClr val="D9DEE8"/>
          </a:solidFill>
          <a:ln/>
        </p:spPr>
      </p:sp>
      <p:sp>
        <p:nvSpPr>
          <p:cNvPr id="9" name="Shape 7"/>
          <p:cNvSpPr/>
          <p:nvPr/>
        </p:nvSpPr>
        <p:spPr>
          <a:xfrm>
            <a:off x="814959" y="6459093"/>
            <a:ext cx="89154" cy="89154"/>
          </a:xfrm>
          <a:prstGeom prst="ellipse">
            <a:avLst/>
          </a:prstGeom>
          <a:solidFill>
            <a:srgbClr val="285AB4"/>
          </a:solidFill>
          <a:ln/>
        </p:spPr>
      </p:sp>
      <p:sp>
        <p:nvSpPr>
          <p:cNvPr id="10" name="Shape 8"/>
          <p:cNvSpPr/>
          <p:nvPr/>
        </p:nvSpPr>
        <p:spPr>
          <a:xfrm>
            <a:off x="1049274" y="6473952"/>
            <a:ext cx="59436" cy="59436"/>
          </a:xfrm>
          <a:prstGeom prst="ellipse">
            <a:avLst/>
          </a:prstGeom>
          <a:solidFill>
            <a:srgbClr val="D9DEE8"/>
          </a:solidFill>
          <a:ln/>
        </p:spPr>
      </p:sp>
      <p:sp>
        <p:nvSpPr>
          <p:cNvPr id="11" name="Shape 9"/>
          <p:cNvSpPr/>
          <p:nvPr/>
        </p:nvSpPr>
        <p:spPr>
          <a:xfrm>
            <a:off x="1268730" y="6473952"/>
            <a:ext cx="59436" cy="59436"/>
          </a:xfrm>
          <a:prstGeom prst="ellipse">
            <a:avLst/>
          </a:prstGeom>
          <a:solidFill>
            <a:srgbClr val="D9DEE8"/>
          </a:solidFill>
          <a:ln/>
        </p:spPr>
      </p:sp>
      <p:sp>
        <p:nvSpPr>
          <p:cNvPr id="12" name="Text 10"/>
          <p:cNvSpPr txBox="1"/>
          <p:nvPr/>
        </p:nvSpPr>
        <p:spPr>
          <a:xfrm>
            <a:off x="1563624" y="6391656"/>
            <a:ext cx="3291840" cy="274320"/>
          </a:xfrm>
          <a:prstGeom prst="rect">
            <a:avLst/>
          </a:prstGeom>
          <a:noFill/>
          <a:ln/>
        </p:spPr>
        <p:txBody>
          <a:bodyPr wrap="square" lIns="0" tIns="0" rIns="0" bIns="0" rtlCol="0" anchor="ctr"/>
          <a:lstStyle/>
          <a:p>
            <a:pPr marL="0" indent="0">
              <a:buNone/>
            </a:pPr>
            <a:r>
              <a:rPr lang="en-US" sz="850" kern="0" spc="50" dirty="0">
                <a:solidFill>
                  <a:srgbClr val="5B6478"/>
                </a:solidFill>
                <a:latin typeface="Calibri" pitchFamily="34" charset="0"/>
                <a:ea typeface="Calibri" pitchFamily="34" charset="-122"/>
                <a:cs typeface="Calibri" pitchFamily="34" charset="-120"/>
              </a:rPr>
              <a:t>VANISHING/EXPLODING &amp; INIT</a:t>
            </a:r>
            <a:endParaRPr lang="en-US" sz="8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txBox="1"/>
          <p:nvPr/>
        </p:nvSpPr>
        <p:spPr>
          <a:xfrm>
            <a:off x="640080" y="457200"/>
            <a:ext cx="9144000" cy="320040"/>
          </a:xfrm>
          <a:prstGeom prst="rect">
            <a:avLst/>
          </a:prstGeom>
          <a:noFill/>
          <a:ln/>
        </p:spPr>
        <p:txBody>
          <a:bodyPr wrap="square" lIns="0" tIns="0" rIns="0" bIns="0" rtlCol="0" anchor="ctr"/>
          <a:lstStyle/>
          <a:p>
            <a:pPr marL="0" indent="0">
              <a:buNone/>
            </a:pPr>
            <a:r>
              <a:rPr lang="en-US" sz="1300" b="1" kern="0" spc="100" dirty="0">
                <a:solidFill>
                  <a:srgbClr val="285AB4"/>
                </a:solidFill>
                <a:latin typeface="Calibri" pitchFamily="34" charset="0"/>
                <a:ea typeface="Calibri" pitchFamily="34" charset="-122"/>
                <a:cs typeface="Calibri" pitchFamily="34" charset="-120"/>
              </a:rPr>
              <a:t>PARAMETER INITIALIZATION</a:t>
            </a:r>
            <a:endParaRPr lang="en-US" sz="1300" dirty="0"/>
          </a:p>
        </p:txBody>
      </p:sp>
      <p:sp>
        <p:nvSpPr>
          <p:cNvPr id="3" name="Text 1"/>
          <p:cNvSpPr txBox="1"/>
          <p:nvPr/>
        </p:nvSpPr>
        <p:spPr>
          <a:xfrm>
            <a:off x="640080" y="749808"/>
            <a:ext cx="10911535" cy="822960"/>
          </a:xfrm>
          <a:prstGeom prst="rect">
            <a:avLst/>
          </a:prstGeom>
          <a:noFill/>
          <a:ln/>
        </p:spPr>
        <p:txBody>
          <a:bodyPr wrap="square" lIns="0" tIns="0" rIns="0" bIns="0" rtlCol="0" anchor="t"/>
          <a:lstStyle/>
          <a:p>
            <a:pPr marL="0" indent="0">
              <a:buNone/>
            </a:pPr>
            <a:r>
              <a:rPr lang="en-US" sz="2900" b="1" dirty="0">
                <a:solidFill>
                  <a:srgbClr val="1A2238"/>
                </a:solidFill>
                <a:latin typeface="Cambria" pitchFamily="34" charset="0"/>
                <a:ea typeface="Cambria" pitchFamily="34" charset="-122"/>
                <a:cs typeface="Cambria" pitchFamily="34" charset="-120"/>
              </a:rPr>
              <a:t>So sánh các phương pháp khởi tạo</a:t>
            </a:r>
            <a:endParaRPr lang="en-US" sz="2900" dirty="0"/>
          </a:p>
        </p:txBody>
      </p:sp>
      <p:graphicFrame>
        <p:nvGraphicFramePr>
          <p:cNvPr id="15" name="Table 0"/>
          <p:cNvGraphicFramePr>
            <a:graphicFrameLocks noGrp="1"/>
          </p:cNvGraphicFramePr>
          <p:nvPr>
            <p:extLst>
              <p:ext uri="{D42A27DB-BD31-4B8C-83A1-F6EECF244321}">
                <p14:modId xmlns:p14="http://schemas.microsoft.com/office/powerpoint/2010/main" val="1579011935"/>
              </p:ext>
            </p:extLst>
          </p:nvPr>
        </p:nvGraphicFramePr>
        <p:xfrm>
          <a:off x="640080" y="1874520"/>
          <a:ext cx="10908792" cy="2651760"/>
        </p:xfrm>
        <a:graphic>
          <a:graphicData uri="http://schemas.openxmlformats.org/drawingml/2006/table">
            <a:tbl>
              <a:tblPr/>
              <a:tblGrid>
                <a:gridCol w="2103120">
                  <a:extLst>
                    <a:ext uri="{9D8B030D-6E8A-4147-A177-3AD203B41FA5}">
                      <a16:colId xmlns:a16="http://schemas.microsoft.com/office/drawing/2014/main" val="20000"/>
                    </a:ext>
                  </a:extLst>
                </a:gridCol>
                <a:gridCol w="2514600">
                  <a:extLst>
                    <a:ext uri="{9D8B030D-6E8A-4147-A177-3AD203B41FA5}">
                      <a16:colId xmlns:a16="http://schemas.microsoft.com/office/drawing/2014/main" val="20001"/>
                    </a:ext>
                  </a:extLst>
                </a:gridCol>
                <a:gridCol w="2148840">
                  <a:extLst>
                    <a:ext uri="{9D8B030D-6E8A-4147-A177-3AD203B41FA5}">
                      <a16:colId xmlns:a16="http://schemas.microsoft.com/office/drawing/2014/main" val="20002"/>
                    </a:ext>
                  </a:extLst>
                </a:gridCol>
                <a:gridCol w="4142232">
                  <a:extLst>
                    <a:ext uri="{9D8B030D-6E8A-4147-A177-3AD203B41FA5}">
                      <a16:colId xmlns:a16="http://schemas.microsoft.com/office/drawing/2014/main" val="20003"/>
                    </a:ext>
                  </a:extLst>
                </a:gridCol>
              </a:tblGrid>
              <a:tr h="530352">
                <a:tc>
                  <a:txBody>
                    <a:bodyPr/>
                    <a:lstStyle/>
                    <a:p>
                      <a:pPr marL="0" indent="0">
                        <a:buNone/>
                      </a:pPr>
                      <a:r>
                        <a:rPr lang="en-US" sz="1300" b="1" dirty="0">
                          <a:solidFill>
                            <a:srgbClr val="FFFFFF"/>
                          </a:solidFill>
                        </a:rPr>
                        <a:t>Initialization</a:t>
                      </a:r>
                      <a:endParaRPr lang="en-US" sz="1300" dirty="0"/>
                    </a:p>
                  </a:txBody>
                  <a:tcPr>
                    <a:lnL w="6350" cap="flat" cmpd="sng" algn="ctr">
                      <a:solidFill>
                        <a:srgbClr val="D9DEE8"/>
                      </a:solidFill>
                      <a:prstDash val="solid"/>
                      <a:round/>
                      <a:headEnd type="none" w="med" len="med"/>
                      <a:tailEnd type="none" w="med" len="med"/>
                    </a:lnL>
                    <a:lnR w="6350" cap="flat" cmpd="sng" algn="ctr">
                      <a:solidFill>
                        <a:srgbClr val="D9DEE8"/>
                      </a:solidFill>
                      <a:prstDash val="solid"/>
                      <a:round/>
                      <a:headEnd type="none" w="med" len="med"/>
                      <a:tailEnd type="none" w="med" len="med"/>
                    </a:lnR>
                    <a:lnT w="6350" cap="flat" cmpd="sng" algn="ctr">
                      <a:solidFill>
                        <a:srgbClr val="D9DEE8"/>
                      </a:solidFill>
                      <a:prstDash val="solid"/>
                      <a:round/>
                      <a:headEnd type="none" w="med" len="med"/>
                      <a:tailEnd type="none" w="med" len="med"/>
                    </a:lnT>
                    <a:lnB w="6350" cap="flat" cmpd="sng" algn="ctr">
                      <a:solidFill>
                        <a:srgbClr val="D9DEE8"/>
                      </a:solidFill>
                      <a:prstDash val="solid"/>
                      <a:round/>
                      <a:headEnd type="none" w="med" len="med"/>
                      <a:tailEnd type="none" w="med" len="med"/>
                    </a:lnB>
                    <a:solidFill>
                      <a:srgbClr val="16213E"/>
                    </a:solidFill>
                  </a:tcPr>
                </a:tc>
                <a:tc>
                  <a:txBody>
                    <a:bodyPr/>
                    <a:lstStyle/>
                    <a:p>
                      <a:pPr marL="0" indent="0">
                        <a:buNone/>
                      </a:pPr>
                      <a:r>
                        <a:rPr lang="en-US" sz="1300" b="1" dirty="0">
                          <a:solidFill>
                            <a:srgbClr val="FFFFFF"/>
                          </a:solidFill>
                        </a:rPr>
                        <a:t>Formula</a:t>
                      </a:r>
                      <a:endParaRPr lang="en-US" sz="1300" dirty="0"/>
                    </a:p>
                  </a:txBody>
                  <a:tcPr>
                    <a:lnL w="6350" cap="flat" cmpd="sng" algn="ctr">
                      <a:solidFill>
                        <a:srgbClr val="D9DEE8"/>
                      </a:solidFill>
                      <a:prstDash val="solid"/>
                      <a:round/>
                      <a:headEnd type="none" w="med" len="med"/>
                      <a:tailEnd type="none" w="med" len="med"/>
                    </a:lnL>
                    <a:lnR w="6350" cap="flat" cmpd="sng" algn="ctr">
                      <a:solidFill>
                        <a:srgbClr val="D9DEE8"/>
                      </a:solidFill>
                      <a:prstDash val="solid"/>
                      <a:round/>
                      <a:headEnd type="none" w="med" len="med"/>
                      <a:tailEnd type="none" w="med" len="med"/>
                    </a:lnR>
                    <a:lnT w="6350" cap="flat" cmpd="sng" algn="ctr">
                      <a:solidFill>
                        <a:srgbClr val="D9DEE8"/>
                      </a:solidFill>
                      <a:prstDash val="solid"/>
                      <a:round/>
                      <a:headEnd type="none" w="med" len="med"/>
                      <a:tailEnd type="none" w="med" len="med"/>
                    </a:lnT>
                    <a:lnB w="6350" cap="flat" cmpd="sng" algn="ctr">
                      <a:solidFill>
                        <a:srgbClr val="D9DEE8"/>
                      </a:solidFill>
                      <a:prstDash val="solid"/>
                      <a:round/>
                      <a:headEnd type="none" w="med" len="med"/>
                      <a:tailEnd type="none" w="med" len="med"/>
                    </a:lnB>
                    <a:solidFill>
                      <a:srgbClr val="16213E"/>
                    </a:solidFill>
                  </a:tcPr>
                </a:tc>
                <a:tc>
                  <a:txBody>
                    <a:bodyPr/>
                    <a:lstStyle/>
                    <a:p>
                      <a:pPr marL="0" indent="0">
                        <a:buNone/>
                      </a:pPr>
                      <a:r>
                        <a:rPr lang="en-US" sz="1300" b="1" dirty="0">
                          <a:solidFill>
                            <a:srgbClr val="FFFFFF"/>
                          </a:solidFill>
                        </a:rPr>
                        <a:t>Typical activation</a:t>
                      </a:r>
                      <a:endParaRPr lang="en-US" sz="1300" dirty="0"/>
                    </a:p>
                  </a:txBody>
                  <a:tcPr>
                    <a:lnL w="6350" cap="flat" cmpd="sng" algn="ctr">
                      <a:solidFill>
                        <a:srgbClr val="D9DEE8"/>
                      </a:solidFill>
                      <a:prstDash val="solid"/>
                      <a:round/>
                      <a:headEnd type="none" w="med" len="med"/>
                      <a:tailEnd type="none" w="med" len="med"/>
                    </a:lnL>
                    <a:lnR w="6350" cap="flat" cmpd="sng" algn="ctr">
                      <a:solidFill>
                        <a:srgbClr val="D9DEE8"/>
                      </a:solidFill>
                      <a:prstDash val="solid"/>
                      <a:round/>
                      <a:headEnd type="none" w="med" len="med"/>
                      <a:tailEnd type="none" w="med" len="med"/>
                    </a:lnR>
                    <a:lnT w="6350" cap="flat" cmpd="sng" algn="ctr">
                      <a:solidFill>
                        <a:srgbClr val="D9DEE8"/>
                      </a:solidFill>
                      <a:prstDash val="solid"/>
                      <a:round/>
                      <a:headEnd type="none" w="med" len="med"/>
                      <a:tailEnd type="none" w="med" len="med"/>
                    </a:lnT>
                    <a:lnB w="6350" cap="flat" cmpd="sng" algn="ctr">
                      <a:solidFill>
                        <a:srgbClr val="D9DEE8"/>
                      </a:solidFill>
                      <a:prstDash val="solid"/>
                      <a:round/>
                      <a:headEnd type="none" w="med" len="med"/>
                      <a:tailEnd type="none" w="med" len="med"/>
                    </a:lnB>
                    <a:solidFill>
                      <a:srgbClr val="16213E"/>
                    </a:solidFill>
                  </a:tcPr>
                </a:tc>
                <a:tc>
                  <a:txBody>
                    <a:bodyPr/>
                    <a:lstStyle/>
                    <a:p>
                      <a:pPr marL="0" indent="0">
                        <a:buNone/>
                      </a:pPr>
                      <a:r>
                        <a:rPr lang="en-US" sz="1300" b="1" dirty="0">
                          <a:solidFill>
                            <a:srgbClr val="FFFFFF"/>
                          </a:solidFill>
                        </a:rPr>
                        <a:t>Ghi chú</a:t>
                      </a:r>
                      <a:endParaRPr lang="en-US" sz="1300" dirty="0"/>
                    </a:p>
                  </a:txBody>
                  <a:tcPr>
                    <a:lnL w="6350" cap="flat" cmpd="sng" algn="ctr">
                      <a:solidFill>
                        <a:srgbClr val="D9DEE8"/>
                      </a:solidFill>
                      <a:prstDash val="solid"/>
                      <a:round/>
                      <a:headEnd type="none" w="med" len="med"/>
                      <a:tailEnd type="none" w="med" len="med"/>
                    </a:lnL>
                    <a:lnR w="6350" cap="flat" cmpd="sng" algn="ctr">
                      <a:solidFill>
                        <a:srgbClr val="D9DEE8"/>
                      </a:solidFill>
                      <a:prstDash val="solid"/>
                      <a:round/>
                      <a:headEnd type="none" w="med" len="med"/>
                      <a:tailEnd type="none" w="med" len="med"/>
                    </a:lnR>
                    <a:lnT w="6350" cap="flat" cmpd="sng" algn="ctr">
                      <a:solidFill>
                        <a:srgbClr val="D9DEE8"/>
                      </a:solidFill>
                      <a:prstDash val="solid"/>
                      <a:round/>
                      <a:headEnd type="none" w="med" len="med"/>
                      <a:tailEnd type="none" w="med" len="med"/>
                    </a:lnT>
                    <a:lnB w="6350" cap="flat" cmpd="sng" algn="ctr">
                      <a:solidFill>
                        <a:srgbClr val="D9DEE8"/>
                      </a:solidFill>
                      <a:prstDash val="solid"/>
                      <a:round/>
                      <a:headEnd type="none" w="med" len="med"/>
                      <a:tailEnd type="none" w="med" len="med"/>
                    </a:lnB>
                    <a:solidFill>
                      <a:srgbClr val="16213E"/>
                    </a:solidFill>
                  </a:tcPr>
                </a:tc>
                <a:extLst>
                  <a:ext uri="{0D108BD9-81ED-4DB2-BD59-A6C34878D82A}">
                    <a16:rowId xmlns:a16="http://schemas.microsoft.com/office/drawing/2014/main" val="10000"/>
                  </a:ext>
                </a:extLst>
              </a:tr>
              <a:tr h="530352">
                <a:tc>
                  <a:txBody>
                    <a:bodyPr/>
                    <a:lstStyle/>
                    <a:p>
                      <a:pPr marL="0" indent="0" algn="l">
                        <a:buNone/>
                      </a:pPr>
                      <a:r>
                        <a:rPr lang="en-US" sz="1250" b="1" dirty="0">
                          <a:solidFill>
                            <a:srgbClr val="1A2238"/>
                          </a:solidFill>
                        </a:rPr>
                        <a:t>Zero</a:t>
                      </a:r>
                      <a:endParaRPr lang="en-US" sz="1250" dirty="0"/>
                    </a:p>
                  </a:txBody>
                  <a:tcPr>
                    <a:lnL w="6350" cap="flat" cmpd="sng" algn="ctr">
                      <a:solidFill>
                        <a:srgbClr val="D9DEE8"/>
                      </a:solidFill>
                      <a:prstDash val="solid"/>
                      <a:round/>
                      <a:headEnd type="none" w="med" len="med"/>
                      <a:tailEnd type="none" w="med" len="med"/>
                    </a:lnL>
                    <a:lnR w="6350" cap="flat" cmpd="sng" algn="ctr">
                      <a:solidFill>
                        <a:srgbClr val="D9DEE8"/>
                      </a:solidFill>
                      <a:prstDash val="solid"/>
                      <a:round/>
                      <a:headEnd type="none" w="med" len="med"/>
                      <a:tailEnd type="none" w="med" len="med"/>
                    </a:lnR>
                    <a:lnT w="6350" cap="flat" cmpd="sng" algn="ctr">
                      <a:solidFill>
                        <a:srgbClr val="D9DEE8"/>
                      </a:solidFill>
                      <a:prstDash val="solid"/>
                      <a:round/>
                      <a:headEnd type="none" w="med" len="med"/>
                      <a:tailEnd type="none" w="med" len="med"/>
                    </a:lnT>
                    <a:lnB w="6350" cap="flat" cmpd="sng" algn="ctr">
                      <a:solidFill>
                        <a:srgbClr val="D9DEE8"/>
                      </a:solidFill>
                      <a:prstDash val="solid"/>
                      <a:round/>
                      <a:headEnd type="none" w="med" len="med"/>
                      <a:tailEnd type="none" w="med" len="med"/>
                    </a:lnB>
                    <a:solidFill>
                      <a:srgbClr val="F1F4F9"/>
                    </a:solidFill>
                  </a:tcPr>
                </a:tc>
                <a:tc>
                  <a:txBody>
                    <a:bodyPr/>
                    <a:lstStyle/>
                    <a:p>
                      <a:pPr marL="0" indent="0" algn="ctr">
                        <a:buNone/>
                      </a:pPr>
                      <a:r>
                        <a:rPr lang="en-US" sz="1250" dirty="0">
                          <a:solidFill>
                            <a:srgbClr val="1A2238"/>
                          </a:solidFill>
                        </a:rPr>
                        <a:t>W = 0</a:t>
                      </a:r>
                      <a:endParaRPr lang="en-US" sz="1250" dirty="0"/>
                    </a:p>
                  </a:txBody>
                  <a:tcPr>
                    <a:lnL w="6350" cap="flat" cmpd="sng" algn="ctr">
                      <a:solidFill>
                        <a:srgbClr val="D9DEE8"/>
                      </a:solidFill>
                      <a:prstDash val="solid"/>
                      <a:round/>
                      <a:headEnd type="none" w="med" len="med"/>
                      <a:tailEnd type="none" w="med" len="med"/>
                    </a:lnL>
                    <a:lnR w="6350" cap="flat" cmpd="sng" algn="ctr">
                      <a:solidFill>
                        <a:srgbClr val="D9DEE8"/>
                      </a:solidFill>
                      <a:prstDash val="solid"/>
                      <a:round/>
                      <a:headEnd type="none" w="med" len="med"/>
                      <a:tailEnd type="none" w="med" len="med"/>
                    </a:lnR>
                    <a:lnT w="6350" cap="flat" cmpd="sng" algn="ctr">
                      <a:solidFill>
                        <a:srgbClr val="D9DEE8"/>
                      </a:solidFill>
                      <a:prstDash val="solid"/>
                      <a:round/>
                      <a:headEnd type="none" w="med" len="med"/>
                      <a:tailEnd type="none" w="med" len="med"/>
                    </a:lnT>
                    <a:lnB w="6350" cap="flat" cmpd="sng" algn="ctr">
                      <a:solidFill>
                        <a:srgbClr val="D9DEE8"/>
                      </a:solidFill>
                      <a:prstDash val="solid"/>
                      <a:round/>
                      <a:headEnd type="none" w="med" len="med"/>
                      <a:tailEnd type="none" w="med" len="med"/>
                    </a:lnB>
                    <a:solidFill>
                      <a:srgbClr val="F1F4F9"/>
                    </a:solidFill>
                  </a:tcPr>
                </a:tc>
                <a:tc>
                  <a:txBody>
                    <a:bodyPr/>
                    <a:lstStyle/>
                    <a:p>
                      <a:pPr marL="0" indent="0" algn="ctr">
                        <a:buNone/>
                      </a:pPr>
                      <a:r>
                        <a:rPr lang="en-US" sz="1250" dirty="0">
                          <a:solidFill>
                            <a:srgbClr val="1A2238"/>
                          </a:solidFill>
                        </a:rPr>
                        <a:t>—</a:t>
                      </a:r>
                      <a:endParaRPr lang="en-US" sz="1250" dirty="0"/>
                    </a:p>
                  </a:txBody>
                  <a:tcPr>
                    <a:lnL w="6350" cap="flat" cmpd="sng" algn="ctr">
                      <a:solidFill>
                        <a:srgbClr val="D9DEE8"/>
                      </a:solidFill>
                      <a:prstDash val="solid"/>
                      <a:round/>
                      <a:headEnd type="none" w="med" len="med"/>
                      <a:tailEnd type="none" w="med" len="med"/>
                    </a:lnL>
                    <a:lnR w="6350" cap="flat" cmpd="sng" algn="ctr">
                      <a:solidFill>
                        <a:srgbClr val="D9DEE8"/>
                      </a:solidFill>
                      <a:prstDash val="solid"/>
                      <a:round/>
                      <a:headEnd type="none" w="med" len="med"/>
                      <a:tailEnd type="none" w="med" len="med"/>
                    </a:lnR>
                    <a:lnT w="6350" cap="flat" cmpd="sng" algn="ctr">
                      <a:solidFill>
                        <a:srgbClr val="D9DEE8"/>
                      </a:solidFill>
                      <a:prstDash val="solid"/>
                      <a:round/>
                      <a:headEnd type="none" w="med" len="med"/>
                      <a:tailEnd type="none" w="med" len="med"/>
                    </a:lnT>
                    <a:lnB w="6350" cap="flat" cmpd="sng" algn="ctr">
                      <a:solidFill>
                        <a:srgbClr val="D9DEE8"/>
                      </a:solidFill>
                      <a:prstDash val="solid"/>
                      <a:round/>
                      <a:headEnd type="none" w="med" len="med"/>
                      <a:tailEnd type="none" w="med" len="med"/>
                    </a:lnB>
                    <a:solidFill>
                      <a:srgbClr val="F1F4F9"/>
                    </a:solidFill>
                  </a:tcPr>
                </a:tc>
                <a:tc>
                  <a:txBody>
                    <a:bodyPr/>
                    <a:lstStyle/>
                    <a:p>
                      <a:pPr marL="0" indent="0" algn="ctr">
                        <a:buNone/>
                      </a:pPr>
                      <a:r>
                        <a:rPr lang="en-US" sz="1250" dirty="0">
                          <a:solidFill>
                            <a:srgbClr val="1A2238"/>
                          </a:solidFill>
                        </a:rPr>
                        <a:t>Không dùng cho hidden weights (symmetry)</a:t>
                      </a:r>
                      <a:endParaRPr lang="en-US" sz="1250" dirty="0"/>
                    </a:p>
                  </a:txBody>
                  <a:tcPr>
                    <a:lnL w="6350" cap="flat" cmpd="sng" algn="ctr">
                      <a:solidFill>
                        <a:srgbClr val="D9DEE8"/>
                      </a:solidFill>
                      <a:prstDash val="solid"/>
                      <a:round/>
                      <a:headEnd type="none" w="med" len="med"/>
                      <a:tailEnd type="none" w="med" len="med"/>
                    </a:lnL>
                    <a:lnR w="6350" cap="flat" cmpd="sng" algn="ctr">
                      <a:solidFill>
                        <a:srgbClr val="D9DEE8"/>
                      </a:solidFill>
                      <a:prstDash val="solid"/>
                      <a:round/>
                      <a:headEnd type="none" w="med" len="med"/>
                      <a:tailEnd type="none" w="med" len="med"/>
                    </a:lnR>
                    <a:lnT w="6350" cap="flat" cmpd="sng" algn="ctr">
                      <a:solidFill>
                        <a:srgbClr val="D9DEE8"/>
                      </a:solidFill>
                      <a:prstDash val="solid"/>
                      <a:round/>
                      <a:headEnd type="none" w="med" len="med"/>
                      <a:tailEnd type="none" w="med" len="med"/>
                    </a:lnT>
                    <a:lnB w="6350" cap="flat" cmpd="sng" algn="ctr">
                      <a:solidFill>
                        <a:srgbClr val="D9DEE8"/>
                      </a:solidFill>
                      <a:prstDash val="solid"/>
                      <a:round/>
                      <a:headEnd type="none" w="med" len="med"/>
                      <a:tailEnd type="none" w="med" len="med"/>
                    </a:lnB>
                    <a:solidFill>
                      <a:srgbClr val="F1F4F9"/>
                    </a:solidFill>
                  </a:tcPr>
                </a:tc>
                <a:extLst>
                  <a:ext uri="{0D108BD9-81ED-4DB2-BD59-A6C34878D82A}">
                    <a16:rowId xmlns:a16="http://schemas.microsoft.com/office/drawing/2014/main" val="10001"/>
                  </a:ext>
                </a:extLst>
              </a:tr>
              <a:tr h="530352">
                <a:tc>
                  <a:txBody>
                    <a:bodyPr/>
                    <a:lstStyle/>
                    <a:p>
                      <a:pPr marL="0" indent="0" algn="l">
                        <a:buNone/>
                      </a:pPr>
                      <a:r>
                        <a:rPr lang="en-US" sz="1250" b="1" dirty="0">
                          <a:solidFill>
                            <a:srgbClr val="1A2238"/>
                          </a:solidFill>
                        </a:rPr>
                        <a:t>Small Random</a:t>
                      </a:r>
                      <a:endParaRPr lang="en-US" sz="1250" dirty="0"/>
                    </a:p>
                  </a:txBody>
                  <a:tcPr>
                    <a:lnL w="6350" cap="flat" cmpd="sng" algn="ctr">
                      <a:solidFill>
                        <a:srgbClr val="D9DEE8"/>
                      </a:solidFill>
                      <a:prstDash val="solid"/>
                      <a:round/>
                      <a:headEnd type="none" w="med" len="med"/>
                      <a:tailEnd type="none" w="med" len="med"/>
                    </a:lnL>
                    <a:lnR w="6350" cap="flat" cmpd="sng" algn="ctr">
                      <a:solidFill>
                        <a:srgbClr val="D9DEE8"/>
                      </a:solidFill>
                      <a:prstDash val="solid"/>
                      <a:round/>
                      <a:headEnd type="none" w="med" len="med"/>
                      <a:tailEnd type="none" w="med" len="med"/>
                    </a:lnR>
                    <a:lnT w="6350" cap="flat" cmpd="sng" algn="ctr">
                      <a:solidFill>
                        <a:srgbClr val="D9DEE8"/>
                      </a:solidFill>
                      <a:prstDash val="solid"/>
                      <a:round/>
                      <a:headEnd type="none" w="med" len="med"/>
                      <a:tailEnd type="none" w="med" len="med"/>
                    </a:lnT>
                    <a:lnB w="6350" cap="flat" cmpd="sng" algn="ctr">
                      <a:solidFill>
                        <a:srgbClr val="D9DEE8"/>
                      </a:solidFill>
                      <a:prstDash val="solid"/>
                      <a:round/>
                      <a:headEnd type="none" w="med" len="med"/>
                      <a:tailEnd type="none" w="med" len="med"/>
                    </a:lnB>
                    <a:solidFill>
                      <a:srgbClr val="FFFFFF"/>
                    </a:solidFill>
                  </a:tcPr>
                </a:tc>
                <a:tc>
                  <a:txBody>
                    <a:bodyPr/>
                    <a:lstStyle/>
                    <a:p>
                      <a:pPr marL="0" indent="0" algn="ctr">
                        <a:buNone/>
                      </a:pPr>
                      <a:r>
                        <a:rPr lang="en-US" sz="1250" dirty="0">
                          <a:solidFill>
                            <a:srgbClr val="1A2238"/>
                          </a:solidFill>
                        </a:rPr>
                        <a:t>N(0, 0.01²)</a:t>
                      </a:r>
                      <a:endParaRPr lang="en-US" sz="1250" dirty="0"/>
                    </a:p>
                  </a:txBody>
                  <a:tcPr>
                    <a:lnL w="6350" cap="flat" cmpd="sng" algn="ctr">
                      <a:solidFill>
                        <a:srgbClr val="D9DEE8"/>
                      </a:solidFill>
                      <a:prstDash val="solid"/>
                      <a:round/>
                      <a:headEnd type="none" w="med" len="med"/>
                      <a:tailEnd type="none" w="med" len="med"/>
                    </a:lnL>
                    <a:lnR w="6350" cap="flat" cmpd="sng" algn="ctr">
                      <a:solidFill>
                        <a:srgbClr val="D9DEE8"/>
                      </a:solidFill>
                      <a:prstDash val="solid"/>
                      <a:round/>
                      <a:headEnd type="none" w="med" len="med"/>
                      <a:tailEnd type="none" w="med" len="med"/>
                    </a:lnR>
                    <a:lnT w="6350" cap="flat" cmpd="sng" algn="ctr">
                      <a:solidFill>
                        <a:srgbClr val="D9DEE8"/>
                      </a:solidFill>
                      <a:prstDash val="solid"/>
                      <a:round/>
                      <a:headEnd type="none" w="med" len="med"/>
                      <a:tailEnd type="none" w="med" len="med"/>
                    </a:lnT>
                    <a:lnB w="6350" cap="flat" cmpd="sng" algn="ctr">
                      <a:solidFill>
                        <a:srgbClr val="D9DEE8"/>
                      </a:solidFill>
                      <a:prstDash val="solid"/>
                      <a:round/>
                      <a:headEnd type="none" w="med" len="med"/>
                      <a:tailEnd type="none" w="med" len="med"/>
                    </a:lnB>
                    <a:solidFill>
                      <a:srgbClr val="FFFFFF"/>
                    </a:solidFill>
                  </a:tcPr>
                </a:tc>
                <a:tc>
                  <a:txBody>
                    <a:bodyPr/>
                    <a:lstStyle/>
                    <a:p>
                      <a:pPr marL="0" indent="0" algn="ctr">
                        <a:buNone/>
                      </a:pPr>
                      <a:r>
                        <a:rPr lang="en-US" sz="1250" dirty="0">
                          <a:solidFill>
                            <a:srgbClr val="1A2238"/>
                          </a:solidFill>
                        </a:rPr>
                        <a:t>—</a:t>
                      </a:r>
                      <a:endParaRPr lang="en-US" sz="1250" dirty="0"/>
                    </a:p>
                  </a:txBody>
                  <a:tcPr>
                    <a:lnL w="6350" cap="flat" cmpd="sng" algn="ctr">
                      <a:solidFill>
                        <a:srgbClr val="D9DEE8"/>
                      </a:solidFill>
                      <a:prstDash val="solid"/>
                      <a:round/>
                      <a:headEnd type="none" w="med" len="med"/>
                      <a:tailEnd type="none" w="med" len="med"/>
                    </a:lnL>
                    <a:lnR w="6350" cap="flat" cmpd="sng" algn="ctr">
                      <a:solidFill>
                        <a:srgbClr val="D9DEE8"/>
                      </a:solidFill>
                      <a:prstDash val="solid"/>
                      <a:round/>
                      <a:headEnd type="none" w="med" len="med"/>
                      <a:tailEnd type="none" w="med" len="med"/>
                    </a:lnR>
                    <a:lnT w="6350" cap="flat" cmpd="sng" algn="ctr">
                      <a:solidFill>
                        <a:srgbClr val="D9DEE8"/>
                      </a:solidFill>
                      <a:prstDash val="solid"/>
                      <a:round/>
                      <a:headEnd type="none" w="med" len="med"/>
                      <a:tailEnd type="none" w="med" len="med"/>
                    </a:lnT>
                    <a:lnB w="6350" cap="flat" cmpd="sng" algn="ctr">
                      <a:solidFill>
                        <a:srgbClr val="D9DEE8"/>
                      </a:solidFill>
                      <a:prstDash val="solid"/>
                      <a:round/>
                      <a:headEnd type="none" w="med" len="med"/>
                      <a:tailEnd type="none" w="med" len="med"/>
                    </a:lnB>
                    <a:solidFill>
                      <a:srgbClr val="FFFFFF"/>
                    </a:solidFill>
                  </a:tcPr>
                </a:tc>
                <a:tc>
                  <a:txBody>
                    <a:bodyPr/>
                    <a:lstStyle/>
                    <a:p>
                      <a:pPr marL="0" indent="0" algn="ctr">
                        <a:buNone/>
                      </a:pPr>
                      <a:r>
                        <a:rPr lang="en-US" sz="1250" dirty="0">
                          <a:solidFill>
                            <a:srgbClr val="1A2238"/>
                          </a:solidFill>
                        </a:rPr>
                        <a:t>Naive baseline; không scale theo fan-in/out</a:t>
                      </a:r>
                      <a:endParaRPr lang="en-US" sz="1250" dirty="0"/>
                    </a:p>
                  </a:txBody>
                  <a:tcPr>
                    <a:lnL w="6350" cap="flat" cmpd="sng" algn="ctr">
                      <a:solidFill>
                        <a:srgbClr val="D9DEE8"/>
                      </a:solidFill>
                      <a:prstDash val="solid"/>
                      <a:round/>
                      <a:headEnd type="none" w="med" len="med"/>
                      <a:tailEnd type="none" w="med" len="med"/>
                    </a:lnL>
                    <a:lnR w="6350" cap="flat" cmpd="sng" algn="ctr">
                      <a:solidFill>
                        <a:srgbClr val="D9DEE8"/>
                      </a:solidFill>
                      <a:prstDash val="solid"/>
                      <a:round/>
                      <a:headEnd type="none" w="med" len="med"/>
                      <a:tailEnd type="none" w="med" len="med"/>
                    </a:lnR>
                    <a:lnT w="6350" cap="flat" cmpd="sng" algn="ctr">
                      <a:solidFill>
                        <a:srgbClr val="D9DEE8"/>
                      </a:solidFill>
                      <a:prstDash val="solid"/>
                      <a:round/>
                      <a:headEnd type="none" w="med" len="med"/>
                      <a:tailEnd type="none" w="med" len="med"/>
                    </a:lnT>
                    <a:lnB w="6350" cap="flat" cmpd="sng" algn="ctr">
                      <a:solidFill>
                        <a:srgbClr val="D9DEE8"/>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530352">
                <a:tc>
                  <a:txBody>
                    <a:bodyPr/>
                    <a:lstStyle/>
                    <a:p>
                      <a:pPr marL="0" indent="0" algn="l">
                        <a:buNone/>
                      </a:pPr>
                      <a:r>
                        <a:rPr lang="en-US" sz="1250" b="1" dirty="0">
                          <a:solidFill>
                            <a:srgbClr val="1A2238"/>
                          </a:solidFill>
                        </a:rPr>
                        <a:t>Xavier / Glorot</a:t>
                      </a:r>
                      <a:endParaRPr lang="en-US" sz="1250" dirty="0"/>
                    </a:p>
                  </a:txBody>
                  <a:tcPr>
                    <a:lnL w="6350" cap="flat" cmpd="sng" algn="ctr">
                      <a:solidFill>
                        <a:srgbClr val="D9DEE8"/>
                      </a:solidFill>
                      <a:prstDash val="solid"/>
                      <a:round/>
                      <a:headEnd type="none" w="med" len="med"/>
                      <a:tailEnd type="none" w="med" len="med"/>
                    </a:lnL>
                    <a:lnR w="6350" cap="flat" cmpd="sng" algn="ctr">
                      <a:solidFill>
                        <a:srgbClr val="D9DEE8"/>
                      </a:solidFill>
                      <a:prstDash val="solid"/>
                      <a:round/>
                      <a:headEnd type="none" w="med" len="med"/>
                      <a:tailEnd type="none" w="med" len="med"/>
                    </a:lnR>
                    <a:lnT w="6350" cap="flat" cmpd="sng" algn="ctr">
                      <a:solidFill>
                        <a:srgbClr val="D9DEE8"/>
                      </a:solidFill>
                      <a:prstDash val="solid"/>
                      <a:round/>
                      <a:headEnd type="none" w="med" len="med"/>
                      <a:tailEnd type="none" w="med" len="med"/>
                    </a:lnT>
                    <a:lnB w="6350" cap="flat" cmpd="sng" algn="ctr">
                      <a:solidFill>
                        <a:srgbClr val="D9DEE8"/>
                      </a:solidFill>
                      <a:prstDash val="solid"/>
                      <a:round/>
                      <a:headEnd type="none" w="med" len="med"/>
                      <a:tailEnd type="none" w="med" len="med"/>
                    </a:lnB>
                    <a:solidFill>
                      <a:srgbClr val="F1F4F9"/>
                    </a:solidFill>
                  </a:tcPr>
                </a:tc>
                <a:tc>
                  <a:txBody>
                    <a:bodyPr/>
                    <a:lstStyle/>
                    <a:p>
                      <a:pPr marL="0" indent="0" algn="ctr">
                        <a:buNone/>
                      </a:pPr>
                      <a:r>
                        <a:rPr lang="en-US" sz="1250" dirty="0">
                          <a:solidFill>
                            <a:srgbClr val="1A2238"/>
                          </a:solidFill>
                        </a:rPr>
                        <a:t>2/(fan</a:t>
                      </a:r>
                      <a:r>
                        <a:rPr lang="en-US" sz="1250" baseline="-40000" dirty="0">
                          <a:solidFill>
                            <a:srgbClr val="1A2238"/>
                          </a:solidFill>
                        </a:rPr>
                        <a:t>in</a:t>
                      </a:r>
                      <a:r>
                        <a:rPr lang="en-US" sz="1250" dirty="0">
                          <a:solidFill>
                            <a:srgbClr val="1A2238"/>
                          </a:solidFill>
                        </a:rPr>
                        <a:t>+fan</a:t>
                      </a:r>
                      <a:r>
                        <a:rPr lang="en-US" sz="1250" baseline="-40000" dirty="0">
                          <a:solidFill>
                            <a:srgbClr val="1A2238"/>
                          </a:solidFill>
                        </a:rPr>
                        <a:t>out</a:t>
                      </a:r>
                      <a:r>
                        <a:rPr lang="en-US" sz="1250" dirty="0">
                          <a:solidFill>
                            <a:srgbClr val="1A2238"/>
                          </a:solidFill>
                        </a:rPr>
                        <a:t>)</a:t>
                      </a:r>
                      <a:endParaRPr lang="en-US" sz="1250" dirty="0"/>
                    </a:p>
                  </a:txBody>
                  <a:tcPr>
                    <a:lnL w="6350" cap="flat" cmpd="sng" algn="ctr">
                      <a:solidFill>
                        <a:srgbClr val="D9DEE8"/>
                      </a:solidFill>
                      <a:prstDash val="solid"/>
                      <a:round/>
                      <a:headEnd type="none" w="med" len="med"/>
                      <a:tailEnd type="none" w="med" len="med"/>
                    </a:lnL>
                    <a:lnR w="6350" cap="flat" cmpd="sng" algn="ctr">
                      <a:solidFill>
                        <a:srgbClr val="D9DEE8"/>
                      </a:solidFill>
                      <a:prstDash val="solid"/>
                      <a:round/>
                      <a:headEnd type="none" w="med" len="med"/>
                      <a:tailEnd type="none" w="med" len="med"/>
                    </a:lnR>
                    <a:lnT w="6350" cap="flat" cmpd="sng" algn="ctr">
                      <a:solidFill>
                        <a:srgbClr val="D9DEE8"/>
                      </a:solidFill>
                      <a:prstDash val="solid"/>
                      <a:round/>
                      <a:headEnd type="none" w="med" len="med"/>
                      <a:tailEnd type="none" w="med" len="med"/>
                    </a:lnT>
                    <a:lnB w="6350" cap="flat" cmpd="sng" algn="ctr">
                      <a:solidFill>
                        <a:srgbClr val="D9DEE8"/>
                      </a:solidFill>
                      <a:prstDash val="solid"/>
                      <a:round/>
                      <a:headEnd type="none" w="med" len="med"/>
                      <a:tailEnd type="none" w="med" len="med"/>
                    </a:lnB>
                    <a:solidFill>
                      <a:srgbClr val="F1F4F9"/>
                    </a:solidFill>
                  </a:tcPr>
                </a:tc>
                <a:tc>
                  <a:txBody>
                    <a:bodyPr/>
                    <a:lstStyle/>
                    <a:p>
                      <a:pPr marL="0" indent="0" algn="ctr">
                        <a:buNone/>
                      </a:pPr>
                      <a:r>
                        <a:rPr lang="en-US" sz="1250" dirty="0">
                          <a:solidFill>
                            <a:srgbClr val="1A2238"/>
                          </a:solidFill>
                        </a:rPr>
                        <a:t>Tanh</a:t>
                      </a:r>
                      <a:endParaRPr lang="en-US" sz="1250" dirty="0"/>
                    </a:p>
                  </a:txBody>
                  <a:tcPr>
                    <a:lnL w="6350" cap="flat" cmpd="sng" algn="ctr">
                      <a:solidFill>
                        <a:srgbClr val="D9DEE8"/>
                      </a:solidFill>
                      <a:prstDash val="solid"/>
                      <a:round/>
                      <a:headEnd type="none" w="med" len="med"/>
                      <a:tailEnd type="none" w="med" len="med"/>
                    </a:lnL>
                    <a:lnR w="6350" cap="flat" cmpd="sng" algn="ctr">
                      <a:solidFill>
                        <a:srgbClr val="D9DEE8"/>
                      </a:solidFill>
                      <a:prstDash val="solid"/>
                      <a:round/>
                      <a:headEnd type="none" w="med" len="med"/>
                      <a:tailEnd type="none" w="med" len="med"/>
                    </a:lnR>
                    <a:lnT w="6350" cap="flat" cmpd="sng" algn="ctr">
                      <a:solidFill>
                        <a:srgbClr val="D9DEE8"/>
                      </a:solidFill>
                      <a:prstDash val="solid"/>
                      <a:round/>
                      <a:headEnd type="none" w="med" len="med"/>
                      <a:tailEnd type="none" w="med" len="med"/>
                    </a:lnT>
                    <a:lnB w="6350" cap="flat" cmpd="sng" algn="ctr">
                      <a:solidFill>
                        <a:srgbClr val="D9DEE8"/>
                      </a:solidFill>
                      <a:prstDash val="solid"/>
                      <a:round/>
                      <a:headEnd type="none" w="med" len="med"/>
                      <a:tailEnd type="none" w="med" len="med"/>
                    </a:lnB>
                    <a:solidFill>
                      <a:srgbClr val="F1F4F9"/>
                    </a:solidFill>
                  </a:tcPr>
                </a:tc>
                <a:tc>
                  <a:txBody>
                    <a:bodyPr/>
                    <a:lstStyle/>
                    <a:p>
                      <a:pPr marL="0" indent="0" algn="ctr">
                        <a:buNone/>
                      </a:pPr>
                      <a:r>
                        <a:rPr lang="en-US" sz="1250" dirty="0">
                          <a:solidFill>
                            <a:srgbClr val="1A2238"/>
                          </a:solidFill>
                        </a:rPr>
                        <a:t>Cân bằng forward/backward</a:t>
                      </a:r>
                      <a:endParaRPr lang="en-US" sz="1250" dirty="0"/>
                    </a:p>
                  </a:txBody>
                  <a:tcPr>
                    <a:lnL w="6350" cap="flat" cmpd="sng" algn="ctr">
                      <a:solidFill>
                        <a:srgbClr val="D9DEE8"/>
                      </a:solidFill>
                      <a:prstDash val="solid"/>
                      <a:round/>
                      <a:headEnd type="none" w="med" len="med"/>
                      <a:tailEnd type="none" w="med" len="med"/>
                    </a:lnL>
                    <a:lnR w="6350" cap="flat" cmpd="sng" algn="ctr">
                      <a:solidFill>
                        <a:srgbClr val="D9DEE8"/>
                      </a:solidFill>
                      <a:prstDash val="solid"/>
                      <a:round/>
                      <a:headEnd type="none" w="med" len="med"/>
                      <a:tailEnd type="none" w="med" len="med"/>
                    </a:lnR>
                    <a:lnT w="6350" cap="flat" cmpd="sng" algn="ctr">
                      <a:solidFill>
                        <a:srgbClr val="D9DEE8"/>
                      </a:solidFill>
                      <a:prstDash val="solid"/>
                      <a:round/>
                      <a:headEnd type="none" w="med" len="med"/>
                      <a:tailEnd type="none" w="med" len="med"/>
                    </a:lnT>
                    <a:lnB w="6350" cap="flat" cmpd="sng" algn="ctr">
                      <a:solidFill>
                        <a:srgbClr val="D9DEE8"/>
                      </a:solidFill>
                      <a:prstDash val="solid"/>
                      <a:round/>
                      <a:headEnd type="none" w="med" len="med"/>
                      <a:tailEnd type="none" w="med" len="med"/>
                    </a:lnB>
                    <a:solidFill>
                      <a:srgbClr val="F1F4F9"/>
                    </a:solidFill>
                  </a:tcPr>
                </a:tc>
                <a:extLst>
                  <a:ext uri="{0D108BD9-81ED-4DB2-BD59-A6C34878D82A}">
                    <a16:rowId xmlns:a16="http://schemas.microsoft.com/office/drawing/2014/main" val="10003"/>
                  </a:ext>
                </a:extLst>
              </a:tr>
              <a:tr h="530352">
                <a:tc>
                  <a:txBody>
                    <a:bodyPr/>
                    <a:lstStyle/>
                    <a:p>
                      <a:pPr marL="0" indent="0" algn="l">
                        <a:buNone/>
                      </a:pPr>
                      <a:r>
                        <a:rPr lang="en-US" sz="1250" b="1" dirty="0">
                          <a:solidFill>
                            <a:srgbClr val="1A2238"/>
                          </a:solidFill>
                        </a:rPr>
                        <a:t>He / Kaiming</a:t>
                      </a:r>
                      <a:endParaRPr lang="en-US" sz="1250" dirty="0"/>
                    </a:p>
                  </a:txBody>
                  <a:tcPr>
                    <a:lnL w="6350" cap="flat" cmpd="sng" algn="ctr">
                      <a:solidFill>
                        <a:srgbClr val="D9DEE8"/>
                      </a:solidFill>
                      <a:prstDash val="solid"/>
                      <a:round/>
                      <a:headEnd type="none" w="med" len="med"/>
                      <a:tailEnd type="none" w="med" len="med"/>
                    </a:lnL>
                    <a:lnR w="6350" cap="flat" cmpd="sng" algn="ctr">
                      <a:solidFill>
                        <a:srgbClr val="D9DEE8"/>
                      </a:solidFill>
                      <a:prstDash val="solid"/>
                      <a:round/>
                      <a:headEnd type="none" w="med" len="med"/>
                      <a:tailEnd type="none" w="med" len="med"/>
                    </a:lnR>
                    <a:lnT w="6350" cap="flat" cmpd="sng" algn="ctr">
                      <a:solidFill>
                        <a:srgbClr val="D9DEE8"/>
                      </a:solidFill>
                      <a:prstDash val="solid"/>
                      <a:round/>
                      <a:headEnd type="none" w="med" len="med"/>
                      <a:tailEnd type="none" w="med" len="med"/>
                    </a:lnT>
                    <a:lnB w="6350" cap="flat" cmpd="sng" algn="ctr">
                      <a:solidFill>
                        <a:srgbClr val="D9DEE8"/>
                      </a:solidFill>
                      <a:prstDash val="solid"/>
                      <a:round/>
                      <a:headEnd type="none" w="med" len="med"/>
                      <a:tailEnd type="none" w="med" len="med"/>
                    </a:lnB>
                    <a:solidFill>
                      <a:srgbClr val="FFFFFF"/>
                    </a:solidFill>
                  </a:tcPr>
                </a:tc>
                <a:tc>
                  <a:txBody>
                    <a:bodyPr/>
                    <a:lstStyle/>
                    <a:p>
                      <a:pPr marL="0" indent="0" algn="ctr">
                        <a:buNone/>
                      </a:pPr>
                      <a:r>
                        <a:rPr lang="en-US" sz="1250" dirty="0">
                          <a:solidFill>
                            <a:srgbClr val="1A2238"/>
                          </a:solidFill>
                        </a:rPr>
                        <a:t>2/fan</a:t>
                      </a:r>
                      <a:r>
                        <a:rPr lang="en-US" sz="1250" baseline="-40000" dirty="0">
                          <a:solidFill>
                            <a:srgbClr val="1A2238"/>
                          </a:solidFill>
                        </a:rPr>
                        <a:t>in</a:t>
                      </a:r>
                      <a:endParaRPr lang="en-US" sz="1250" dirty="0"/>
                    </a:p>
                  </a:txBody>
                  <a:tcPr>
                    <a:lnL w="6350" cap="flat" cmpd="sng" algn="ctr">
                      <a:solidFill>
                        <a:srgbClr val="D9DEE8"/>
                      </a:solidFill>
                      <a:prstDash val="solid"/>
                      <a:round/>
                      <a:headEnd type="none" w="med" len="med"/>
                      <a:tailEnd type="none" w="med" len="med"/>
                    </a:lnL>
                    <a:lnR w="6350" cap="flat" cmpd="sng" algn="ctr">
                      <a:solidFill>
                        <a:srgbClr val="D9DEE8"/>
                      </a:solidFill>
                      <a:prstDash val="solid"/>
                      <a:round/>
                      <a:headEnd type="none" w="med" len="med"/>
                      <a:tailEnd type="none" w="med" len="med"/>
                    </a:lnR>
                    <a:lnT w="6350" cap="flat" cmpd="sng" algn="ctr">
                      <a:solidFill>
                        <a:srgbClr val="D9DEE8"/>
                      </a:solidFill>
                      <a:prstDash val="solid"/>
                      <a:round/>
                      <a:headEnd type="none" w="med" len="med"/>
                      <a:tailEnd type="none" w="med" len="med"/>
                    </a:lnT>
                    <a:lnB w="6350" cap="flat" cmpd="sng" algn="ctr">
                      <a:solidFill>
                        <a:srgbClr val="D9DEE8"/>
                      </a:solidFill>
                      <a:prstDash val="solid"/>
                      <a:round/>
                      <a:headEnd type="none" w="med" len="med"/>
                      <a:tailEnd type="none" w="med" len="med"/>
                    </a:lnB>
                    <a:solidFill>
                      <a:srgbClr val="FFFFFF"/>
                    </a:solidFill>
                  </a:tcPr>
                </a:tc>
                <a:tc>
                  <a:txBody>
                    <a:bodyPr/>
                    <a:lstStyle/>
                    <a:p>
                      <a:pPr marL="0" indent="0" algn="ctr">
                        <a:buNone/>
                      </a:pPr>
                      <a:r>
                        <a:rPr lang="en-US" sz="1250" dirty="0">
                          <a:solidFill>
                            <a:srgbClr val="1A2238"/>
                          </a:solidFill>
                        </a:rPr>
                        <a:t>ReLU</a:t>
                      </a:r>
                      <a:endParaRPr lang="en-US" sz="1250" dirty="0"/>
                    </a:p>
                  </a:txBody>
                  <a:tcPr>
                    <a:lnL w="6350" cap="flat" cmpd="sng" algn="ctr">
                      <a:solidFill>
                        <a:srgbClr val="D9DEE8"/>
                      </a:solidFill>
                      <a:prstDash val="solid"/>
                      <a:round/>
                      <a:headEnd type="none" w="med" len="med"/>
                      <a:tailEnd type="none" w="med" len="med"/>
                    </a:lnL>
                    <a:lnR w="6350" cap="flat" cmpd="sng" algn="ctr">
                      <a:solidFill>
                        <a:srgbClr val="D9DEE8"/>
                      </a:solidFill>
                      <a:prstDash val="solid"/>
                      <a:round/>
                      <a:headEnd type="none" w="med" len="med"/>
                      <a:tailEnd type="none" w="med" len="med"/>
                    </a:lnR>
                    <a:lnT w="6350" cap="flat" cmpd="sng" algn="ctr">
                      <a:solidFill>
                        <a:srgbClr val="D9DEE8"/>
                      </a:solidFill>
                      <a:prstDash val="solid"/>
                      <a:round/>
                      <a:headEnd type="none" w="med" len="med"/>
                      <a:tailEnd type="none" w="med" len="med"/>
                    </a:lnT>
                    <a:lnB w="6350" cap="flat" cmpd="sng" algn="ctr">
                      <a:solidFill>
                        <a:srgbClr val="D9DEE8"/>
                      </a:solidFill>
                      <a:prstDash val="solid"/>
                      <a:round/>
                      <a:headEnd type="none" w="med" len="med"/>
                      <a:tailEnd type="none" w="med" len="med"/>
                    </a:lnB>
                    <a:solidFill>
                      <a:srgbClr val="FFFFFF"/>
                    </a:solidFill>
                  </a:tcPr>
                </a:tc>
                <a:tc>
                  <a:txBody>
                    <a:bodyPr/>
                    <a:lstStyle/>
                    <a:p>
                      <a:pPr marL="0" indent="0" algn="ctr">
                        <a:buNone/>
                      </a:pPr>
                      <a:r>
                        <a:rPr lang="en-US" sz="1250" dirty="0">
                          <a:solidFill>
                            <a:srgbClr val="1A2238"/>
                          </a:solidFill>
                        </a:rPr>
                        <a:t>Bù suy giảm second moment do ReLU</a:t>
                      </a:r>
                      <a:endParaRPr lang="en-US" sz="1250" dirty="0"/>
                    </a:p>
                  </a:txBody>
                  <a:tcPr>
                    <a:lnL w="6350" cap="flat" cmpd="sng" algn="ctr">
                      <a:solidFill>
                        <a:srgbClr val="D9DEE8"/>
                      </a:solidFill>
                      <a:prstDash val="solid"/>
                      <a:round/>
                      <a:headEnd type="none" w="med" len="med"/>
                      <a:tailEnd type="none" w="med" len="med"/>
                    </a:lnL>
                    <a:lnR w="6350" cap="flat" cmpd="sng" algn="ctr">
                      <a:solidFill>
                        <a:srgbClr val="D9DEE8"/>
                      </a:solidFill>
                      <a:prstDash val="solid"/>
                      <a:round/>
                      <a:headEnd type="none" w="med" len="med"/>
                      <a:tailEnd type="none" w="med" len="med"/>
                    </a:lnR>
                    <a:lnT w="6350" cap="flat" cmpd="sng" algn="ctr">
                      <a:solidFill>
                        <a:srgbClr val="D9DEE8"/>
                      </a:solidFill>
                      <a:prstDash val="solid"/>
                      <a:round/>
                      <a:headEnd type="none" w="med" len="med"/>
                      <a:tailEnd type="none" w="med" len="med"/>
                    </a:lnT>
                    <a:lnB w="6350" cap="flat" cmpd="sng" algn="ctr">
                      <a:solidFill>
                        <a:srgbClr val="D9DEE8"/>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bl>
          </a:graphicData>
        </a:graphic>
      </p:graphicFrame>
      <p:sp>
        <p:nvSpPr>
          <p:cNvPr id="5" name="Text 2"/>
          <p:cNvSpPr txBox="1"/>
          <p:nvPr/>
        </p:nvSpPr>
        <p:spPr>
          <a:xfrm>
            <a:off x="640080" y="5029200"/>
            <a:ext cx="10911535" cy="731520"/>
          </a:xfrm>
          <a:prstGeom prst="rect">
            <a:avLst/>
          </a:prstGeom>
          <a:noFill/>
          <a:ln/>
        </p:spPr>
        <p:txBody>
          <a:bodyPr wrap="square" lIns="0" tIns="0" rIns="0" bIns="0" rtlCol="0" anchor="t"/>
          <a:lstStyle/>
          <a:p>
            <a:pPr marL="228600" indent="-228600">
              <a:buSzPct val="100000"/>
              <a:buChar char="▪"/>
            </a:pPr>
            <a:r>
              <a:rPr lang="en-US" sz="1800" dirty="0">
                <a:solidFill>
                  <a:srgbClr val="1A2238"/>
                </a:solidFill>
                <a:latin typeface="Calibri" pitchFamily="34" charset="0"/>
                <a:ea typeface="Calibri" pitchFamily="34" charset="-122"/>
                <a:cs typeface="Calibri" pitchFamily="34" charset="-120"/>
              </a:rPr>
              <a:t>Các thí nghiệm tiếp theo kiểm tra các dòng trong bảng này</a:t>
            </a:r>
            <a:endParaRPr lang="en-US" sz="1800" dirty="0"/>
          </a:p>
        </p:txBody>
      </p:sp>
      <p:sp>
        <p:nvSpPr>
          <p:cNvPr id="6" name="Text 3"/>
          <p:cNvSpPr txBox="1"/>
          <p:nvPr/>
        </p:nvSpPr>
        <p:spPr>
          <a:xfrm>
            <a:off x="11185855" y="6446520"/>
            <a:ext cx="731520" cy="274320"/>
          </a:xfrm>
          <a:prstGeom prst="rect">
            <a:avLst/>
          </a:prstGeom>
          <a:noFill/>
          <a:ln/>
        </p:spPr>
        <p:txBody>
          <a:bodyPr wrap="square" lIns="0" tIns="0" rIns="0" bIns="0" rtlCol="0" anchor="ctr"/>
          <a:lstStyle/>
          <a:p>
            <a:pPr marL="0" indent="0" algn="r">
              <a:buNone/>
            </a:pPr>
            <a:r>
              <a:rPr lang="en-US" sz="900" dirty="0">
                <a:solidFill>
                  <a:srgbClr val="5B6478"/>
                </a:solidFill>
                <a:latin typeface="Calibri" pitchFamily="34" charset="0"/>
                <a:ea typeface="Calibri" pitchFamily="34" charset="-122"/>
                <a:cs typeface="Calibri" pitchFamily="34" charset="-120"/>
              </a:rPr>
              <a:t>14/26</a:t>
            </a:r>
            <a:endParaRPr lang="en-US" sz="900" dirty="0"/>
          </a:p>
        </p:txBody>
      </p:sp>
      <p:sp>
        <p:nvSpPr>
          <p:cNvPr id="7" name="Shape 4"/>
          <p:cNvSpPr/>
          <p:nvPr/>
        </p:nvSpPr>
        <p:spPr>
          <a:xfrm>
            <a:off x="610362" y="6473952"/>
            <a:ext cx="59436" cy="59436"/>
          </a:xfrm>
          <a:prstGeom prst="ellipse">
            <a:avLst/>
          </a:prstGeom>
          <a:solidFill>
            <a:srgbClr val="D9DEE8"/>
          </a:solidFill>
          <a:ln/>
        </p:spPr>
      </p:sp>
      <p:sp>
        <p:nvSpPr>
          <p:cNvPr id="8" name="Shape 5"/>
          <p:cNvSpPr/>
          <p:nvPr/>
        </p:nvSpPr>
        <p:spPr>
          <a:xfrm>
            <a:off x="814959" y="6459093"/>
            <a:ext cx="89154" cy="89154"/>
          </a:xfrm>
          <a:prstGeom prst="ellipse">
            <a:avLst/>
          </a:prstGeom>
          <a:solidFill>
            <a:srgbClr val="285AB4"/>
          </a:solidFill>
          <a:ln/>
        </p:spPr>
      </p:sp>
      <p:sp>
        <p:nvSpPr>
          <p:cNvPr id="9" name="Shape 6"/>
          <p:cNvSpPr/>
          <p:nvPr/>
        </p:nvSpPr>
        <p:spPr>
          <a:xfrm>
            <a:off x="1049274" y="6473952"/>
            <a:ext cx="59436" cy="59436"/>
          </a:xfrm>
          <a:prstGeom prst="ellipse">
            <a:avLst/>
          </a:prstGeom>
          <a:solidFill>
            <a:srgbClr val="D9DEE8"/>
          </a:solidFill>
          <a:ln/>
        </p:spPr>
      </p:sp>
      <p:sp>
        <p:nvSpPr>
          <p:cNvPr id="10" name="Shape 7"/>
          <p:cNvSpPr/>
          <p:nvPr/>
        </p:nvSpPr>
        <p:spPr>
          <a:xfrm>
            <a:off x="1268730" y="6473952"/>
            <a:ext cx="59436" cy="59436"/>
          </a:xfrm>
          <a:prstGeom prst="ellipse">
            <a:avLst/>
          </a:prstGeom>
          <a:solidFill>
            <a:srgbClr val="D9DEE8"/>
          </a:solidFill>
          <a:ln/>
        </p:spPr>
      </p:sp>
      <p:sp>
        <p:nvSpPr>
          <p:cNvPr id="11" name="Text 8"/>
          <p:cNvSpPr txBox="1"/>
          <p:nvPr/>
        </p:nvSpPr>
        <p:spPr>
          <a:xfrm>
            <a:off x="1563624" y="6391656"/>
            <a:ext cx="3291840" cy="274320"/>
          </a:xfrm>
          <a:prstGeom prst="rect">
            <a:avLst/>
          </a:prstGeom>
          <a:noFill/>
          <a:ln/>
        </p:spPr>
        <p:txBody>
          <a:bodyPr wrap="square" lIns="0" tIns="0" rIns="0" bIns="0" rtlCol="0" anchor="ctr"/>
          <a:lstStyle/>
          <a:p>
            <a:pPr marL="0" indent="0">
              <a:buNone/>
            </a:pPr>
            <a:r>
              <a:rPr lang="en-US" sz="850" kern="0" spc="50" dirty="0">
                <a:solidFill>
                  <a:srgbClr val="5B6478"/>
                </a:solidFill>
                <a:latin typeface="Calibri" pitchFamily="34" charset="0"/>
                <a:ea typeface="Calibri" pitchFamily="34" charset="-122"/>
                <a:cs typeface="Calibri" pitchFamily="34" charset="-120"/>
              </a:rPr>
              <a:t>VANISHING/EXPLODING &amp; INIT</a:t>
            </a:r>
            <a:endParaRPr lang="en-US" sz="8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txBox="1"/>
          <p:nvPr/>
        </p:nvSpPr>
        <p:spPr>
          <a:xfrm>
            <a:off x="640080" y="457200"/>
            <a:ext cx="9144000" cy="320040"/>
          </a:xfrm>
          <a:prstGeom prst="rect">
            <a:avLst/>
          </a:prstGeom>
          <a:noFill/>
          <a:ln/>
        </p:spPr>
        <p:txBody>
          <a:bodyPr wrap="square" lIns="0" tIns="0" rIns="0" bIns="0" rtlCol="0" anchor="ctr"/>
          <a:lstStyle/>
          <a:p>
            <a:pPr marL="0" indent="0">
              <a:buNone/>
            </a:pPr>
            <a:r>
              <a:rPr lang="en-US" sz="1300" b="1" kern="0" spc="100" dirty="0">
                <a:solidFill>
                  <a:srgbClr val="285AB4"/>
                </a:solidFill>
                <a:latin typeface="Calibri" pitchFamily="34" charset="0"/>
                <a:ea typeface="Calibri" pitchFamily="34" charset="-122"/>
                <a:cs typeface="Calibri" pitchFamily="34" charset="-120"/>
              </a:rPr>
              <a:t>PARAMETER INITIALIZATION — SYNTHESIS</a:t>
            </a:r>
            <a:endParaRPr lang="en-US" sz="1300" dirty="0"/>
          </a:p>
        </p:txBody>
      </p:sp>
      <p:sp>
        <p:nvSpPr>
          <p:cNvPr id="3" name="Text 1"/>
          <p:cNvSpPr txBox="1"/>
          <p:nvPr/>
        </p:nvSpPr>
        <p:spPr>
          <a:xfrm>
            <a:off x="640080" y="749808"/>
            <a:ext cx="10911535" cy="822960"/>
          </a:xfrm>
          <a:prstGeom prst="rect">
            <a:avLst/>
          </a:prstGeom>
          <a:noFill/>
          <a:ln/>
        </p:spPr>
        <p:txBody>
          <a:bodyPr wrap="square" lIns="0" tIns="0" rIns="0" bIns="0" rtlCol="0" anchor="t"/>
          <a:lstStyle/>
          <a:p>
            <a:pPr marL="0" indent="0">
              <a:buNone/>
            </a:pPr>
            <a:r>
              <a:rPr lang="en-US" sz="2600" b="1" dirty="0">
                <a:solidFill>
                  <a:srgbClr val="1A2238"/>
                </a:solidFill>
                <a:latin typeface="Cambria" pitchFamily="34" charset="0"/>
                <a:ea typeface="Cambria" pitchFamily="34" charset="-122"/>
                <a:cs typeface="Cambria" pitchFamily="34" charset="-120"/>
              </a:rPr>
              <a:t>Xavier và He đang cố giữ điều gì?</a:t>
            </a:r>
            <a:endParaRPr lang="en-US" sz="2600" dirty="0"/>
          </a:p>
        </p:txBody>
      </p:sp>
      <p:sp>
        <p:nvSpPr>
          <p:cNvPr id="4" name="Shape 2"/>
          <p:cNvSpPr/>
          <p:nvPr/>
        </p:nvSpPr>
        <p:spPr>
          <a:xfrm>
            <a:off x="640080" y="1965960"/>
            <a:ext cx="5120640" cy="1965960"/>
          </a:xfrm>
          <a:prstGeom prst="roundRect">
            <a:avLst>
              <a:gd name="adj" fmla="val 3721"/>
            </a:avLst>
          </a:prstGeom>
          <a:solidFill>
            <a:srgbClr val="EAF0FB"/>
          </a:solidFill>
          <a:ln w="12700">
            <a:solidFill>
              <a:srgbClr val="285AB4"/>
            </a:solidFill>
            <a:prstDash val="solid"/>
          </a:ln>
          <a:effectLst>
            <a:outerShdw blurRad="114300" dist="38100" dir="5400000" algn="bl" rotWithShape="0">
              <a:srgbClr val="1A1A2E">
                <a:alpha val="20000"/>
              </a:srgbClr>
            </a:outerShdw>
          </a:effectLst>
        </p:spPr>
      </p:sp>
      <p:sp>
        <p:nvSpPr>
          <p:cNvPr id="5" name="Text 3"/>
          <p:cNvSpPr txBox="1"/>
          <p:nvPr/>
        </p:nvSpPr>
        <p:spPr>
          <a:xfrm>
            <a:off x="914400" y="2167128"/>
            <a:ext cx="4572000" cy="548640"/>
          </a:xfrm>
          <a:prstGeom prst="rect">
            <a:avLst/>
          </a:prstGeom>
          <a:noFill/>
          <a:ln/>
        </p:spPr>
        <p:txBody>
          <a:bodyPr wrap="square" lIns="0" tIns="0" rIns="0" bIns="0" rtlCol="0" anchor="ctr"/>
          <a:lstStyle/>
          <a:p>
            <a:pPr marL="0" indent="0">
              <a:buNone/>
            </a:pPr>
            <a:r>
              <a:rPr lang="en-US" sz="1450" b="1" dirty="0">
                <a:solidFill>
                  <a:srgbClr val="285AB4"/>
                </a:solidFill>
                <a:latin typeface="Cambria" pitchFamily="34" charset="0"/>
                <a:ea typeface="Cambria" pitchFamily="34" charset="-122"/>
                <a:cs typeface="Cambria" pitchFamily="34" charset="-120"/>
              </a:rPr>
              <a:t>Forward</a:t>
            </a:r>
            <a:endParaRPr lang="en-US" sz="1450" dirty="0"/>
          </a:p>
        </p:txBody>
      </p:sp>
      <p:sp>
        <p:nvSpPr>
          <p:cNvPr id="6" name="Text 4"/>
          <p:cNvSpPr txBox="1"/>
          <p:nvPr/>
        </p:nvSpPr>
        <p:spPr>
          <a:xfrm>
            <a:off x="914400" y="2834640"/>
            <a:ext cx="4572000" cy="960120"/>
          </a:xfrm>
          <a:prstGeom prst="rect">
            <a:avLst/>
          </a:prstGeom>
          <a:noFill/>
          <a:ln/>
        </p:spPr>
        <p:txBody>
          <a:bodyPr wrap="square" lIns="0" tIns="0" rIns="0" bIns="0" rtlCol="0" anchor="t"/>
          <a:lstStyle/>
          <a:p>
            <a:pPr marL="228600" indent="-228600">
              <a:spcAft>
                <a:spcPts val="900"/>
              </a:spcAft>
              <a:buSzPct val="100000"/>
              <a:buChar char="▪"/>
            </a:pPr>
            <a:r>
              <a:rPr lang="en-US" sz="1450" dirty="0">
                <a:solidFill>
                  <a:srgbClr val="1A2238"/>
                </a:solidFill>
                <a:latin typeface="Calibri" pitchFamily="34" charset="0"/>
                <a:ea typeface="Calibri" pitchFamily="34" charset="-122"/>
                <a:cs typeface="Calibri" pitchFamily="34" charset="-120"/>
              </a:rPr>
              <a:t>Var(a⁽ˡ⁾) ≈ ổn định qua các layer</a:t>
            </a:r>
            <a:endParaRPr lang="en-US" sz="1450" dirty="0"/>
          </a:p>
          <a:p>
            <a:pPr marL="228600" indent="-228600">
              <a:spcAft>
                <a:spcPts val="900"/>
              </a:spcAft>
              <a:buSzPct val="100000"/>
              <a:buChar char="▪"/>
            </a:pPr>
            <a:r>
              <a:rPr lang="en-US" sz="1450" dirty="0">
                <a:solidFill>
                  <a:srgbClr val="1A2238"/>
                </a:solidFill>
                <a:latin typeface="Calibri" pitchFamily="34" charset="0"/>
                <a:ea typeface="Calibri" pitchFamily="34" charset="-122"/>
                <a:cs typeface="Calibri" pitchFamily="34" charset="-120"/>
              </a:rPr>
              <a:t>(không co cụm về 0, không bùng nổ khi đi qua nhiều lớp)</a:t>
            </a:r>
            <a:endParaRPr lang="en-US" sz="1450" dirty="0"/>
          </a:p>
        </p:txBody>
      </p:sp>
      <p:sp>
        <p:nvSpPr>
          <p:cNvPr id="7" name="Shape 5"/>
          <p:cNvSpPr/>
          <p:nvPr/>
        </p:nvSpPr>
        <p:spPr>
          <a:xfrm>
            <a:off x="6430975" y="1965960"/>
            <a:ext cx="5120640" cy="1965960"/>
          </a:xfrm>
          <a:prstGeom prst="roundRect">
            <a:avLst>
              <a:gd name="adj" fmla="val 3721"/>
            </a:avLst>
          </a:prstGeom>
          <a:solidFill>
            <a:srgbClr val="FBEEEC"/>
          </a:solidFill>
          <a:ln w="12700">
            <a:solidFill>
              <a:srgbClr val="BE3C32"/>
            </a:solidFill>
            <a:prstDash val="solid"/>
          </a:ln>
          <a:effectLst>
            <a:outerShdw blurRad="114300" dist="38100" dir="5400000" algn="bl" rotWithShape="0">
              <a:srgbClr val="1A1A2E">
                <a:alpha val="20000"/>
              </a:srgbClr>
            </a:outerShdw>
          </a:effectLst>
        </p:spPr>
      </p:sp>
      <p:sp>
        <p:nvSpPr>
          <p:cNvPr id="8" name="Text 6"/>
          <p:cNvSpPr txBox="1"/>
          <p:nvPr/>
        </p:nvSpPr>
        <p:spPr>
          <a:xfrm>
            <a:off x="6705295" y="2167128"/>
            <a:ext cx="4572000" cy="548640"/>
          </a:xfrm>
          <a:prstGeom prst="rect">
            <a:avLst/>
          </a:prstGeom>
          <a:noFill/>
          <a:ln/>
        </p:spPr>
        <p:txBody>
          <a:bodyPr wrap="square" lIns="0" tIns="0" rIns="0" bIns="0" rtlCol="0" anchor="ctr"/>
          <a:lstStyle/>
          <a:p>
            <a:pPr marL="0" indent="0">
              <a:buNone/>
            </a:pPr>
            <a:r>
              <a:rPr lang="en-US" sz="1450" b="1" dirty="0">
                <a:solidFill>
                  <a:srgbClr val="BE3C32"/>
                </a:solidFill>
                <a:latin typeface="Cambria" pitchFamily="34" charset="0"/>
                <a:ea typeface="Cambria" pitchFamily="34" charset="-122"/>
                <a:cs typeface="Cambria" pitchFamily="34" charset="-120"/>
              </a:rPr>
              <a:t>Backward</a:t>
            </a:r>
            <a:endParaRPr lang="en-US" sz="1450" dirty="0"/>
          </a:p>
        </p:txBody>
      </p:sp>
      <p:sp>
        <p:nvSpPr>
          <p:cNvPr id="9" name="Text 7"/>
          <p:cNvSpPr txBox="1"/>
          <p:nvPr/>
        </p:nvSpPr>
        <p:spPr>
          <a:xfrm>
            <a:off x="6705295" y="2834640"/>
            <a:ext cx="4572000" cy="960120"/>
          </a:xfrm>
          <a:prstGeom prst="rect">
            <a:avLst/>
          </a:prstGeom>
          <a:noFill/>
          <a:ln/>
        </p:spPr>
        <p:txBody>
          <a:bodyPr wrap="square" lIns="0" tIns="0" rIns="0" bIns="0" rtlCol="0" anchor="t"/>
          <a:lstStyle/>
          <a:p>
            <a:pPr marL="228600" indent="-228600">
              <a:spcAft>
                <a:spcPts val="900"/>
              </a:spcAft>
              <a:buSzPct val="100000"/>
              <a:buChar char="▪"/>
            </a:pPr>
            <a:r>
              <a:rPr lang="en-US" sz="1450" dirty="0">
                <a:solidFill>
                  <a:srgbClr val="1A2238"/>
                </a:solidFill>
                <a:latin typeface="Calibri" pitchFamily="34" charset="0"/>
                <a:ea typeface="Calibri" pitchFamily="34" charset="-122"/>
                <a:cs typeface="Calibri" pitchFamily="34" charset="-120"/>
              </a:rPr>
              <a:t>Var(δ⁽ˡ⁾) ≈ ổn định qua các layer</a:t>
            </a:r>
            <a:endParaRPr lang="en-US" sz="1450" dirty="0"/>
          </a:p>
          <a:p>
            <a:pPr marL="228600" indent="-228600">
              <a:spcAft>
                <a:spcPts val="900"/>
              </a:spcAft>
              <a:buSzPct val="100000"/>
              <a:buChar char="▪"/>
            </a:pPr>
            <a:r>
              <a:rPr lang="en-US" sz="1450" dirty="0">
                <a:solidFill>
                  <a:srgbClr val="1A2238"/>
                </a:solidFill>
                <a:latin typeface="Calibri" pitchFamily="34" charset="0"/>
                <a:ea typeface="Calibri" pitchFamily="34" charset="-122"/>
                <a:cs typeface="Calibri" pitchFamily="34" charset="-120"/>
              </a:rPr>
              <a:t>(δ = ∂L/∂z — cùng logic áp dụng cho gradient khi lan truyền ngược)</a:t>
            </a:r>
            <a:endParaRPr lang="en-US" sz="1450" dirty="0"/>
          </a:p>
        </p:txBody>
      </p:sp>
      <p:sp>
        <p:nvSpPr>
          <p:cNvPr id="10" name="Shape 8"/>
          <p:cNvSpPr/>
          <p:nvPr/>
        </p:nvSpPr>
        <p:spPr>
          <a:xfrm>
            <a:off x="640080" y="4343400"/>
            <a:ext cx="10911535" cy="1051560"/>
          </a:xfrm>
          <a:prstGeom prst="roundRect">
            <a:avLst>
              <a:gd name="adj" fmla="val 6957"/>
            </a:avLst>
          </a:prstGeom>
          <a:solidFill>
            <a:srgbClr val="F1F4F9"/>
          </a:solidFill>
          <a:ln w="9525">
            <a:solidFill>
              <a:srgbClr val="D9DEE8"/>
            </a:solidFill>
            <a:prstDash val="solid"/>
          </a:ln>
          <a:effectLst>
            <a:outerShdw blurRad="114300" dist="38100" dir="5400000" algn="bl" rotWithShape="0">
              <a:srgbClr val="1A1A2E">
                <a:alpha val="20000"/>
              </a:srgbClr>
            </a:outerShdw>
          </a:effectLst>
        </p:spPr>
      </p:sp>
      <p:sp>
        <p:nvSpPr>
          <p:cNvPr id="11" name="Text 9"/>
          <p:cNvSpPr txBox="1"/>
          <p:nvPr/>
        </p:nvSpPr>
        <p:spPr>
          <a:xfrm>
            <a:off x="868680" y="4343400"/>
            <a:ext cx="10454335" cy="1051560"/>
          </a:xfrm>
          <a:prstGeom prst="rect">
            <a:avLst/>
          </a:prstGeom>
          <a:noFill/>
          <a:ln/>
        </p:spPr>
        <p:txBody>
          <a:bodyPr wrap="square" lIns="0" tIns="0" rIns="0" bIns="0" rtlCol="0" anchor="ctr"/>
          <a:lstStyle/>
          <a:p>
            <a:pPr marL="0" indent="0" algn="ctr">
              <a:buNone/>
            </a:pPr>
            <a:r>
              <a:rPr lang="en-US" sz="1500" dirty="0">
                <a:solidFill>
                  <a:srgbClr val="16213E"/>
                </a:solidFill>
                <a:latin typeface="Cambria Math" pitchFamily="34" charset="0"/>
                <a:ea typeface="Cambria Math" pitchFamily="34" charset="-122"/>
                <a:cs typeface="Cambria Math" pitchFamily="34" charset="-120"/>
              </a:rPr>
              <a:t>Good initialization attempts to prevent the scale of signals and gradients from systematically collapsing or exploding as depth increases.</a:t>
            </a:r>
            <a:endParaRPr lang="en-US" sz="1500" dirty="0"/>
          </a:p>
        </p:txBody>
      </p:sp>
      <p:sp>
        <p:nvSpPr>
          <p:cNvPr id="12" name="Text 10"/>
          <p:cNvSpPr txBox="1"/>
          <p:nvPr/>
        </p:nvSpPr>
        <p:spPr>
          <a:xfrm>
            <a:off x="640080" y="5577840"/>
            <a:ext cx="10911535" cy="640080"/>
          </a:xfrm>
          <a:prstGeom prst="rect">
            <a:avLst/>
          </a:prstGeom>
          <a:noFill/>
          <a:ln/>
        </p:spPr>
        <p:txBody>
          <a:bodyPr wrap="square" lIns="0" tIns="0" rIns="0" bIns="0" rtlCol="0" anchor="ctr"/>
          <a:lstStyle/>
          <a:p>
            <a:pPr marL="0" indent="0">
              <a:buNone/>
            </a:pPr>
            <a:r>
              <a:rPr lang="en-US" sz="1200" i="1" dirty="0">
                <a:solidFill>
                  <a:srgbClr val="5B6478"/>
                </a:solidFill>
                <a:latin typeface="Calibri" pitchFamily="34" charset="0"/>
                <a:ea typeface="Calibri" pitchFamily="34" charset="-122"/>
                <a:cs typeface="Calibri" pitchFamily="34" charset="-120"/>
              </a:rPr>
              <a:t>Đây là mục tiêu chung, dưới các giả định đơn giản hoá tại thời điểm khởi tạo — không phải đảm bảo tuyệt đối trong mọi kiến trúc/activation.</a:t>
            </a:r>
            <a:endParaRPr lang="en-US" sz="1200" dirty="0"/>
          </a:p>
        </p:txBody>
      </p:sp>
      <p:sp>
        <p:nvSpPr>
          <p:cNvPr id="13" name="Text 11"/>
          <p:cNvSpPr txBox="1"/>
          <p:nvPr/>
        </p:nvSpPr>
        <p:spPr>
          <a:xfrm>
            <a:off x="11185855" y="6446520"/>
            <a:ext cx="731520" cy="274320"/>
          </a:xfrm>
          <a:prstGeom prst="rect">
            <a:avLst/>
          </a:prstGeom>
          <a:noFill/>
          <a:ln/>
        </p:spPr>
        <p:txBody>
          <a:bodyPr wrap="square" lIns="0" tIns="0" rIns="0" bIns="0" rtlCol="0" anchor="ctr"/>
          <a:lstStyle/>
          <a:p>
            <a:pPr marL="0" indent="0" algn="r">
              <a:buNone/>
            </a:pPr>
            <a:r>
              <a:rPr lang="en-US" sz="900" dirty="0">
                <a:solidFill>
                  <a:srgbClr val="5B6478"/>
                </a:solidFill>
                <a:latin typeface="Calibri" pitchFamily="34" charset="0"/>
                <a:ea typeface="Calibri" pitchFamily="34" charset="-122"/>
                <a:cs typeface="Calibri" pitchFamily="34" charset="-120"/>
              </a:rPr>
              <a:t>15/26</a:t>
            </a:r>
            <a:endParaRPr lang="en-US" sz="900" dirty="0"/>
          </a:p>
        </p:txBody>
      </p:sp>
      <p:sp>
        <p:nvSpPr>
          <p:cNvPr id="14" name="Shape 12"/>
          <p:cNvSpPr/>
          <p:nvPr/>
        </p:nvSpPr>
        <p:spPr>
          <a:xfrm>
            <a:off x="610362" y="6473952"/>
            <a:ext cx="59436" cy="59436"/>
          </a:xfrm>
          <a:prstGeom prst="ellipse">
            <a:avLst/>
          </a:prstGeom>
          <a:solidFill>
            <a:srgbClr val="D9DEE8"/>
          </a:solidFill>
          <a:ln/>
        </p:spPr>
      </p:sp>
      <p:sp>
        <p:nvSpPr>
          <p:cNvPr id="15" name="Shape 13"/>
          <p:cNvSpPr/>
          <p:nvPr/>
        </p:nvSpPr>
        <p:spPr>
          <a:xfrm>
            <a:off x="814959" y="6459093"/>
            <a:ext cx="89154" cy="89154"/>
          </a:xfrm>
          <a:prstGeom prst="ellipse">
            <a:avLst/>
          </a:prstGeom>
          <a:solidFill>
            <a:srgbClr val="285AB4"/>
          </a:solidFill>
          <a:ln/>
        </p:spPr>
      </p:sp>
      <p:sp>
        <p:nvSpPr>
          <p:cNvPr id="16" name="Shape 14"/>
          <p:cNvSpPr/>
          <p:nvPr/>
        </p:nvSpPr>
        <p:spPr>
          <a:xfrm>
            <a:off x="1049274" y="6473952"/>
            <a:ext cx="59436" cy="59436"/>
          </a:xfrm>
          <a:prstGeom prst="ellipse">
            <a:avLst/>
          </a:prstGeom>
          <a:solidFill>
            <a:srgbClr val="D9DEE8"/>
          </a:solidFill>
          <a:ln/>
        </p:spPr>
      </p:sp>
      <p:sp>
        <p:nvSpPr>
          <p:cNvPr id="17" name="Shape 15"/>
          <p:cNvSpPr/>
          <p:nvPr/>
        </p:nvSpPr>
        <p:spPr>
          <a:xfrm>
            <a:off x="1268730" y="6473952"/>
            <a:ext cx="59436" cy="59436"/>
          </a:xfrm>
          <a:prstGeom prst="ellipse">
            <a:avLst/>
          </a:prstGeom>
          <a:solidFill>
            <a:srgbClr val="D9DEE8"/>
          </a:solidFill>
          <a:ln/>
        </p:spPr>
      </p:sp>
      <p:sp>
        <p:nvSpPr>
          <p:cNvPr id="18" name="Text 16"/>
          <p:cNvSpPr txBox="1"/>
          <p:nvPr/>
        </p:nvSpPr>
        <p:spPr>
          <a:xfrm>
            <a:off x="1563624" y="6391656"/>
            <a:ext cx="3291840" cy="274320"/>
          </a:xfrm>
          <a:prstGeom prst="rect">
            <a:avLst/>
          </a:prstGeom>
          <a:noFill/>
          <a:ln/>
        </p:spPr>
        <p:txBody>
          <a:bodyPr wrap="square" lIns="0" tIns="0" rIns="0" bIns="0" rtlCol="0" anchor="ctr"/>
          <a:lstStyle/>
          <a:p>
            <a:pPr marL="0" indent="0">
              <a:buNone/>
            </a:pPr>
            <a:r>
              <a:rPr lang="en-US" sz="850" kern="0" spc="50" dirty="0">
                <a:solidFill>
                  <a:srgbClr val="5B6478"/>
                </a:solidFill>
                <a:latin typeface="Calibri" pitchFamily="34" charset="0"/>
                <a:ea typeface="Calibri" pitchFamily="34" charset="-122"/>
                <a:cs typeface="Calibri" pitchFamily="34" charset="-120"/>
              </a:rPr>
              <a:t>VANISHING/EXPLODING &amp; INIT</a:t>
            </a:r>
            <a:endParaRPr lang="en-US" sz="8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txBox="1"/>
          <p:nvPr/>
        </p:nvSpPr>
        <p:spPr>
          <a:xfrm>
            <a:off x="640080" y="457200"/>
            <a:ext cx="9144000" cy="320040"/>
          </a:xfrm>
          <a:prstGeom prst="rect">
            <a:avLst/>
          </a:prstGeom>
          <a:noFill/>
          <a:ln/>
        </p:spPr>
        <p:txBody>
          <a:bodyPr wrap="square" lIns="0" tIns="0" rIns="0" bIns="0" rtlCol="0" anchor="ctr"/>
          <a:lstStyle/>
          <a:p>
            <a:pPr marL="0" indent="0">
              <a:buNone/>
            </a:pPr>
            <a:r>
              <a:rPr lang="en-US" sz="1300" b="1" kern="0" spc="100" dirty="0">
                <a:solidFill>
                  <a:srgbClr val="285AB4"/>
                </a:solidFill>
                <a:latin typeface="Calibri" pitchFamily="34" charset="0"/>
                <a:ea typeface="Calibri" pitchFamily="34" charset="-122"/>
                <a:cs typeface="Calibri" pitchFamily="34" charset="-120"/>
              </a:rPr>
              <a:t>DEMO — MINI RESEARCH EXPERIMENT</a:t>
            </a:r>
            <a:endParaRPr lang="en-US" sz="1300" dirty="0"/>
          </a:p>
        </p:txBody>
      </p:sp>
      <p:sp>
        <p:nvSpPr>
          <p:cNvPr id="3" name="Text 1"/>
          <p:cNvSpPr txBox="1"/>
          <p:nvPr/>
        </p:nvSpPr>
        <p:spPr>
          <a:xfrm>
            <a:off x="640080" y="749808"/>
            <a:ext cx="10911535" cy="822960"/>
          </a:xfrm>
          <a:prstGeom prst="rect">
            <a:avLst/>
          </a:prstGeom>
          <a:noFill/>
          <a:ln/>
        </p:spPr>
        <p:txBody>
          <a:bodyPr wrap="square" lIns="0" tIns="0" rIns="0" bIns="0" rtlCol="0" anchor="t"/>
          <a:lstStyle/>
          <a:p>
            <a:pPr marL="0" indent="0">
              <a:buNone/>
            </a:pPr>
            <a:r>
              <a:rPr lang="en-US" sz="2600" b="1" dirty="0">
                <a:solidFill>
                  <a:srgbClr val="1A2238"/>
                </a:solidFill>
                <a:latin typeface="Cambria" pitchFamily="34" charset="0"/>
                <a:ea typeface="Cambria" pitchFamily="34" charset="-122"/>
                <a:cs typeface="Cambria" pitchFamily="34" charset="-120"/>
              </a:rPr>
              <a:t>Thiết kế thực nghiệm</a:t>
            </a:r>
            <a:endParaRPr lang="en-US" sz="2600" dirty="0"/>
          </a:p>
        </p:txBody>
      </p:sp>
      <p:sp>
        <p:nvSpPr>
          <p:cNvPr id="4" name="Shape 2"/>
          <p:cNvSpPr/>
          <p:nvPr/>
        </p:nvSpPr>
        <p:spPr>
          <a:xfrm>
            <a:off x="640080" y="1600200"/>
            <a:ext cx="10911535" cy="594360"/>
          </a:xfrm>
          <a:prstGeom prst="roundRect">
            <a:avLst>
              <a:gd name="adj" fmla="val 12308"/>
            </a:avLst>
          </a:prstGeom>
          <a:solidFill>
            <a:srgbClr val="F1F4F9"/>
          </a:solidFill>
          <a:ln w="9525">
            <a:solidFill>
              <a:srgbClr val="D9DEE8"/>
            </a:solidFill>
            <a:prstDash val="solid"/>
          </a:ln>
          <a:effectLst>
            <a:outerShdw blurRad="114300" dist="38100" dir="5400000" algn="bl" rotWithShape="0">
              <a:srgbClr val="1A1A2E">
                <a:alpha val="20000"/>
              </a:srgbClr>
            </a:outerShdw>
          </a:effectLst>
        </p:spPr>
      </p:sp>
      <p:sp>
        <p:nvSpPr>
          <p:cNvPr id="5" name="Text 3"/>
          <p:cNvSpPr txBox="1"/>
          <p:nvPr/>
        </p:nvSpPr>
        <p:spPr>
          <a:xfrm>
            <a:off x="868680" y="1600200"/>
            <a:ext cx="10454335" cy="594360"/>
          </a:xfrm>
          <a:prstGeom prst="rect">
            <a:avLst/>
          </a:prstGeom>
          <a:noFill/>
          <a:ln/>
        </p:spPr>
        <p:txBody>
          <a:bodyPr wrap="square" lIns="0" tIns="0" rIns="0" bIns="0" rtlCol="0" anchor="ctr"/>
          <a:lstStyle/>
          <a:p>
            <a:pPr marL="0" indent="0" algn="ctr">
              <a:buNone/>
            </a:pPr>
            <a:r>
              <a:rPr lang="en-US" sz="1550" dirty="0">
                <a:solidFill>
                  <a:srgbClr val="16213E"/>
                </a:solidFill>
                <a:latin typeface="Cambria Math" pitchFamily="34" charset="0"/>
                <a:ea typeface="Cambria Math" pitchFamily="34" charset="-122"/>
                <a:cs typeface="Cambria Math" pitchFamily="34" charset="-120"/>
              </a:rPr>
              <a:t>How does weight initialization affect gradient flow and convergence?</a:t>
            </a:r>
            <a:endParaRPr lang="en-US" sz="1550" dirty="0"/>
          </a:p>
        </p:txBody>
      </p:sp>
      <p:graphicFrame>
        <p:nvGraphicFramePr>
          <p:cNvPr id="17" name="Table 0"/>
          <p:cNvGraphicFramePr>
            <a:graphicFrameLocks noGrp="1"/>
          </p:cNvGraphicFramePr>
          <p:nvPr>
            <p:extLst>
              <p:ext uri="{D42A27DB-BD31-4B8C-83A1-F6EECF244321}">
                <p14:modId xmlns:p14="http://schemas.microsoft.com/office/powerpoint/2010/main" val="1579011935"/>
              </p:ext>
            </p:extLst>
          </p:nvPr>
        </p:nvGraphicFramePr>
        <p:xfrm>
          <a:off x="640080" y="2377440"/>
          <a:ext cx="11091672" cy="1463040"/>
        </p:xfrm>
        <a:graphic>
          <a:graphicData uri="http://schemas.openxmlformats.org/drawingml/2006/table">
            <a:tbl>
              <a:tblPr/>
              <a:tblGrid>
                <a:gridCol w="2377440">
                  <a:extLst>
                    <a:ext uri="{9D8B030D-6E8A-4147-A177-3AD203B41FA5}">
                      <a16:colId xmlns:a16="http://schemas.microsoft.com/office/drawing/2014/main" val="20000"/>
                    </a:ext>
                  </a:extLst>
                </a:gridCol>
                <a:gridCol w="2651760">
                  <a:extLst>
                    <a:ext uri="{9D8B030D-6E8A-4147-A177-3AD203B41FA5}">
                      <a16:colId xmlns:a16="http://schemas.microsoft.com/office/drawing/2014/main" val="20001"/>
                    </a:ext>
                  </a:extLst>
                </a:gridCol>
                <a:gridCol w="1645920">
                  <a:extLst>
                    <a:ext uri="{9D8B030D-6E8A-4147-A177-3AD203B41FA5}">
                      <a16:colId xmlns:a16="http://schemas.microsoft.com/office/drawing/2014/main" val="20002"/>
                    </a:ext>
                  </a:extLst>
                </a:gridCol>
                <a:gridCol w="914400">
                  <a:extLst>
                    <a:ext uri="{9D8B030D-6E8A-4147-A177-3AD203B41FA5}">
                      <a16:colId xmlns:a16="http://schemas.microsoft.com/office/drawing/2014/main" val="20003"/>
                    </a:ext>
                  </a:extLst>
                </a:gridCol>
                <a:gridCol w="914400">
                  <a:extLst>
                    <a:ext uri="{9D8B030D-6E8A-4147-A177-3AD203B41FA5}">
                      <a16:colId xmlns:a16="http://schemas.microsoft.com/office/drawing/2014/main" val="20004"/>
                    </a:ext>
                  </a:extLst>
                </a:gridCol>
                <a:gridCol w="2587752">
                  <a:extLst>
                    <a:ext uri="{9D8B030D-6E8A-4147-A177-3AD203B41FA5}">
                      <a16:colId xmlns:a16="http://schemas.microsoft.com/office/drawing/2014/main" val="20005"/>
                    </a:ext>
                  </a:extLst>
                </a:gridCol>
              </a:tblGrid>
              <a:tr h="731520">
                <a:tc>
                  <a:txBody>
                    <a:bodyPr/>
                    <a:lstStyle/>
                    <a:p>
                      <a:pPr marL="0" indent="0">
                        <a:buNone/>
                      </a:pPr>
                      <a:r>
                        <a:rPr lang="en-US" sz="1400" b="1" dirty="0">
                          <a:solidFill>
                            <a:srgbClr val="FFFFFF"/>
                          </a:solidFill>
                        </a:rPr>
                        <a:t>Architecture</a:t>
                      </a:r>
                      <a:endParaRPr lang="en-US" sz="1400" dirty="0"/>
                    </a:p>
                  </a:txBody>
                  <a:tcPr>
                    <a:lnL w="6350" cap="flat" cmpd="sng" algn="ctr">
                      <a:solidFill>
                        <a:srgbClr val="D9DEE8"/>
                      </a:solidFill>
                      <a:prstDash val="solid"/>
                      <a:round/>
                      <a:headEnd type="none" w="med" len="med"/>
                      <a:tailEnd type="none" w="med" len="med"/>
                    </a:lnL>
                    <a:lnR w="6350" cap="flat" cmpd="sng" algn="ctr">
                      <a:solidFill>
                        <a:srgbClr val="D9DEE8"/>
                      </a:solidFill>
                      <a:prstDash val="solid"/>
                      <a:round/>
                      <a:headEnd type="none" w="med" len="med"/>
                      <a:tailEnd type="none" w="med" len="med"/>
                    </a:lnR>
                    <a:lnT w="6350" cap="flat" cmpd="sng" algn="ctr">
                      <a:solidFill>
                        <a:srgbClr val="D9DEE8"/>
                      </a:solidFill>
                      <a:prstDash val="solid"/>
                      <a:round/>
                      <a:headEnd type="none" w="med" len="med"/>
                      <a:tailEnd type="none" w="med" len="med"/>
                    </a:lnT>
                    <a:lnB w="6350" cap="flat" cmpd="sng" algn="ctr">
                      <a:solidFill>
                        <a:srgbClr val="D9DEE8"/>
                      </a:solidFill>
                      <a:prstDash val="solid"/>
                      <a:round/>
                      <a:headEnd type="none" w="med" len="med"/>
                      <a:tailEnd type="none" w="med" len="med"/>
                    </a:lnB>
                    <a:solidFill>
                      <a:srgbClr val="16213E"/>
                    </a:solidFill>
                  </a:tcPr>
                </a:tc>
                <a:tc>
                  <a:txBody>
                    <a:bodyPr/>
                    <a:lstStyle/>
                    <a:p>
                      <a:pPr marL="0" indent="0">
                        <a:buNone/>
                      </a:pPr>
                      <a:r>
                        <a:rPr lang="en-US" sz="1400" b="1" dirty="0">
                          <a:solidFill>
                            <a:srgbClr val="FFFFFF"/>
                          </a:solidFill>
                        </a:rPr>
                        <a:t>Dataset</a:t>
                      </a:r>
                      <a:endParaRPr lang="en-US" sz="1400" dirty="0"/>
                    </a:p>
                  </a:txBody>
                  <a:tcPr>
                    <a:lnL w="6350" cap="flat" cmpd="sng" algn="ctr">
                      <a:solidFill>
                        <a:srgbClr val="D9DEE8"/>
                      </a:solidFill>
                      <a:prstDash val="solid"/>
                      <a:round/>
                      <a:headEnd type="none" w="med" len="med"/>
                      <a:tailEnd type="none" w="med" len="med"/>
                    </a:lnL>
                    <a:lnR w="6350" cap="flat" cmpd="sng" algn="ctr">
                      <a:solidFill>
                        <a:srgbClr val="D9DEE8"/>
                      </a:solidFill>
                      <a:prstDash val="solid"/>
                      <a:round/>
                      <a:headEnd type="none" w="med" len="med"/>
                      <a:tailEnd type="none" w="med" len="med"/>
                    </a:lnR>
                    <a:lnT w="6350" cap="flat" cmpd="sng" algn="ctr">
                      <a:solidFill>
                        <a:srgbClr val="D9DEE8"/>
                      </a:solidFill>
                      <a:prstDash val="solid"/>
                      <a:round/>
                      <a:headEnd type="none" w="med" len="med"/>
                      <a:tailEnd type="none" w="med" len="med"/>
                    </a:lnT>
                    <a:lnB w="6350" cap="flat" cmpd="sng" algn="ctr">
                      <a:solidFill>
                        <a:srgbClr val="D9DEE8"/>
                      </a:solidFill>
                      <a:prstDash val="solid"/>
                      <a:round/>
                      <a:headEnd type="none" w="med" len="med"/>
                      <a:tailEnd type="none" w="med" len="med"/>
                    </a:lnB>
                    <a:solidFill>
                      <a:srgbClr val="16213E"/>
                    </a:solidFill>
                  </a:tcPr>
                </a:tc>
                <a:tc>
                  <a:txBody>
                    <a:bodyPr/>
                    <a:lstStyle/>
                    <a:p>
                      <a:pPr marL="0" indent="0">
                        <a:buNone/>
                      </a:pPr>
                      <a:r>
                        <a:rPr lang="en-US" sz="1400" b="1" dirty="0">
                          <a:solidFill>
                            <a:srgbClr val="FFFFFF"/>
                          </a:solidFill>
                        </a:rPr>
                        <a:t>Optimizer</a:t>
                      </a:r>
                      <a:endParaRPr lang="en-US" sz="1400" dirty="0"/>
                    </a:p>
                  </a:txBody>
                  <a:tcPr>
                    <a:lnL w="6350" cap="flat" cmpd="sng" algn="ctr">
                      <a:solidFill>
                        <a:srgbClr val="D9DEE8"/>
                      </a:solidFill>
                      <a:prstDash val="solid"/>
                      <a:round/>
                      <a:headEnd type="none" w="med" len="med"/>
                      <a:tailEnd type="none" w="med" len="med"/>
                    </a:lnL>
                    <a:lnR w="6350" cap="flat" cmpd="sng" algn="ctr">
                      <a:solidFill>
                        <a:srgbClr val="D9DEE8"/>
                      </a:solidFill>
                      <a:prstDash val="solid"/>
                      <a:round/>
                      <a:headEnd type="none" w="med" len="med"/>
                      <a:tailEnd type="none" w="med" len="med"/>
                    </a:lnR>
                    <a:lnT w="6350" cap="flat" cmpd="sng" algn="ctr">
                      <a:solidFill>
                        <a:srgbClr val="D9DEE8"/>
                      </a:solidFill>
                      <a:prstDash val="solid"/>
                      <a:round/>
                      <a:headEnd type="none" w="med" len="med"/>
                      <a:tailEnd type="none" w="med" len="med"/>
                    </a:lnT>
                    <a:lnB w="6350" cap="flat" cmpd="sng" algn="ctr">
                      <a:solidFill>
                        <a:srgbClr val="D9DEE8"/>
                      </a:solidFill>
                      <a:prstDash val="solid"/>
                      <a:round/>
                      <a:headEnd type="none" w="med" len="med"/>
                      <a:tailEnd type="none" w="med" len="med"/>
                    </a:lnB>
                    <a:solidFill>
                      <a:srgbClr val="16213E"/>
                    </a:solidFill>
                  </a:tcPr>
                </a:tc>
                <a:tc>
                  <a:txBody>
                    <a:bodyPr/>
                    <a:lstStyle/>
                    <a:p>
                      <a:pPr marL="0" indent="0">
                        <a:buNone/>
                      </a:pPr>
                      <a:r>
                        <a:rPr lang="en-US" sz="1400" b="1" dirty="0">
                          <a:solidFill>
                            <a:srgbClr val="FFFFFF"/>
                          </a:solidFill>
                        </a:rPr>
                        <a:t>Epoch</a:t>
                      </a:r>
                      <a:endParaRPr lang="en-US" sz="1400" dirty="0"/>
                    </a:p>
                  </a:txBody>
                  <a:tcPr>
                    <a:lnL w="6350" cap="flat" cmpd="sng" algn="ctr">
                      <a:solidFill>
                        <a:srgbClr val="D9DEE8"/>
                      </a:solidFill>
                      <a:prstDash val="solid"/>
                      <a:round/>
                      <a:headEnd type="none" w="med" len="med"/>
                      <a:tailEnd type="none" w="med" len="med"/>
                    </a:lnL>
                    <a:lnR w="6350" cap="flat" cmpd="sng" algn="ctr">
                      <a:solidFill>
                        <a:srgbClr val="D9DEE8"/>
                      </a:solidFill>
                      <a:prstDash val="solid"/>
                      <a:round/>
                      <a:headEnd type="none" w="med" len="med"/>
                      <a:tailEnd type="none" w="med" len="med"/>
                    </a:lnR>
                    <a:lnT w="6350" cap="flat" cmpd="sng" algn="ctr">
                      <a:solidFill>
                        <a:srgbClr val="D9DEE8"/>
                      </a:solidFill>
                      <a:prstDash val="solid"/>
                      <a:round/>
                      <a:headEnd type="none" w="med" len="med"/>
                      <a:tailEnd type="none" w="med" len="med"/>
                    </a:lnT>
                    <a:lnB w="6350" cap="flat" cmpd="sng" algn="ctr">
                      <a:solidFill>
                        <a:srgbClr val="D9DEE8"/>
                      </a:solidFill>
                      <a:prstDash val="solid"/>
                      <a:round/>
                      <a:headEnd type="none" w="med" len="med"/>
                      <a:tailEnd type="none" w="med" len="med"/>
                    </a:lnB>
                    <a:solidFill>
                      <a:srgbClr val="16213E"/>
                    </a:solidFill>
                  </a:tcPr>
                </a:tc>
                <a:tc>
                  <a:txBody>
                    <a:bodyPr/>
                    <a:lstStyle/>
                    <a:p>
                      <a:pPr marL="0" indent="0">
                        <a:buNone/>
                      </a:pPr>
                      <a:r>
                        <a:rPr lang="en-US" sz="1400" b="1" dirty="0">
                          <a:solidFill>
                            <a:srgbClr val="FFFFFF"/>
                          </a:solidFill>
                        </a:rPr>
                        <a:t>Batch</a:t>
                      </a:r>
                      <a:endParaRPr lang="en-US" sz="1400" dirty="0"/>
                    </a:p>
                  </a:txBody>
                  <a:tcPr>
                    <a:lnL w="6350" cap="flat" cmpd="sng" algn="ctr">
                      <a:solidFill>
                        <a:srgbClr val="D9DEE8"/>
                      </a:solidFill>
                      <a:prstDash val="solid"/>
                      <a:round/>
                      <a:headEnd type="none" w="med" len="med"/>
                      <a:tailEnd type="none" w="med" len="med"/>
                    </a:lnL>
                    <a:lnR w="6350" cap="flat" cmpd="sng" algn="ctr">
                      <a:solidFill>
                        <a:srgbClr val="D9DEE8"/>
                      </a:solidFill>
                      <a:prstDash val="solid"/>
                      <a:round/>
                      <a:headEnd type="none" w="med" len="med"/>
                      <a:tailEnd type="none" w="med" len="med"/>
                    </a:lnR>
                    <a:lnT w="6350" cap="flat" cmpd="sng" algn="ctr">
                      <a:solidFill>
                        <a:srgbClr val="D9DEE8"/>
                      </a:solidFill>
                      <a:prstDash val="solid"/>
                      <a:round/>
                      <a:headEnd type="none" w="med" len="med"/>
                      <a:tailEnd type="none" w="med" len="med"/>
                    </a:lnT>
                    <a:lnB w="6350" cap="flat" cmpd="sng" algn="ctr">
                      <a:solidFill>
                        <a:srgbClr val="D9DEE8"/>
                      </a:solidFill>
                      <a:prstDash val="solid"/>
                      <a:round/>
                      <a:headEnd type="none" w="med" len="med"/>
                      <a:tailEnd type="none" w="med" len="med"/>
                    </a:lnB>
                    <a:solidFill>
                      <a:srgbClr val="16213E"/>
                    </a:solidFill>
                  </a:tcPr>
                </a:tc>
                <a:tc>
                  <a:txBody>
                    <a:bodyPr/>
                    <a:lstStyle/>
                    <a:p>
                      <a:pPr marL="0" indent="0">
                        <a:buNone/>
                      </a:pPr>
                      <a:r>
                        <a:rPr lang="en-US" sz="1400" b="1" dirty="0">
                          <a:solidFill>
                            <a:srgbClr val="FFFFFF"/>
                          </a:solidFill>
                        </a:rPr>
                        <a:t>Variable</a:t>
                      </a:r>
                      <a:endParaRPr lang="en-US" sz="1400" dirty="0"/>
                    </a:p>
                  </a:txBody>
                  <a:tcPr>
                    <a:lnL w="6350" cap="flat" cmpd="sng" algn="ctr">
                      <a:solidFill>
                        <a:srgbClr val="D9DEE8"/>
                      </a:solidFill>
                      <a:prstDash val="solid"/>
                      <a:round/>
                      <a:headEnd type="none" w="med" len="med"/>
                      <a:tailEnd type="none" w="med" len="med"/>
                    </a:lnL>
                    <a:lnR w="6350" cap="flat" cmpd="sng" algn="ctr">
                      <a:solidFill>
                        <a:srgbClr val="D9DEE8"/>
                      </a:solidFill>
                      <a:prstDash val="solid"/>
                      <a:round/>
                      <a:headEnd type="none" w="med" len="med"/>
                      <a:tailEnd type="none" w="med" len="med"/>
                    </a:lnR>
                    <a:lnT w="6350" cap="flat" cmpd="sng" algn="ctr">
                      <a:solidFill>
                        <a:srgbClr val="D9DEE8"/>
                      </a:solidFill>
                      <a:prstDash val="solid"/>
                      <a:round/>
                      <a:headEnd type="none" w="med" len="med"/>
                      <a:tailEnd type="none" w="med" len="med"/>
                    </a:lnT>
                    <a:lnB w="6350" cap="flat" cmpd="sng" algn="ctr">
                      <a:solidFill>
                        <a:srgbClr val="D9DEE8"/>
                      </a:solidFill>
                      <a:prstDash val="solid"/>
                      <a:round/>
                      <a:headEnd type="none" w="med" len="med"/>
                      <a:tailEnd type="none" w="med" len="med"/>
                    </a:lnB>
                    <a:solidFill>
                      <a:srgbClr val="16213E"/>
                    </a:solidFill>
                  </a:tcPr>
                </a:tc>
                <a:extLst>
                  <a:ext uri="{0D108BD9-81ED-4DB2-BD59-A6C34878D82A}">
                    <a16:rowId xmlns:a16="http://schemas.microsoft.com/office/drawing/2014/main" val="10000"/>
                  </a:ext>
                </a:extLst>
              </a:tr>
              <a:tr h="731520">
                <a:tc>
                  <a:txBody>
                    <a:bodyPr/>
                    <a:lstStyle/>
                    <a:p>
                      <a:pPr marL="0" indent="0" algn="ctr">
                        <a:buNone/>
                      </a:pPr>
                      <a:r>
                        <a:rPr lang="en-US" sz="1400" dirty="0">
                          <a:solidFill>
                            <a:srgbClr val="1A2238"/>
                          </a:solidFill>
                        </a:rPr>
                        <a:t>MLP 784→128×10→10, ReLU</a:t>
                      </a:r>
                      <a:endParaRPr lang="en-US" sz="1400" dirty="0"/>
                    </a:p>
                  </a:txBody>
                  <a:tcPr>
                    <a:lnL w="6350" cap="flat" cmpd="sng" algn="ctr">
                      <a:solidFill>
                        <a:srgbClr val="D9DEE8"/>
                      </a:solidFill>
                      <a:prstDash val="solid"/>
                      <a:round/>
                      <a:headEnd type="none" w="med" len="med"/>
                      <a:tailEnd type="none" w="med" len="med"/>
                    </a:lnL>
                    <a:lnR w="6350" cap="flat" cmpd="sng" algn="ctr">
                      <a:solidFill>
                        <a:srgbClr val="D9DEE8"/>
                      </a:solidFill>
                      <a:prstDash val="solid"/>
                      <a:round/>
                      <a:headEnd type="none" w="med" len="med"/>
                      <a:tailEnd type="none" w="med" len="med"/>
                    </a:lnR>
                    <a:lnT w="6350" cap="flat" cmpd="sng" algn="ctr">
                      <a:solidFill>
                        <a:srgbClr val="D9DEE8"/>
                      </a:solidFill>
                      <a:prstDash val="solid"/>
                      <a:round/>
                      <a:headEnd type="none" w="med" len="med"/>
                      <a:tailEnd type="none" w="med" len="med"/>
                    </a:lnT>
                    <a:lnB w="6350" cap="flat" cmpd="sng" algn="ctr">
                      <a:solidFill>
                        <a:srgbClr val="D9DEE8"/>
                      </a:solidFill>
                      <a:prstDash val="solid"/>
                      <a:round/>
                      <a:headEnd type="none" w="med" len="med"/>
                      <a:tailEnd type="none" w="med" len="med"/>
                    </a:lnB>
                    <a:solidFill>
                      <a:srgbClr val="F1F4F9"/>
                    </a:solidFill>
                  </a:tcPr>
                </a:tc>
                <a:tc>
                  <a:txBody>
                    <a:bodyPr/>
                    <a:lstStyle/>
                    <a:p>
                      <a:pPr marL="0" indent="0" algn="ctr">
                        <a:buNone/>
                      </a:pPr>
                      <a:r>
                        <a:rPr lang="en-US" sz="1400" dirty="0">
                          <a:solidFill>
                            <a:srgbClr val="1A2238"/>
                          </a:solidFill>
                        </a:rPr>
                        <a:t>Fashion-MNIST subset 5k / 1k / 2k</a:t>
                      </a:r>
                      <a:endParaRPr lang="en-US" sz="1400" dirty="0"/>
                    </a:p>
                  </a:txBody>
                  <a:tcPr>
                    <a:lnL w="6350" cap="flat" cmpd="sng" algn="ctr">
                      <a:solidFill>
                        <a:srgbClr val="D9DEE8"/>
                      </a:solidFill>
                      <a:prstDash val="solid"/>
                      <a:round/>
                      <a:headEnd type="none" w="med" len="med"/>
                      <a:tailEnd type="none" w="med" len="med"/>
                    </a:lnL>
                    <a:lnR w="6350" cap="flat" cmpd="sng" algn="ctr">
                      <a:solidFill>
                        <a:srgbClr val="D9DEE8"/>
                      </a:solidFill>
                      <a:prstDash val="solid"/>
                      <a:round/>
                      <a:headEnd type="none" w="med" len="med"/>
                      <a:tailEnd type="none" w="med" len="med"/>
                    </a:lnR>
                    <a:lnT w="6350" cap="flat" cmpd="sng" algn="ctr">
                      <a:solidFill>
                        <a:srgbClr val="D9DEE8"/>
                      </a:solidFill>
                      <a:prstDash val="solid"/>
                      <a:round/>
                      <a:headEnd type="none" w="med" len="med"/>
                      <a:tailEnd type="none" w="med" len="med"/>
                    </a:lnT>
                    <a:lnB w="6350" cap="flat" cmpd="sng" algn="ctr">
                      <a:solidFill>
                        <a:srgbClr val="D9DEE8"/>
                      </a:solidFill>
                      <a:prstDash val="solid"/>
                      <a:round/>
                      <a:headEnd type="none" w="med" len="med"/>
                      <a:tailEnd type="none" w="med" len="med"/>
                    </a:lnB>
                    <a:solidFill>
                      <a:srgbClr val="F1F4F9"/>
                    </a:solidFill>
                  </a:tcPr>
                </a:tc>
                <a:tc>
                  <a:txBody>
                    <a:bodyPr/>
                    <a:lstStyle/>
                    <a:p>
                      <a:pPr marL="0" indent="0" algn="ctr">
                        <a:buNone/>
                      </a:pPr>
                      <a:r>
                        <a:rPr lang="en-US" sz="1400" dirty="0">
                          <a:solidFill>
                            <a:srgbClr val="1A2238"/>
                          </a:solidFill>
                        </a:rPr>
                        <a:t>SGD, lr = 0.05</a:t>
                      </a:r>
                      <a:endParaRPr lang="en-US" sz="1400" dirty="0"/>
                    </a:p>
                  </a:txBody>
                  <a:tcPr>
                    <a:lnL w="6350" cap="flat" cmpd="sng" algn="ctr">
                      <a:solidFill>
                        <a:srgbClr val="D9DEE8"/>
                      </a:solidFill>
                      <a:prstDash val="solid"/>
                      <a:round/>
                      <a:headEnd type="none" w="med" len="med"/>
                      <a:tailEnd type="none" w="med" len="med"/>
                    </a:lnL>
                    <a:lnR w="6350" cap="flat" cmpd="sng" algn="ctr">
                      <a:solidFill>
                        <a:srgbClr val="D9DEE8"/>
                      </a:solidFill>
                      <a:prstDash val="solid"/>
                      <a:round/>
                      <a:headEnd type="none" w="med" len="med"/>
                      <a:tailEnd type="none" w="med" len="med"/>
                    </a:lnR>
                    <a:lnT w="6350" cap="flat" cmpd="sng" algn="ctr">
                      <a:solidFill>
                        <a:srgbClr val="D9DEE8"/>
                      </a:solidFill>
                      <a:prstDash val="solid"/>
                      <a:round/>
                      <a:headEnd type="none" w="med" len="med"/>
                      <a:tailEnd type="none" w="med" len="med"/>
                    </a:lnT>
                    <a:lnB w="6350" cap="flat" cmpd="sng" algn="ctr">
                      <a:solidFill>
                        <a:srgbClr val="D9DEE8"/>
                      </a:solidFill>
                      <a:prstDash val="solid"/>
                      <a:round/>
                      <a:headEnd type="none" w="med" len="med"/>
                      <a:tailEnd type="none" w="med" len="med"/>
                    </a:lnB>
                    <a:solidFill>
                      <a:srgbClr val="F1F4F9"/>
                    </a:solidFill>
                  </a:tcPr>
                </a:tc>
                <a:tc>
                  <a:txBody>
                    <a:bodyPr/>
                    <a:lstStyle/>
                    <a:p>
                      <a:pPr marL="0" indent="0" algn="ctr">
                        <a:buNone/>
                      </a:pPr>
                      <a:r>
                        <a:rPr lang="en-US" sz="1400" dirty="0">
                          <a:solidFill>
                            <a:srgbClr val="1A2238"/>
                          </a:solidFill>
                        </a:rPr>
                        <a:t>15</a:t>
                      </a:r>
                      <a:endParaRPr lang="en-US" sz="1400" dirty="0"/>
                    </a:p>
                  </a:txBody>
                  <a:tcPr>
                    <a:lnL w="6350" cap="flat" cmpd="sng" algn="ctr">
                      <a:solidFill>
                        <a:srgbClr val="D9DEE8"/>
                      </a:solidFill>
                      <a:prstDash val="solid"/>
                      <a:round/>
                      <a:headEnd type="none" w="med" len="med"/>
                      <a:tailEnd type="none" w="med" len="med"/>
                    </a:lnL>
                    <a:lnR w="6350" cap="flat" cmpd="sng" algn="ctr">
                      <a:solidFill>
                        <a:srgbClr val="D9DEE8"/>
                      </a:solidFill>
                      <a:prstDash val="solid"/>
                      <a:round/>
                      <a:headEnd type="none" w="med" len="med"/>
                      <a:tailEnd type="none" w="med" len="med"/>
                    </a:lnR>
                    <a:lnT w="6350" cap="flat" cmpd="sng" algn="ctr">
                      <a:solidFill>
                        <a:srgbClr val="D9DEE8"/>
                      </a:solidFill>
                      <a:prstDash val="solid"/>
                      <a:round/>
                      <a:headEnd type="none" w="med" len="med"/>
                      <a:tailEnd type="none" w="med" len="med"/>
                    </a:lnT>
                    <a:lnB w="6350" cap="flat" cmpd="sng" algn="ctr">
                      <a:solidFill>
                        <a:srgbClr val="D9DEE8"/>
                      </a:solidFill>
                      <a:prstDash val="solid"/>
                      <a:round/>
                      <a:headEnd type="none" w="med" len="med"/>
                      <a:tailEnd type="none" w="med" len="med"/>
                    </a:lnB>
                    <a:solidFill>
                      <a:srgbClr val="F1F4F9"/>
                    </a:solidFill>
                  </a:tcPr>
                </a:tc>
                <a:tc>
                  <a:txBody>
                    <a:bodyPr/>
                    <a:lstStyle/>
                    <a:p>
                      <a:pPr marL="0" indent="0" algn="ctr">
                        <a:buNone/>
                      </a:pPr>
                      <a:r>
                        <a:rPr lang="en-US" sz="1400" dirty="0">
                          <a:solidFill>
                            <a:srgbClr val="1A2238"/>
                          </a:solidFill>
                        </a:rPr>
                        <a:t>128</a:t>
                      </a:r>
                      <a:endParaRPr lang="en-US" sz="1400" dirty="0"/>
                    </a:p>
                  </a:txBody>
                  <a:tcPr>
                    <a:lnL w="6350" cap="flat" cmpd="sng" algn="ctr">
                      <a:solidFill>
                        <a:srgbClr val="D9DEE8"/>
                      </a:solidFill>
                      <a:prstDash val="solid"/>
                      <a:round/>
                      <a:headEnd type="none" w="med" len="med"/>
                      <a:tailEnd type="none" w="med" len="med"/>
                    </a:lnL>
                    <a:lnR w="6350" cap="flat" cmpd="sng" algn="ctr">
                      <a:solidFill>
                        <a:srgbClr val="D9DEE8"/>
                      </a:solidFill>
                      <a:prstDash val="solid"/>
                      <a:round/>
                      <a:headEnd type="none" w="med" len="med"/>
                      <a:tailEnd type="none" w="med" len="med"/>
                    </a:lnR>
                    <a:lnT w="6350" cap="flat" cmpd="sng" algn="ctr">
                      <a:solidFill>
                        <a:srgbClr val="D9DEE8"/>
                      </a:solidFill>
                      <a:prstDash val="solid"/>
                      <a:round/>
                      <a:headEnd type="none" w="med" len="med"/>
                      <a:tailEnd type="none" w="med" len="med"/>
                    </a:lnT>
                    <a:lnB w="6350" cap="flat" cmpd="sng" algn="ctr">
                      <a:solidFill>
                        <a:srgbClr val="D9DEE8"/>
                      </a:solidFill>
                      <a:prstDash val="solid"/>
                      <a:round/>
                      <a:headEnd type="none" w="med" len="med"/>
                      <a:tailEnd type="none" w="med" len="med"/>
                    </a:lnB>
                    <a:solidFill>
                      <a:srgbClr val="F1F4F9"/>
                    </a:solidFill>
                  </a:tcPr>
                </a:tc>
                <a:tc>
                  <a:txBody>
                    <a:bodyPr/>
                    <a:lstStyle/>
                    <a:p>
                      <a:pPr marL="0" indent="0" algn="ctr">
                        <a:buNone/>
                      </a:pPr>
                      <a:r>
                        <a:rPr lang="en-US" sz="1400" dirty="0">
                          <a:solidFill>
                            <a:srgbClr val="1A2238"/>
                          </a:solidFill>
                        </a:rPr>
                        <a:t>Initialization (bias = 0)</a:t>
                      </a:r>
                      <a:endParaRPr lang="en-US" sz="1400" dirty="0"/>
                    </a:p>
                  </a:txBody>
                  <a:tcPr>
                    <a:lnL w="6350" cap="flat" cmpd="sng" algn="ctr">
                      <a:solidFill>
                        <a:srgbClr val="D9DEE8"/>
                      </a:solidFill>
                      <a:prstDash val="solid"/>
                      <a:round/>
                      <a:headEnd type="none" w="med" len="med"/>
                      <a:tailEnd type="none" w="med" len="med"/>
                    </a:lnL>
                    <a:lnR w="6350" cap="flat" cmpd="sng" algn="ctr">
                      <a:solidFill>
                        <a:srgbClr val="D9DEE8"/>
                      </a:solidFill>
                      <a:prstDash val="solid"/>
                      <a:round/>
                      <a:headEnd type="none" w="med" len="med"/>
                      <a:tailEnd type="none" w="med" len="med"/>
                    </a:lnR>
                    <a:lnT w="6350" cap="flat" cmpd="sng" algn="ctr">
                      <a:solidFill>
                        <a:srgbClr val="D9DEE8"/>
                      </a:solidFill>
                      <a:prstDash val="solid"/>
                      <a:round/>
                      <a:headEnd type="none" w="med" len="med"/>
                      <a:tailEnd type="none" w="med" len="med"/>
                    </a:lnT>
                    <a:lnB w="6350" cap="flat" cmpd="sng" algn="ctr">
                      <a:solidFill>
                        <a:srgbClr val="D9DEE8"/>
                      </a:solidFill>
                      <a:prstDash val="solid"/>
                      <a:round/>
                      <a:headEnd type="none" w="med" len="med"/>
                      <a:tailEnd type="none" w="med" len="med"/>
                    </a:lnB>
                    <a:solidFill>
                      <a:srgbClr val="F1F4F9"/>
                    </a:solidFill>
                  </a:tcPr>
                </a:tc>
                <a:extLst>
                  <a:ext uri="{0D108BD9-81ED-4DB2-BD59-A6C34878D82A}">
                    <a16:rowId xmlns:a16="http://schemas.microsoft.com/office/drawing/2014/main" val="10001"/>
                  </a:ext>
                </a:extLst>
              </a:tr>
            </a:tbl>
          </a:graphicData>
        </a:graphic>
      </p:graphicFrame>
      <p:sp>
        <p:nvSpPr>
          <p:cNvPr id="7" name="Text 4"/>
          <p:cNvSpPr txBox="1"/>
          <p:nvPr/>
        </p:nvSpPr>
        <p:spPr>
          <a:xfrm>
            <a:off x="640080" y="4114800"/>
            <a:ext cx="10911535" cy="457200"/>
          </a:xfrm>
          <a:prstGeom prst="rect">
            <a:avLst/>
          </a:prstGeom>
          <a:noFill/>
          <a:ln/>
        </p:spPr>
        <p:txBody>
          <a:bodyPr wrap="square" lIns="0" tIns="0" rIns="0" bIns="0" rtlCol="0" anchor="ctr"/>
          <a:lstStyle/>
          <a:p>
            <a:pPr marL="0" indent="0">
              <a:buNone/>
            </a:pPr>
            <a:r>
              <a:rPr lang="en-US" sz="1600" i="1" dirty="0">
                <a:solidFill>
                  <a:srgbClr val="5B6478"/>
                </a:solidFill>
                <a:latin typeface="Calibri" pitchFamily="34" charset="0"/>
                <a:ea typeface="Calibri" pitchFamily="34" charset="-122"/>
                <a:cs typeface="Calibri" pitchFamily="34" charset="-120"/>
              </a:rPr>
              <a:t>Seed 42 · Mỗi so sánh chỉ đổi initialization</a:t>
            </a:r>
            <a:endParaRPr lang="en-US" sz="1600" dirty="0"/>
          </a:p>
        </p:txBody>
      </p:sp>
      <p:sp>
        <p:nvSpPr>
          <p:cNvPr id="8" name="Text 5"/>
          <p:cNvSpPr txBox="1"/>
          <p:nvPr/>
        </p:nvSpPr>
        <p:spPr>
          <a:xfrm>
            <a:off x="11185855" y="6446520"/>
            <a:ext cx="731520" cy="274320"/>
          </a:xfrm>
          <a:prstGeom prst="rect">
            <a:avLst/>
          </a:prstGeom>
          <a:noFill/>
          <a:ln/>
        </p:spPr>
        <p:txBody>
          <a:bodyPr wrap="square" lIns="0" tIns="0" rIns="0" bIns="0" rtlCol="0" anchor="ctr"/>
          <a:lstStyle/>
          <a:p>
            <a:pPr marL="0" indent="0" algn="r">
              <a:buNone/>
            </a:pPr>
            <a:r>
              <a:rPr lang="en-US" sz="900" dirty="0">
                <a:solidFill>
                  <a:srgbClr val="5B6478"/>
                </a:solidFill>
                <a:latin typeface="Calibri" pitchFamily="34" charset="0"/>
                <a:ea typeface="Calibri" pitchFamily="34" charset="-122"/>
                <a:cs typeface="Calibri" pitchFamily="34" charset="-120"/>
              </a:rPr>
              <a:t>16/26</a:t>
            </a:r>
            <a:endParaRPr lang="en-US" sz="900" dirty="0"/>
          </a:p>
        </p:txBody>
      </p:sp>
      <p:sp>
        <p:nvSpPr>
          <p:cNvPr id="9" name="Shape 6"/>
          <p:cNvSpPr/>
          <p:nvPr/>
        </p:nvSpPr>
        <p:spPr>
          <a:xfrm>
            <a:off x="610362" y="6473952"/>
            <a:ext cx="59436" cy="59436"/>
          </a:xfrm>
          <a:prstGeom prst="ellipse">
            <a:avLst/>
          </a:prstGeom>
          <a:solidFill>
            <a:srgbClr val="D9DEE8"/>
          </a:solidFill>
          <a:ln/>
        </p:spPr>
      </p:sp>
      <p:sp>
        <p:nvSpPr>
          <p:cNvPr id="10" name="Shape 7"/>
          <p:cNvSpPr/>
          <p:nvPr/>
        </p:nvSpPr>
        <p:spPr>
          <a:xfrm>
            <a:off x="829818" y="6473952"/>
            <a:ext cx="59436" cy="59436"/>
          </a:xfrm>
          <a:prstGeom prst="ellipse">
            <a:avLst/>
          </a:prstGeom>
          <a:solidFill>
            <a:srgbClr val="D9DEE8"/>
          </a:solidFill>
          <a:ln/>
        </p:spPr>
      </p:sp>
      <p:sp>
        <p:nvSpPr>
          <p:cNvPr id="11" name="Shape 8"/>
          <p:cNvSpPr/>
          <p:nvPr/>
        </p:nvSpPr>
        <p:spPr>
          <a:xfrm>
            <a:off x="1034415" y="6459093"/>
            <a:ext cx="89154" cy="89154"/>
          </a:xfrm>
          <a:prstGeom prst="ellipse">
            <a:avLst/>
          </a:prstGeom>
          <a:solidFill>
            <a:srgbClr val="285AB4"/>
          </a:solidFill>
          <a:ln/>
        </p:spPr>
      </p:sp>
      <p:sp>
        <p:nvSpPr>
          <p:cNvPr id="12" name="Shape 9"/>
          <p:cNvSpPr/>
          <p:nvPr/>
        </p:nvSpPr>
        <p:spPr>
          <a:xfrm>
            <a:off x="1268730" y="6473952"/>
            <a:ext cx="59436" cy="59436"/>
          </a:xfrm>
          <a:prstGeom prst="ellipse">
            <a:avLst/>
          </a:prstGeom>
          <a:solidFill>
            <a:srgbClr val="D9DEE8"/>
          </a:solidFill>
          <a:ln/>
        </p:spPr>
      </p:sp>
      <p:sp>
        <p:nvSpPr>
          <p:cNvPr id="13" name="Text 10"/>
          <p:cNvSpPr txBox="1"/>
          <p:nvPr/>
        </p:nvSpPr>
        <p:spPr>
          <a:xfrm>
            <a:off x="1563624" y="6391656"/>
            <a:ext cx="3291840" cy="274320"/>
          </a:xfrm>
          <a:prstGeom prst="rect">
            <a:avLst/>
          </a:prstGeom>
          <a:noFill/>
          <a:ln/>
        </p:spPr>
        <p:txBody>
          <a:bodyPr wrap="square" lIns="0" tIns="0" rIns="0" bIns="0" rtlCol="0" anchor="ctr"/>
          <a:lstStyle/>
          <a:p>
            <a:pPr marL="0" indent="0">
              <a:buNone/>
            </a:pPr>
            <a:r>
              <a:rPr lang="en-US" sz="850" kern="0" spc="50" dirty="0">
                <a:solidFill>
                  <a:srgbClr val="5B6478"/>
                </a:solidFill>
                <a:latin typeface="Calibri" pitchFamily="34" charset="0"/>
                <a:ea typeface="Calibri" pitchFamily="34" charset="-122"/>
                <a:cs typeface="Calibri" pitchFamily="34" charset="-120"/>
              </a:rPr>
              <a:t>EXPERIMENT</a:t>
            </a:r>
            <a:endParaRPr lang="en-US" sz="8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txBox="1"/>
          <p:nvPr/>
        </p:nvSpPr>
        <p:spPr>
          <a:xfrm>
            <a:off x="640080" y="457200"/>
            <a:ext cx="9144000" cy="320040"/>
          </a:xfrm>
          <a:prstGeom prst="rect">
            <a:avLst/>
          </a:prstGeom>
          <a:noFill/>
          <a:ln/>
        </p:spPr>
        <p:txBody>
          <a:bodyPr wrap="square" lIns="0" tIns="0" rIns="0" bIns="0" rtlCol="0" anchor="ctr"/>
          <a:lstStyle/>
          <a:p>
            <a:pPr marL="0" indent="0">
              <a:buNone/>
            </a:pPr>
            <a:r>
              <a:rPr lang="en-US" sz="1300" b="1" kern="0" spc="100" dirty="0">
                <a:solidFill>
                  <a:srgbClr val="285AB4"/>
                </a:solidFill>
                <a:latin typeface="Calibri" pitchFamily="34" charset="0"/>
                <a:ea typeface="Calibri" pitchFamily="34" charset="-122"/>
                <a:cs typeface="Calibri" pitchFamily="34" charset="-120"/>
              </a:rPr>
              <a:t>DEMO — EXPERIMENT 1 &amp; 2</a:t>
            </a:r>
            <a:endParaRPr lang="en-US" sz="1300" dirty="0"/>
          </a:p>
        </p:txBody>
      </p:sp>
      <p:sp>
        <p:nvSpPr>
          <p:cNvPr id="3" name="Text 1"/>
          <p:cNvSpPr txBox="1"/>
          <p:nvPr/>
        </p:nvSpPr>
        <p:spPr>
          <a:xfrm>
            <a:off x="640080" y="749808"/>
            <a:ext cx="10911535" cy="822960"/>
          </a:xfrm>
          <a:prstGeom prst="rect">
            <a:avLst/>
          </a:prstGeom>
          <a:noFill/>
          <a:ln/>
        </p:spPr>
        <p:txBody>
          <a:bodyPr wrap="square" lIns="0" tIns="0" rIns="0" bIns="0" rtlCol="0" anchor="t"/>
          <a:lstStyle/>
          <a:p>
            <a:pPr marL="0" indent="0">
              <a:buNone/>
            </a:pPr>
            <a:r>
              <a:rPr lang="en-US" sz="2400" b="1" dirty="0">
                <a:solidFill>
                  <a:srgbClr val="1A2238"/>
                </a:solidFill>
                <a:latin typeface="Cambria" pitchFamily="34" charset="0"/>
                <a:ea typeface="Cambria" pitchFamily="34" charset="-122"/>
                <a:cs typeface="Cambria" pitchFamily="34" charset="-120"/>
              </a:rPr>
              <a:t>3 cơ chế thất bại ban đầu: Symmetry · Vanishing · Exploding</a:t>
            </a:r>
            <a:endParaRPr lang="en-US" sz="2400" dirty="0"/>
          </a:p>
        </p:txBody>
      </p:sp>
      <p:sp>
        <p:nvSpPr>
          <p:cNvPr id="4" name="Shape 2"/>
          <p:cNvSpPr/>
          <p:nvPr/>
        </p:nvSpPr>
        <p:spPr>
          <a:xfrm>
            <a:off x="640080" y="1691640"/>
            <a:ext cx="10911535" cy="1554480"/>
          </a:xfrm>
          <a:prstGeom prst="roundRect">
            <a:avLst>
              <a:gd name="adj" fmla="val 2941"/>
            </a:avLst>
          </a:prstGeom>
          <a:solidFill>
            <a:srgbClr val="1E2A44"/>
          </a:solidFill>
          <a:ln/>
        </p:spPr>
      </p:sp>
      <p:sp>
        <p:nvSpPr>
          <p:cNvPr id="5" name="Text 3"/>
          <p:cNvSpPr txBox="1"/>
          <p:nvPr/>
        </p:nvSpPr>
        <p:spPr>
          <a:xfrm>
            <a:off x="868680" y="1801368"/>
            <a:ext cx="10454335" cy="1371600"/>
          </a:xfrm>
          <a:prstGeom prst="rect">
            <a:avLst/>
          </a:prstGeom>
          <a:noFill/>
          <a:ln/>
        </p:spPr>
        <p:txBody>
          <a:bodyPr wrap="square" lIns="0" tIns="0" rIns="0" bIns="0" rtlCol="0" anchor="t"/>
          <a:lstStyle/>
          <a:p>
            <a:pPr marL="0" indent="0">
              <a:buNone/>
            </a:pPr>
            <a:r>
              <a:rPr lang="en-US" sz="1250" dirty="0">
                <a:solidFill>
                  <a:srgbClr val="D8E0EF"/>
                </a:solidFill>
                <a:latin typeface="Consolas" pitchFamily="34" charset="0"/>
                <a:ea typeface="Consolas" pitchFamily="34" charset="-122"/>
                <a:cs typeface="Consolas" pitchFamily="34" charset="-120"/>
              </a:rPr>
              <a:t>for layer in model.modules():</a:t>
            </a:r>
            <a:endParaRPr lang="en-US" sz="1250" dirty="0"/>
          </a:p>
          <a:p>
            <a:pPr marL="0" indent="0">
              <a:buNone/>
            </a:pPr>
            <a:r>
              <a:rPr lang="en-US" sz="1250" dirty="0">
                <a:solidFill>
                  <a:srgbClr val="D8E0EF"/>
                </a:solidFill>
                <a:latin typeface="Consolas" pitchFamily="34" charset="0"/>
                <a:ea typeface="Consolas" pitchFamily="34" charset="-122"/>
                <a:cs typeface="Consolas" pitchFamily="34" charset="-120"/>
              </a:rPr>
              <a:t>    if isinstance(layer, nn.Linear):</a:t>
            </a:r>
            <a:endParaRPr lang="en-US" sz="1250" dirty="0"/>
          </a:p>
          <a:p>
            <a:pPr marL="0" indent="0">
              <a:buNone/>
            </a:pPr>
            <a:r>
              <a:rPr lang="en-US" sz="1250" dirty="0">
                <a:solidFill>
                  <a:srgbClr val="D8E0EF"/>
                </a:solidFill>
                <a:latin typeface="Consolas" pitchFamily="34" charset="0"/>
                <a:ea typeface="Consolas" pitchFamily="34" charset="-122"/>
                <a:cs typeface="Consolas" pitchFamily="34" charset="-120"/>
              </a:rPr>
              <a:t>        nn.init.zeros_(layer.weight)          # Experiment 1</a:t>
            </a:r>
            <a:endParaRPr lang="en-US" sz="1250" dirty="0"/>
          </a:p>
          <a:p>
            <a:pPr marL="0" indent="0">
              <a:buNone/>
            </a:pPr>
            <a:r>
              <a:rPr lang="en-US" sz="1250" dirty="0">
                <a:solidFill>
                  <a:srgbClr val="D8E0EF"/>
                </a:solidFill>
                <a:latin typeface="Consolas" pitchFamily="34" charset="0"/>
                <a:ea typeface="Consolas" pitchFamily="34" charset="-122"/>
                <a:cs typeface="Consolas" pitchFamily="34" charset="-120"/>
              </a:rPr>
              <a:t>        # hoặc: nn.init.normal_(layer.weight, std=0.01)   # Experiment 2</a:t>
            </a:r>
            <a:endParaRPr lang="en-US" sz="1250" dirty="0"/>
          </a:p>
        </p:txBody>
      </p:sp>
      <p:sp>
        <p:nvSpPr>
          <p:cNvPr id="6" name="Text 4"/>
          <p:cNvSpPr txBox="1"/>
          <p:nvPr/>
        </p:nvSpPr>
        <p:spPr>
          <a:xfrm>
            <a:off x="640080" y="3566160"/>
            <a:ext cx="3454298" cy="768096"/>
          </a:xfrm>
          <a:prstGeom prst="rect">
            <a:avLst/>
          </a:prstGeom>
          <a:noFill/>
          <a:ln/>
        </p:spPr>
        <p:txBody>
          <a:bodyPr wrap="square" lIns="0" tIns="0" rIns="0" bIns="0" rtlCol="0" anchor="b"/>
          <a:lstStyle/>
          <a:p>
            <a:pPr marL="0" indent="0" algn="ctr">
              <a:buNone/>
            </a:pPr>
            <a:r>
              <a:rPr lang="en-US" sz="3000" b="1" dirty="0">
                <a:solidFill>
                  <a:srgbClr val="BE3C32"/>
                </a:solidFill>
                <a:latin typeface="Cambria" pitchFamily="34" charset="0"/>
                <a:ea typeface="Cambria" pitchFamily="34" charset="-122"/>
                <a:cs typeface="Cambria" pitchFamily="34" charset="-120"/>
              </a:rPr>
              <a:t>0.0</a:t>
            </a:r>
            <a:endParaRPr lang="en-US" sz="3000" dirty="0"/>
          </a:p>
        </p:txBody>
      </p:sp>
      <p:sp>
        <p:nvSpPr>
          <p:cNvPr id="7" name="Text 5"/>
          <p:cNvSpPr txBox="1"/>
          <p:nvPr/>
        </p:nvSpPr>
        <p:spPr>
          <a:xfrm>
            <a:off x="640080" y="4334256"/>
            <a:ext cx="3454298" cy="512064"/>
          </a:xfrm>
          <a:prstGeom prst="rect">
            <a:avLst/>
          </a:prstGeom>
          <a:noFill/>
          <a:ln/>
        </p:spPr>
        <p:txBody>
          <a:bodyPr wrap="square" lIns="0" tIns="0" rIns="0" bIns="0" rtlCol="0" anchor="t"/>
          <a:lstStyle/>
          <a:p>
            <a:pPr marL="0" indent="0" algn="ctr">
              <a:buNone/>
            </a:pPr>
            <a:r>
              <a:rPr lang="en-US" sz="1100" dirty="0">
                <a:solidFill>
                  <a:srgbClr val="5B6478"/>
                </a:solidFill>
                <a:latin typeface="Calibri" pitchFamily="34" charset="0"/>
                <a:ea typeface="Calibri" pitchFamily="34" charset="-122"/>
                <a:cs typeface="Calibri" pitchFamily="34" charset="-120"/>
              </a:rPr>
              <a:t>Zero — Gradient RMS lớp 1 (khởi tạo)</a:t>
            </a:r>
            <a:endParaRPr lang="en-US" sz="1100" dirty="0"/>
          </a:p>
        </p:txBody>
      </p:sp>
      <p:sp>
        <p:nvSpPr>
          <p:cNvPr id="8" name="Text 6"/>
          <p:cNvSpPr txBox="1"/>
          <p:nvPr/>
        </p:nvSpPr>
        <p:spPr>
          <a:xfrm>
            <a:off x="4368698" y="3566160"/>
            <a:ext cx="3454298" cy="768096"/>
          </a:xfrm>
          <a:prstGeom prst="rect">
            <a:avLst/>
          </a:prstGeom>
          <a:noFill/>
          <a:ln/>
        </p:spPr>
        <p:txBody>
          <a:bodyPr wrap="square" lIns="0" tIns="0" rIns="0" bIns="0" rtlCol="0" anchor="b"/>
          <a:lstStyle/>
          <a:p>
            <a:pPr marL="0" indent="0" algn="ctr">
              <a:buNone/>
            </a:pPr>
            <a:r>
              <a:rPr lang="en-US" sz="3000" b="1" dirty="0">
                <a:solidFill>
                  <a:srgbClr val="BE3C32"/>
                </a:solidFill>
                <a:latin typeface="Cambria" pitchFamily="34" charset="0"/>
                <a:ea typeface="Cambria" pitchFamily="34" charset="-122"/>
                <a:cs typeface="Cambria" pitchFamily="34" charset="-120"/>
              </a:rPr>
              <a:t>1.13e-13</a:t>
            </a:r>
            <a:endParaRPr lang="en-US" sz="3000" dirty="0"/>
          </a:p>
        </p:txBody>
      </p:sp>
      <p:sp>
        <p:nvSpPr>
          <p:cNvPr id="9" name="Text 7"/>
          <p:cNvSpPr txBox="1"/>
          <p:nvPr/>
        </p:nvSpPr>
        <p:spPr>
          <a:xfrm>
            <a:off x="4368698" y="4334256"/>
            <a:ext cx="3454298" cy="512064"/>
          </a:xfrm>
          <a:prstGeom prst="rect">
            <a:avLst/>
          </a:prstGeom>
          <a:noFill/>
          <a:ln/>
        </p:spPr>
        <p:txBody>
          <a:bodyPr wrap="square" lIns="0" tIns="0" rIns="0" bIns="0" rtlCol="0" anchor="t"/>
          <a:lstStyle/>
          <a:p>
            <a:pPr marL="0" indent="0" algn="ctr">
              <a:buNone/>
            </a:pPr>
            <a:r>
              <a:rPr lang="en-US" sz="1100" dirty="0">
                <a:solidFill>
                  <a:srgbClr val="5B6478"/>
                </a:solidFill>
                <a:latin typeface="Calibri" pitchFamily="34" charset="0"/>
                <a:ea typeface="Calibri" pitchFamily="34" charset="-122"/>
                <a:cs typeface="Calibri" pitchFamily="34" charset="-120"/>
              </a:rPr>
              <a:t>Random nhỏ — Gradient RMS lớp 1</a:t>
            </a:r>
            <a:endParaRPr lang="en-US" sz="1100" dirty="0"/>
          </a:p>
        </p:txBody>
      </p:sp>
      <p:sp>
        <p:nvSpPr>
          <p:cNvPr id="10" name="Text 8"/>
          <p:cNvSpPr txBox="1"/>
          <p:nvPr/>
        </p:nvSpPr>
        <p:spPr>
          <a:xfrm>
            <a:off x="8097317" y="3566160"/>
            <a:ext cx="3454298" cy="768096"/>
          </a:xfrm>
          <a:prstGeom prst="rect">
            <a:avLst/>
          </a:prstGeom>
          <a:noFill/>
          <a:ln/>
        </p:spPr>
        <p:txBody>
          <a:bodyPr wrap="square" lIns="0" tIns="0" rIns="0" bIns="0" rtlCol="0" anchor="b"/>
          <a:lstStyle/>
          <a:p>
            <a:pPr marL="0" indent="0" algn="ctr">
              <a:buNone/>
            </a:pPr>
            <a:r>
              <a:rPr lang="en-US" sz="3000" b="1" dirty="0">
                <a:solidFill>
                  <a:srgbClr val="7D3C98"/>
                </a:solidFill>
                <a:latin typeface="Cambria" pitchFamily="34" charset="0"/>
                <a:ea typeface="Cambria" pitchFamily="34" charset="-122"/>
                <a:cs typeface="Cambria" pitchFamily="34" charset="-120"/>
              </a:rPr>
              <a:t>1.9e+7</a:t>
            </a:r>
            <a:endParaRPr lang="en-US" sz="3000" dirty="0"/>
          </a:p>
        </p:txBody>
      </p:sp>
      <p:sp>
        <p:nvSpPr>
          <p:cNvPr id="11" name="Text 9"/>
          <p:cNvSpPr txBox="1"/>
          <p:nvPr/>
        </p:nvSpPr>
        <p:spPr>
          <a:xfrm>
            <a:off x="8097317" y="4334256"/>
            <a:ext cx="3454298" cy="512064"/>
          </a:xfrm>
          <a:prstGeom prst="rect">
            <a:avLst/>
          </a:prstGeom>
          <a:noFill/>
          <a:ln/>
        </p:spPr>
        <p:txBody>
          <a:bodyPr wrap="square" lIns="0" tIns="0" rIns="0" bIns="0" rtlCol="0" anchor="t"/>
          <a:lstStyle/>
          <a:p>
            <a:pPr marL="0" indent="0" algn="ctr">
              <a:buNone/>
            </a:pPr>
            <a:r>
              <a:rPr lang="en-US" sz="1100" dirty="0">
                <a:solidFill>
                  <a:srgbClr val="5B6478"/>
                </a:solidFill>
                <a:latin typeface="Calibri" pitchFamily="34" charset="0"/>
                <a:ea typeface="Calibri" pitchFamily="34" charset="-122"/>
                <a:cs typeface="Calibri" pitchFamily="34" charset="-120"/>
              </a:rPr>
              <a:t>Random lớn — Gradient RMS lớp 1 (trước update đầu)</a:t>
            </a:r>
            <a:endParaRPr lang="en-US" sz="1100" dirty="0"/>
          </a:p>
        </p:txBody>
      </p:sp>
      <p:sp>
        <p:nvSpPr>
          <p:cNvPr id="12" name="Shape 10"/>
          <p:cNvSpPr/>
          <p:nvPr/>
        </p:nvSpPr>
        <p:spPr>
          <a:xfrm>
            <a:off x="640080" y="5120640"/>
            <a:ext cx="10911535" cy="777240"/>
          </a:xfrm>
          <a:prstGeom prst="roundRect">
            <a:avLst>
              <a:gd name="adj" fmla="val 7059"/>
            </a:avLst>
          </a:prstGeom>
          <a:solidFill>
            <a:srgbClr val="FBEEEC"/>
          </a:solidFill>
          <a:ln w="9525">
            <a:solidFill>
              <a:srgbClr val="BE3C32"/>
            </a:solidFill>
            <a:prstDash val="solid"/>
          </a:ln>
        </p:spPr>
      </p:sp>
      <p:sp>
        <p:nvSpPr>
          <p:cNvPr id="13" name="Text 11"/>
          <p:cNvSpPr txBox="1"/>
          <p:nvPr/>
        </p:nvSpPr>
        <p:spPr>
          <a:xfrm>
            <a:off x="914400" y="5120640"/>
            <a:ext cx="10362895" cy="777240"/>
          </a:xfrm>
          <a:prstGeom prst="rect">
            <a:avLst/>
          </a:prstGeom>
          <a:noFill/>
          <a:ln/>
        </p:spPr>
        <p:txBody>
          <a:bodyPr wrap="square" lIns="0" tIns="0" rIns="0" bIns="0" rtlCol="0" anchor="ctr"/>
          <a:lstStyle/>
          <a:p>
            <a:pPr marL="0" indent="0">
              <a:buNone/>
            </a:pPr>
            <a:r>
              <a:rPr lang="en-US" sz="1450" b="1" dirty="0">
                <a:solidFill>
                  <a:srgbClr val="BE3C32"/>
                </a:solidFill>
                <a:latin typeface="Calibri" pitchFamily="34" charset="0"/>
                <a:ea typeface="Calibri" pitchFamily="34" charset="-122"/>
                <a:cs typeface="Calibri" pitchFamily="34" charset="-120"/>
              </a:rPr>
              <a:t>Zero  →  failure to break symmetry: các neuron cùng lớp giống hệt nhau</a:t>
            </a:r>
            <a:endParaRPr lang="en-US" sz="1450" dirty="0"/>
          </a:p>
          <a:p>
            <a:pPr marL="0" indent="0">
              <a:buNone/>
            </a:pPr>
            <a:r>
              <a:rPr lang="en-US" sz="1450" b="1" dirty="0">
                <a:solidFill>
                  <a:srgbClr val="BE3C32"/>
                </a:solidFill>
                <a:latin typeface="Calibri" pitchFamily="34" charset="0"/>
                <a:ea typeface="Calibri" pitchFamily="34" charset="-122"/>
                <a:cs typeface="Calibri" pitchFamily="34" charset="-120"/>
              </a:rPr>
              <a:t>Small random  →  vanishing gradient     Large random  →  exploding → NaN</a:t>
            </a:r>
            <a:endParaRPr lang="en-US" sz="1450" dirty="0"/>
          </a:p>
        </p:txBody>
      </p:sp>
      <p:sp>
        <p:nvSpPr>
          <p:cNvPr id="14" name="Text 12"/>
          <p:cNvSpPr txBox="1"/>
          <p:nvPr/>
        </p:nvSpPr>
        <p:spPr>
          <a:xfrm>
            <a:off x="11185855" y="6446520"/>
            <a:ext cx="731520" cy="274320"/>
          </a:xfrm>
          <a:prstGeom prst="rect">
            <a:avLst/>
          </a:prstGeom>
          <a:noFill/>
          <a:ln/>
        </p:spPr>
        <p:txBody>
          <a:bodyPr wrap="square" lIns="0" tIns="0" rIns="0" bIns="0" rtlCol="0" anchor="ctr"/>
          <a:lstStyle/>
          <a:p>
            <a:pPr marL="0" indent="0" algn="r">
              <a:buNone/>
            </a:pPr>
            <a:r>
              <a:rPr lang="en-US" sz="900" dirty="0">
                <a:solidFill>
                  <a:srgbClr val="5B6478"/>
                </a:solidFill>
                <a:latin typeface="Calibri" pitchFamily="34" charset="0"/>
                <a:ea typeface="Calibri" pitchFamily="34" charset="-122"/>
                <a:cs typeface="Calibri" pitchFamily="34" charset="-120"/>
              </a:rPr>
              <a:t>17/26</a:t>
            </a:r>
            <a:endParaRPr lang="en-US" sz="900" dirty="0"/>
          </a:p>
        </p:txBody>
      </p:sp>
      <p:sp>
        <p:nvSpPr>
          <p:cNvPr id="15" name="Shape 13"/>
          <p:cNvSpPr/>
          <p:nvPr/>
        </p:nvSpPr>
        <p:spPr>
          <a:xfrm>
            <a:off x="610362" y="6473952"/>
            <a:ext cx="59436" cy="59436"/>
          </a:xfrm>
          <a:prstGeom prst="ellipse">
            <a:avLst/>
          </a:prstGeom>
          <a:solidFill>
            <a:srgbClr val="D9DEE8"/>
          </a:solidFill>
          <a:ln/>
        </p:spPr>
      </p:sp>
      <p:sp>
        <p:nvSpPr>
          <p:cNvPr id="16" name="Shape 14"/>
          <p:cNvSpPr/>
          <p:nvPr/>
        </p:nvSpPr>
        <p:spPr>
          <a:xfrm>
            <a:off x="829818" y="6473952"/>
            <a:ext cx="59436" cy="59436"/>
          </a:xfrm>
          <a:prstGeom prst="ellipse">
            <a:avLst/>
          </a:prstGeom>
          <a:solidFill>
            <a:srgbClr val="D9DEE8"/>
          </a:solidFill>
          <a:ln/>
        </p:spPr>
      </p:sp>
      <p:sp>
        <p:nvSpPr>
          <p:cNvPr id="17" name="Shape 15"/>
          <p:cNvSpPr/>
          <p:nvPr/>
        </p:nvSpPr>
        <p:spPr>
          <a:xfrm>
            <a:off x="1034415" y="6459093"/>
            <a:ext cx="89154" cy="89154"/>
          </a:xfrm>
          <a:prstGeom prst="ellipse">
            <a:avLst/>
          </a:prstGeom>
          <a:solidFill>
            <a:srgbClr val="285AB4"/>
          </a:solidFill>
          <a:ln/>
        </p:spPr>
      </p:sp>
      <p:sp>
        <p:nvSpPr>
          <p:cNvPr id="18" name="Shape 16"/>
          <p:cNvSpPr/>
          <p:nvPr/>
        </p:nvSpPr>
        <p:spPr>
          <a:xfrm>
            <a:off x="1268730" y="6473952"/>
            <a:ext cx="59436" cy="59436"/>
          </a:xfrm>
          <a:prstGeom prst="ellipse">
            <a:avLst/>
          </a:prstGeom>
          <a:solidFill>
            <a:srgbClr val="D9DEE8"/>
          </a:solidFill>
          <a:ln/>
        </p:spPr>
      </p:sp>
      <p:sp>
        <p:nvSpPr>
          <p:cNvPr id="19" name="Text 17"/>
          <p:cNvSpPr txBox="1"/>
          <p:nvPr/>
        </p:nvSpPr>
        <p:spPr>
          <a:xfrm>
            <a:off x="1563624" y="6391656"/>
            <a:ext cx="3291840" cy="274320"/>
          </a:xfrm>
          <a:prstGeom prst="rect">
            <a:avLst/>
          </a:prstGeom>
          <a:noFill/>
          <a:ln/>
        </p:spPr>
        <p:txBody>
          <a:bodyPr wrap="square" lIns="0" tIns="0" rIns="0" bIns="0" rtlCol="0" anchor="ctr"/>
          <a:lstStyle/>
          <a:p>
            <a:pPr marL="0" indent="0">
              <a:buNone/>
            </a:pPr>
            <a:r>
              <a:rPr lang="en-US" sz="850" kern="0" spc="50" dirty="0">
                <a:solidFill>
                  <a:srgbClr val="5B6478"/>
                </a:solidFill>
                <a:latin typeface="Calibri" pitchFamily="34" charset="0"/>
                <a:ea typeface="Calibri" pitchFamily="34" charset="-122"/>
                <a:cs typeface="Calibri" pitchFamily="34" charset="-120"/>
              </a:rPr>
              <a:t>EXPERIMENT</a:t>
            </a:r>
            <a:endParaRPr lang="en-US" sz="8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txBox="1"/>
          <p:nvPr/>
        </p:nvSpPr>
        <p:spPr>
          <a:xfrm>
            <a:off x="640080" y="457200"/>
            <a:ext cx="9144000" cy="320040"/>
          </a:xfrm>
          <a:prstGeom prst="rect">
            <a:avLst/>
          </a:prstGeom>
          <a:noFill/>
          <a:ln/>
        </p:spPr>
        <p:txBody>
          <a:bodyPr wrap="square" lIns="0" tIns="0" rIns="0" bIns="0" rtlCol="0" anchor="ctr"/>
          <a:lstStyle/>
          <a:p>
            <a:pPr marL="0" indent="0">
              <a:buNone/>
            </a:pPr>
            <a:r>
              <a:rPr lang="en-US" sz="1300" b="1" kern="0" spc="100" dirty="0">
                <a:solidFill>
                  <a:srgbClr val="285AB4"/>
                </a:solidFill>
                <a:latin typeface="Calibri" pitchFamily="34" charset="0"/>
                <a:ea typeface="Calibri" pitchFamily="34" charset="-122"/>
                <a:cs typeface="Calibri" pitchFamily="34" charset="-120"/>
              </a:rPr>
              <a:t>DEMO — EXPERIMENT 4 &amp; 5 (5 SEEDS MỖI SCHEME)</a:t>
            </a:r>
            <a:endParaRPr lang="en-US" sz="1300" dirty="0"/>
          </a:p>
        </p:txBody>
      </p:sp>
      <p:sp>
        <p:nvSpPr>
          <p:cNvPr id="3" name="Text 1"/>
          <p:cNvSpPr txBox="1"/>
          <p:nvPr/>
        </p:nvSpPr>
        <p:spPr>
          <a:xfrm>
            <a:off x="640080" y="749808"/>
            <a:ext cx="10911535" cy="822960"/>
          </a:xfrm>
          <a:prstGeom prst="rect">
            <a:avLst/>
          </a:prstGeom>
          <a:noFill/>
          <a:ln/>
        </p:spPr>
        <p:txBody>
          <a:bodyPr wrap="square" lIns="0" tIns="0" rIns="0" bIns="0" rtlCol="0" anchor="t"/>
          <a:lstStyle/>
          <a:p>
            <a:pPr marL="0" indent="0">
              <a:buNone/>
            </a:pPr>
            <a:r>
              <a:rPr lang="en-US" sz="2400" b="1" dirty="0">
                <a:solidFill>
                  <a:srgbClr val="1A2238"/>
                </a:solidFill>
                <a:latin typeface="Cambria" pitchFamily="34" charset="0"/>
                <a:ea typeface="Cambria" pitchFamily="34" charset="-122"/>
                <a:cs typeface="Cambria" pitchFamily="34" charset="-120"/>
              </a:rPr>
              <a:t>Xavier vs. He — 5 seed thô, mean ± std khoảng CHỒNG LẤN</a:t>
            </a:r>
            <a:endParaRPr lang="en-US" sz="2400" dirty="0"/>
          </a:p>
        </p:txBody>
      </p:sp>
      <p:sp>
        <p:nvSpPr>
          <p:cNvPr id="4" name="Shape 2"/>
          <p:cNvSpPr/>
          <p:nvPr/>
        </p:nvSpPr>
        <p:spPr>
          <a:xfrm>
            <a:off x="640080" y="1691640"/>
            <a:ext cx="10911535" cy="1234440"/>
          </a:xfrm>
          <a:prstGeom prst="roundRect">
            <a:avLst>
              <a:gd name="adj" fmla="val 3704"/>
            </a:avLst>
          </a:prstGeom>
          <a:solidFill>
            <a:srgbClr val="1E2A44"/>
          </a:solidFill>
          <a:ln/>
        </p:spPr>
      </p:sp>
      <p:sp>
        <p:nvSpPr>
          <p:cNvPr id="5" name="Text 3"/>
          <p:cNvSpPr txBox="1"/>
          <p:nvPr/>
        </p:nvSpPr>
        <p:spPr>
          <a:xfrm>
            <a:off x="868680" y="1801368"/>
            <a:ext cx="10454335" cy="1051560"/>
          </a:xfrm>
          <a:prstGeom prst="rect">
            <a:avLst/>
          </a:prstGeom>
          <a:noFill/>
          <a:ln/>
        </p:spPr>
        <p:txBody>
          <a:bodyPr wrap="square" lIns="0" tIns="0" rIns="0" bIns="0" rtlCol="0" anchor="t"/>
          <a:lstStyle/>
          <a:p>
            <a:pPr marL="0" indent="0">
              <a:buNone/>
            </a:pPr>
            <a:r>
              <a:rPr lang="en-US" sz="1250" dirty="0">
                <a:solidFill>
                  <a:srgbClr val="D8E0EF"/>
                </a:solidFill>
                <a:latin typeface="Consolas" pitchFamily="34" charset="0"/>
                <a:ea typeface="Consolas" pitchFamily="34" charset="-122"/>
                <a:cs typeface="Consolas" pitchFamily="34" charset="-120"/>
              </a:rPr>
              <a:t>nn.init.xavier_normal_(layer.weight)  /  nn.init.kaiming_normal_(..., nonlinearity='relu')</a:t>
            </a:r>
            <a:endParaRPr lang="en-US" sz="1250" dirty="0"/>
          </a:p>
          <a:p>
            <a:pPr marL="0" indent="0">
              <a:buNone/>
            </a:pPr>
            <a:r>
              <a:rPr lang="en-US" sz="1250" dirty="0">
                <a:solidFill>
                  <a:srgbClr val="D8E0EF"/>
                </a:solidFill>
                <a:latin typeface="Consolas" pitchFamily="34" charset="0"/>
                <a:ea typeface="Consolas" pitchFamily="34" charset="-122"/>
                <a:cs typeface="Consolas" pitchFamily="34" charset="-120"/>
              </a:rPr>
              <a:t>Xavier test_acc theo seed {42..46}: 68.2%, 66.5%, 64.5%, 76.8%, 69.3%</a:t>
            </a:r>
            <a:endParaRPr lang="en-US" sz="1250" dirty="0"/>
          </a:p>
          <a:p>
            <a:pPr marL="0" indent="0">
              <a:buNone/>
            </a:pPr>
            <a:r>
              <a:rPr lang="en-US" sz="1250" dirty="0">
                <a:solidFill>
                  <a:srgbClr val="D8E0EF"/>
                </a:solidFill>
                <a:latin typeface="Consolas" pitchFamily="34" charset="0"/>
                <a:ea typeface="Consolas" pitchFamily="34" charset="-122"/>
                <a:cs typeface="Consolas" pitchFamily="34" charset="-120"/>
              </a:rPr>
              <a:t>He     test_acc theo seed {42..46}: 67.4%, 67.4%, 70.3%, 80.5%, 67.0%</a:t>
            </a:r>
            <a:endParaRPr lang="en-US" sz="1250" dirty="0"/>
          </a:p>
        </p:txBody>
      </p:sp>
      <p:sp>
        <p:nvSpPr>
          <p:cNvPr id="6" name="Text 4"/>
          <p:cNvSpPr txBox="1"/>
          <p:nvPr/>
        </p:nvSpPr>
        <p:spPr>
          <a:xfrm>
            <a:off x="640080" y="3246120"/>
            <a:ext cx="3454298" cy="768096"/>
          </a:xfrm>
          <a:prstGeom prst="rect">
            <a:avLst/>
          </a:prstGeom>
          <a:noFill/>
          <a:ln/>
        </p:spPr>
        <p:txBody>
          <a:bodyPr wrap="square" lIns="0" tIns="0" rIns="0" bIns="0" rtlCol="0" anchor="b"/>
          <a:lstStyle/>
          <a:p>
            <a:pPr marL="0" indent="0" algn="ctr">
              <a:buNone/>
            </a:pPr>
            <a:r>
              <a:rPr lang="en-US" sz="3000" b="1" dirty="0">
                <a:solidFill>
                  <a:srgbClr val="2E7D5B"/>
                </a:solidFill>
                <a:latin typeface="Cambria" pitchFamily="34" charset="0"/>
                <a:ea typeface="Cambria" pitchFamily="34" charset="-122"/>
                <a:cs typeface="Cambria" pitchFamily="34" charset="-120"/>
              </a:rPr>
              <a:t>69.1% ± 4.7pp</a:t>
            </a:r>
            <a:endParaRPr lang="en-US" sz="3000" dirty="0"/>
          </a:p>
        </p:txBody>
      </p:sp>
      <p:sp>
        <p:nvSpPr>
          <p:cNvPr id="7" name="Text 5"/>
          <p:cNvSpPr txBox="1"/>
          <p:nvPr/>
        </p:nvSpPr>
        <p:spPr>
          <a:xfrm>
            <a:off x="640080" y="4014216"/>
            <a:ext cx="3454298" cy="512064"/>
          </a:xfrm>
          <a:prstGeom prst="rect">
            <a:avLst/>
          </a:prstGeom>
          <a:noFill/>
          <a:ln/>
        </p:spPr>
        <p:txBody>
          <a:bodyPr wrap="square" lIns="0" tIns="0" rIns="0" bIns="0" rtlCol="0" anchor="t"/>
          <a:lstStyle/>
          <a:p>
            <a:pPr marL="0" indent="0" algn="ctr">
              <a:buNone/>
            </a:pPr>
            <a:r>
              <a:rPr lang="en-US" sz="1100" dirty="0">
                <a:solidFill>
                  <a:srgbClr val="5B6478"/>
                </a:solidFill>
                <a:latin typeface="Calibri" pitchFamily="34" charset="0"/>
                <a:ea typeface="Calibri" pitchFamily="34" charset="-122"/>
                <a:cs typeface="Calibri" pitchFamily="34" charset="-120"/>
              </a:rPr>
              <a:t>Xavier — test accuracy, mean ± 1 std (n=5 seed, "pp" = percentage points)</a:t>
            </a:r>
            <a:endParaRPr lang="en-US" sz="1100" dirty="0"/>
          </a:p>
        </p:txBody>
      </p:sp>
      <p:sp>
        <p:nvSpPr>
          <p:cNvPr id="8" name="Text 6"/>
          <p:cNvSpPr txBox="1"/>
          <p:nvPr/>
        </p:nvSpPr>
        <p:spPr>
          <a:xfrm>
            <a:off x="4368698" y="3246120"/>
            <a:ext cx="3454298" cy="768096"/>
          </a:xfrm>
          <a:prstGeom prst="rect">
            <a:avLst/>
          </a:prstGeom>
          <a:noFill/>
          <a:ln/>
        </p:spPr>
        <p:txBody>
          <a:bodyPr wrap="square" lIns="0" tIns="0" rIns="0" bIns="0" rtlCol="0" anchor="b"/>
          <a:lstStyle/>
          <a:p>
            <a:pPr marL="0" indent="0" algn="ctr">
              <a:buNone/>
            </a:pPr>
            <a:r>
              <a:rPr lang="en-US" sz="3000" b="1" dirty="0">
                <a:solidFill>
                  <a:srgbClr val="2E7D5B"/>
                </a:solidFill>
                <a:latin typeface="Cambria" pitchFamily="34" charset="0"/>
                <a:ea typeface="Cambria" pitchFamily="34" charset="-122"/>
                <a:cs typeface="Cambria" pitchFamily="34" charset="-120"/>
              </a:rPr>
              <a:t>70.5% ± 5.7pp</a:t>
            </a:r>
            <a:endParaRPr lang="en-US" sz="3000" dirty="0"/>
          </a:p>
        </p:txBody>
      </p:sp>
      <p:sp>
        <p:nvSpPr>
          <p:cNvPr id="9" name="Text 7"/>
          <p:cNvSpPr txBox="1"/>
          <p:nvPr/>
        </p:nvSpPr>
        <p:spPr>
          <a:xfrm>
            <a:off x="4368698" y="4014216"/>
            <a:ext cx="3454298" cy="512064"/>
          </a:xfrm>
          <a:prstGeom prst="rect">
            <a:avLst/>
          </a:prstGeom>
          <a:noFill/>
          <a:ln/>
        </p:spPr>
        <p:txBody>
          <a:bodyPr wrap="square" lIns="0" tIns="0" rIns="0" bIns="0" rtlCol="0" anchor="t"/>
          <a:lstStyle/>
          <a:p>
            <a:pPr marL="0" indent="0" algn="ctr">
              <a:buNone/>
            </a:pPr>
            <a:r>
              <a:rPr lang="en-US" sz="1100" dirty="0">
                <a:solidFill>
                  <a:srgbClr val="5B6478"/>
                </a:solidFill>
                <a:latin typeface="Calibri" pitchFamily="34" charset="0"/>
                <a:ea typeface="Calibri" pitchFamily="34" charset="-122"/>
                <a:cs typeface="Calibri" pitchFamily="34" charset="-120"/>
              </a:rPr>
              <a:t>He — test accuracy, mean ± 1 std (n=5 seed)</a:t>
            </a:r>
            <a:endParaRPr lang="en-US" sz="1100" dirty="0"/>
          </a:p>
        </p:txBody>
      </p:sp>
      <p:sp>
        <p:nvSpPr>
          <p:cNvPr id="10" name="Text 8"/>
          <p:cNvSpPr txBox="1"/>
          <p:nvPr/>
        </p:nvSpPr>
        <p:spPr>
          <a:xfrm>
            <a:off x="8097317" y="3246120"/>
            <a:ext cx="3454298" cy="768096"/>
          </a:xfrm>
          <a:prstGeom prst="rect">
            <a:avLst/>
          </a:prstGeom>
          <a:noFill/>
          <a:ln/>
        </p:spPr>
        <p:txBody>
          <a:bodyPr wrap="square" lIns="0" tIns="0" rIns="0" bIns="0" rtlCol="0" anchor="b"/>
          <a:lstStyle/>
          <a:p>
            <a:pPr marL="0" indent="0" algn="ctr">
              <a:buNone/>
            </a:pPr>
            <a:r>
              <a:rPr lang="en-US" sz="3000" b="1" dirty="0">
                <a:solidFill>
                  <a:srgbClr val="2E7D5B"/>
                </a:solidFill>
                <a:latin typeface="Cambria" pitchFamily="34" charset="0"/>
                <a:ea typeface="Cambria" pitchFamily="34" charset="-122"/>
                <a:cs typeface="Cambria" pitchFamily="34" charset="-120"/>
              </a:rPr>
              <a:t>1.5e-2 vs 4.2e-4</a:t>
            </a:r>
            <a:endParaRPr lang="en-US" sz="3000" dirty="0"/>
          </a:p>
        </p:txBody>
      </p:sp>
      <p:sp>
        <p:nvSpPr>
          <p:cNvPr id="11" name="Text 9"/>
          <p:cNvSpPr txBox="1"/>
          <p:nvPr/>
        </p:nvSpPr>
        <p:spPr>
          <a:xfrm>
            <a:off x="8097317" y="4014216"/>
            <a:ext cx="3454298" cy="512064"/>
          </a:xfrm>
          <a:prstGeom prst="rect">
            <a:avLst/>
          </a:prstGeom>
          <a:noFill/>
          <a:ln/>
        </p:spPr>
        <p:txBody>
          <a:bodyPr wrap="square" lIns="0" tIns="0" rIns="0" bIns="0" rtlCol="0" anchor="t"/>
          <a:lstStyle/>
          <a:p>
            <a:pPr marL="0" indent="0" algn="ctr">
              <a:buNone/>
            </a:pPr>
            <a:r>
              <a:rPr lang="en-US" sz="1100" dirty="0">
                <a:solidFill>
                  <a:srgbClr val="5B6478"/>
                </a:solidFill>
                <a:latin typeface="Calibri" pitchFamily="34" charset="0"/>
                <a:ea typeface="Calibri" pitchFamily="34" charset="-122"/>
                <a:cs typeface="Calibri" pitchFamily="34" charset="-120"/>
              </a:rPr>
              <a:t>Gradient RMS lớp 1 (mean, tại khởi tạo) — He vs. Xavier. Lớn hơn ≠ tốt hơn</a:t>
            </a:r>
            <a:endParaRPr lang="en-US" sz="1100" dirty="0"/>
          </a:p>
        </p:txBody>
      </p:sp>
      <p:sp>
        <p:nvSpPr>
          <p:cNvPr id="12" name="Shape 10"/>
          <p:cNvSpPr/>
          <p:nvPr/>
        </p:nvSpPr>
        <p:spPr>
          <a:xfrm>
            <a:off x="640080" y="4800600"/>
            <a:ext cx="10911535" cy="777240"/>
          </a:xfrm>
          <a:prstGeom prst="roundRect">
            <a:avLst>
              <a:gd name="adj" fmla="val 7059"/>
            </a:avLst>
          </a:prstGeom>
          <a:solidFill>
            <a:srgbClr val="EAF3EE"/>
          </a:solidFill>
          <a:ln w="9525">
            <a:solidFill>
              <a:srgbClr val="2E7D5B"/>
            </a:solidFill>
            <a:prstDash val="solid"/>
          </a:ln>
        </p:spPr>
      </p:sp>
      <p:sp>
        <p:nvSpPr>
          <p:cNvPr id="13" name="Text 11"/>
          <p:cNvSpPr txBox="1"/>
          <p:nvPr/>
        </p:nvSpPr>
        <p:spPr>
          <a:xfrm>
            <a:off x="914400" y="4800600"/>
            <a:ext cx="10362895" cy="777240"/>
          </a:xfrm>
          <a:prstGeom prst="rect">
            <a:avLst/>
          </a:prstGeom>
          <a:noFill/>
          <a:ln/>
        </p:spPr>
        <p:txBody>
          <a:bodyPr wrap="square" lIns="0" tIns="0" rIns="0" bIns="0" rtlCol="0" anchor="ctr"/>
          <a:lstStyle/>
          <a:p>
            <a:pPr marL="0" indent="0">
              <a:buNone/>
            </a:pPr>
            <a:r>
              <a:rPr lang="en-US" sz="1450" b="1" dirty="0">
                <a:solidFill>
                  <a:srgbClr val="2E7D5B"/>
                </a:solidFill>
                <a:latin typeface="Calibri" pitchFamily="34" charset="0"/>
                <a:ea typeface="Calibri" pitchFamily="34" charset="-122"/>
                <a:cs typeface="Calibri" pitchFamily="34" charset="-120"/>
              </a:rPr>
              <a:t>Khoảng mean ± 1 std của Xavier và He chồng lấn — chưa đủ cơ sở xếp hạng scheme nào tốt hơn trong setup này (5 seed, MLP + ReLU). Gradient RMS khác biệt rõ nhưng không tự động nghĩa là tốt hơn.</a:t>
            </a:r>
            <a:endParaRPr lang="en-US" sz="1450" dirty="0"/>
          </a:p>
        </p:txBody>
      </p:sp>
      <p:sp>
        <p:nvSpPr>
          <p:cNvPr id="14" name="Text 12"/>
          <p:cNvSpPr txBox="1"/>
          <p:nvPr/>
        </p:nvSpPr>
        <p:spPr>
          <a:xfrm>
            <a:off x="11185855" y="6446520"/>
            <a:ext cx="731520" cy="274320"/>
          </a:xfrm>
          <a:prstGeom prst="rect">
            <a:avLst/>
          </a:prstGeom>
          <a:noFill/>
          <a:ln/>
        </p:spPr>
        <p:txBody>
          <a:bodyPr wrap="square" lIns="0" tIns="0" rIns="0" bIns="0" rtlCol="0" anchor="ctr"/>
          <a:lstStyle/>
          <a:p>
            <a:pPr marL="0" indent="0" algn="r">
              <a:buNone/>
            </a:pPr>
            <a:r>
              <a:rPr lang="en-US" sz="900" dirty="0">
                <a:solidFill>
                  <a:srgbClr val="5B6478"/>
                </a:solidFill>
                <a:latin typeface="Calibri" pitchFamily="34" charset="0"/>
                <a:ea typeface="Calibri" pitchFamily="34" charset="-122"/>
                <a:cs typeface="Calibri" pitchFamily="34" charset="-120"/>
              </a:rPr>
              <a:t>18/26</a:t>
            </a:r>
            <a:endParaRPr lang="en-US" sz="900" dirty="0"/>
          </a:p>
        </p:txBody>
      </p:sp>
      <p:sp>
        <p:nvSpPr>
          <p:cNvPr id="15" name="Shape 13"/>
          <p:cNvSpPr/>
          <p:nvPr/>
        </p:nvSpPr>
        <p:spPr>
          <a:xfrm>
            <a:off x="610362" y="6473952"/>
            <a:ext cx="59436" cy="59436"/>
          </a:xfrm>
          <a:prstGeom prst="ellipse">
            <a:avLst/>
          </a:prstGeom>
          <a:solidFill>
            <a:srgbClr val="D9DEE8"/>
          </a:solidFill>
          <a:ln/>
        </p:spPr>
      </p:sp>
      <p:sp>
        <p:nvSpPr>
          <p:cNvPr id="16" name="Shape 14"/>
          <p:cNvSpPr/>
          <p:nvPr/>
        </p:nvSpPr>
        <p:spPr>
          <a:xfrm>
            <a:off x="829818" y="6473952"/>
            <a:ext cx="59436" cy="59436"/>
          </a:xfrm>
          <a:prstGeom prst="ellipse">
            <a:avLst/>
          </a:prstGeom>
          <a:solidFill>
            <a:srgbClr val="D9DEE8"/>
          </a:solidFill>
          <a:ln/>
        </p:spPr>
      </p:sp>
      <p:sp>
        <p:nvSpPr>
          <p:cNvPr id="17" name="Shape 15"/>
          <p:cNvSpPr/>
          <p:nvPr/>
        </p:nvSpPr>
        <p:spPr>
          <a:xfrm>
            <a:off x="1034415" y="6459093"/>
            <a:ext cx="89154" cy="89154"/>
          </a:xfrm>
          <a:prstGeom prst="ellipse">
            <a:avLst/>
          </a:prstGeom>
          <a:solidFill>
            <a:srgbClr val="285AB4"/>
          </a:solidFill>
          <a:ln/>
        </p:spPr>
      </p:sp>
      <p:sp>
        <p:nvSpPr>
          <p:cNvPr id="18" name="Shape 16"/>
          <p:cNvSpPr/>
          <p:nvPr/>
        </p:nvSpPr>
        <p:spPr>
          <a:xfrm>
            <a:off x="1268730" y="6473952"/>
            <a:ext cx="59436" cy="59436"/>
          </a:xfrm>
          <a:prstGeom prst="ellipse">
            <a:avLst/>
          </a:prstGeom>
          <a:solidFill>
            <a:srgbClr val="D9DEE8"/>
          </a:solidFill>
          <a:ln/>
        </p:spPr>
      </p:sp>
      <p:sp>
        <p:nvSpPr>
          <p:cNvPr id="19" name="Text 17"/>
          <p:cNvSpPr txBox="1"/>
          <p:nvPr/>
        </p:nvSpPr>
        <p:spPr>
          <a:xfrm>
            <a:off x="1563624" y="6391656"/>
            <a:ext cx="3291840" cy="274320"/>
          </a:xfrm>
          <a:prstGeom prst="rect">
            <a:avLst/>
          </a:prstGeom>
          <a:noFill/>
          <a:ln/>
        </p:spPr>
        <p:txBody>
          <a:bodyPr wrap="square" lIns="0" tIns="0" rIns="0" bIns="0" rtlCol="0" anchor="ctr"/>
          <a:lstStyle/>
          <a:p>
            <a:pPr marL="0" indent="0">
              <a:buNone/>
            </a:pPr>
            <a:r>
              <a:rPr lang="en-US" sz="850" kern="0" spc="50" dirty="0">
                <a:solidFill>
                  <a:srgbClr val="5B6478"/>
                </a:solidFill>
                <a:latin typeface="Calibri" pitchFamily="34" charset="0"/>
                <a:ea typeface="Calibri" pitchFamily="34" charset="-122"/>
                <a:cs typeface="Calibri" pitchFamily="34" charset="-120"/>
              </a:rPr>
              <a:t>EXPERIMENT</a:t>
            </a:r>
            <a:endParaRPr lang="en-US" sz="8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txBox="1"/>
          <p:nvPr/>
        </p:nvSpPr>
        <p:spPr>
          <a:xfrm>
            <a:off x="640080" y="457200"/>
            <a:ext cx="9144000" cy="320040"/>
          </a:xfrm>
          <a:prstGeom prst="rect">
            <a:avLst/>
          </a:prstGeom>
          <a:noFill/>
          <a:ln/>
        </p:spPr>
        <p:txBody>
          <a:bodyPr wrap="square" lIns="0" tIns="0" rIns="0" bIns="0" rtlCol="0" anchor="ctr"/>
          <a:lstStyle/>
          <a:p>
            <a:pPr marL="0" indent="0">
              <a:buNone/>
            </a:pPr>
            <a:r>
              <a:rPr lang="en-US" sz="1300" b="1" kern="0" spc="100" dirty="0">
                <a:solidFill>
                  <a:srgbClr val="285AB4"/>
                </a:solidFill>
                <a:latin typeface="Calibri" pitchFamily="34" charset="0"/>
                <a:ea typeface="Calibri" pitchFamily="34" charset="-122"/>
                <a:cs typeface="Calibri" pitchFamily="34" charset="-120"/>
              </a:rPr>
              <a:t>DEMO — KẾT QUẢ TỔNG HỢP</a:t>
            </a:r>
            <a:endParaRPr lang="en-US" sz="1300" dirty="0"/>
          </a:p>
        </p:txBody>
      </p:sp>
      <p:sp>
        <p:nvSpPr>
          <p:cNvPr id="3" name="Text 1"/>
          <p:cNvSpPr txBox="1"/>
          <p:nvPr/>
        </p:nvSpPr>
        <p:spPr>
          <a:xfrm>
            <a:off x="640080" y="749808"/>
            <a:ext cx="10911535" cy="822960"/>
          </a:xfrm>
          <a:prstGeom prst="rect">
            <a:avLst/>
          </a:prstGeom>
          <a:noFill/>
          <a:ln/>
        </p:spPr>
        <p:txBody>
          <a:bodyPr wrap="square" lIns="0" tIns="0" rIns="0" bIns="0" rtlCol="0" anchor="t"/>
          <a:lstStyle/>
          <a:p>
            <a:pPr marL="0" indent="0">
              <a:buNone/>
            </a:pPr>
            <a:r>
              <a:rPr lang="en-US" sz="2500" b="1" dirty="0">
                <a:solidFill>
                  <a:srgbClr val="1A2238"/>
                </a:solidFill>
                <a:latin typeface="Cambria" pitchFamily="34" charset="0"/>
                <a:ea typeface="Cambria" pitchFamily="34" charset="-122"/>
                <a:cs typeface="Cambria" pitchFamily="34" charset="-120"/>
              </a:rPr>
              <a:t>5 thí nghiệm, 1 kiến trúc, 1 biểu đồ</a:t>
            </a:r>
            <a:endParaRPr lang="en-US" sz="2500" dirty="0"/>
          </a:p>
        </p:txBody>
      </p:sp>
      <p:pic>
        <p:nvPicPr>
          <p:cNvPr id="4" name="Image 0" descr="..\results\figures\deep_demo_accuracy_slide.png"/>
          <p:cNvPicPr>
            <a:picLocks noChangeAspect="1"/>
          </p:cNvPicPr>
          <p:nvPr/>
        </p:nvPicPr>
        <p:blipFill>
          <a:blip r:embed="rId3"/>
          <a:stretch>
            <a:fillRect/>
          </a:stretch>
        </p:blipFill>
        <p:spPr>
          <a:xfrm>
            <a:off x="640080" y="1554480"/>
            <a:ext cx="6949440" cy="4787392"/>
          </a:xfrm>
          <a:prstGeom prst="rect">
            <a:avLst/>
          </a:prstGeom>
        </p:spPr>
      </p:pic>
      <p:sp>
        <p:nvSpPr>
          <p:cNvPr id="5" name="Text 2"/>
          <p:cNvSpPr txBox="1"/>
          <p:nvPr/>
        </p:nvSpPr>
        <p:spPr>
          <a:xfrm>
            <a:off x="7955280" y="2011680"/>
            <a:ext cx="3596335" cy="3840480"/>
          </a:xfrm>
          <a:prstGeom prst="rect">
            <a:avLst/>
          </a:prstGeom>
          <a:noFill/>
          <a:ln/>
        </p:spPr>
        <p:txBody>
          <a:bodyPr wrap="square" lIns="0" tIns="0" rIns="0" bIns="0" rtlCol="0" anchor="t"/>
          <a:lstStyle/>
          <a:p>
            <a:pPr marL="228600" indent="-228600">
              <a:spcAft>
                <a:spcPts val="1200"/>
              </a:spcAft>
              <a:buSzPct val="100000"/>
              <a:buChar char="▪"/>
            </a:pPr>
            <a:r>
              <a:rPr lang="en-US" sz="1500" dirty="0">
                <a:solidFill>
                  <a:srgbClr val="1A2238"/>
                </a:solidFill>
                <a:latin typeface="Calibri" pitchFamily="34" charset="0"/>
                <a:ea typeface="Calibri" pitchFamily="34" charset="-122"/>
                <a:cs typeface="Calibri" pitchFamily="34" charset="-120"/>
              </a:rPr>
              <a:t>Validation Accuracy vs Epoch</a:t>
            </a:r>
            <a:endParaRPr lang="en-US" sz="1500" dirty="0"/>
          </a:p>
          <a:p>
            <a:pPr marL="228600" indent="-228600">
              <a:spcAft>
                <a:spcPts val="1200"/>
              </a:spcAft>
              <a:buSzPct val="100000"/>
              <a:buChar char="▪"/>
            </a:pPr>
            <a:r>
              <a:rPr lang="en-US" sz="1500" dirty="0">
                <a:solidFill>
                  <a:srgbClr val="1A2238"/>
                </a:solidFill>
                <a:latin typeface="Calibri" pitchFamily="34" charset="0"/>
                <a:ea typeface="Calibri" pitchFamily="34" charset="-122"/>
                <a:cs typeface="Calibri" pitchFamily="34" charset="-120"/>
              </a:rPr>
              <a:t>Legend: Zero · Random nhỏ · Random lớn · Xavier · He</a:t>
            </a:r>
            <a:endParaRPr lang="en-US" sz="1500" dirty="0"/>
          </a:p>
          <a:p>
            <a:pPr marL="228600" indent="-228600">
              <a:spcAft>
                <a:spcPts val="1200"/>
              </a:spcAft>
              <a:buSzPct val="100000"/>
              <a:buChar char="▪"/>
            </a:pPr>
            <a:r>
              <a:rPr lang="en-US" sz="1500" dirty="0">
                <a:solidFill>
                  <a:srgbClr val="1A2238"/>
                </a:solidFill>
                <a:latin typeface="Calibri" pitchFamily="34" charset="0"/>
                <a:ea typeface="Calibri" pitchFamily="34" charset="-122"/>
                <a:cs typeface="Calibri" pitchFamily="34" charset="-120"/>
              </a:rPr>
              <a:t>Random lớn không hiển thị (loss = NaN)</a:t>
            </a:r>
            <a:endParaRPr lang="en-US" sz="1500" dirty="0"/>
          </a:p>
          <a:p>
            <a:pPr marL="228600" indent="-228600">
              <a:spcAft>
                <a:spcPts val="1200"/>
              </a:spcAft>
              <a:buSzPct val="100000"/>
              <a:buChar char="▪"/>
            </a:pPr>
            <a:r>
              <a:rPr lang="en-US" sz="1500" dirty="0">
                <a:solidFill>
                  <a:srgbClr val="1A2238"/>
                </a:solidFill>
                <a:latin typeface="Calibri" pitchFamily="34" charset="0"/>
                <a:ea typeface="Calibri" pitchFamily="34" charset="-122"/>
                <a:cs typeface="Calibri" pitchFamily="34" charset="-120"/>
              </a:rPr>
              <a:t>Val acc dao động: vanilla SGD (lr 0.05, không momentum, không scheduler) trên 10 tầng</a:t>
            </a:r>
            <a:endParaRPr lang="en-US" sz="1500" dirty="0"/>
          </a:p>
        </p:txBody>
      </p:sp>
      <p:sp>
        <p:nvSpPr>
          <p:cNvPr id="6" name="Text 3"/>
          <p:cNvSpPr txBox="1"/>
          <p:nvPr/>
        </p:nvSpPr>
        <p:spPr>
          <a:xfrm>
            <a:off x="11185855" y="6446520"/>
            <a:ext cx="731520" cy="274320"/>
          </a:xfrm>
          <a:prstGeom prst="rect">
            <a:avLst/>
          </a:prstGeom>
          <a:noFill/>
          <a:ln/>
        </p:spPr>
        <p:txBody>
          <a:bodyPr wrap="square" lIns="0" tIns="0" rIns="0" bIns="0" rtlCol="0" anchor="ctr"/>
          <a:lstStyle/>
          <a:p>
            <a:pPr marL="0" indent="0" algn="r">
              <a:buNone/>
            </a:pPr>
            <a:r>
              <a:rPr lang="en-US" sz="900" dirty="0">
                <a:solidFill>
                  <a:srgbClr val="5B6478"/>
                </a:solidFill>
                <a:latin typeface="Calibri" pitchFamily="34" charset="0"/>
                <a:ea typeface="Calibri" pitchFamily="34" charset="-122"/>
                <a:cs typeface="Calibri" pitchFamily="34" charset="-120"/>
              </a:rPr>
              <a:t>19/26</a:t>
            </a:r>
            <a:endParaRPr lang="en-US" sz="900" dirty="0"/>
          </a:p>
        </p:txBody>
      </p:sp>
      <p:sp>
        <p:nvSpPr>
          <p:cNvPr id="7" name="Shape 4"/>
          <p:cNvSpPr/>
          <p:nvPr/>
        </p:nvSpPr>
        <p:spPr>
          <a:xfrm>
            <a:off x="610362" y="6473952"/>
            <a:ext cx="59436" cy="59436"/>
          </a:xfrm>
          <a:prstGeom prst="ellipse">
            <a:avLst/>
          </a:prstGeom>
          <a:solidFill>
            <a:srgbClr val="D9DEE8"/>
          </a:solidFill>
          <a:ln/>
        </p:spPr>
      </p:sp>
      <p:sp>
        <p:nvSpPr>
          <p:cNvPr id="8" name="Shape 5"/>
          <p:cNvSpPr/>
          <p:nvPr/>
        </p:nvSpPr>
        <p:spPr>
          <a:xfrm>
            <a:off x="829818" y="6473952"/>
            <a:ext cx="59436" cy="59436"/>
          </a:xfrm>
          <a:prstGeom prst="ellipse">
            <a:avLst/>
          </a:prstGeom>
          <a:solidFill>
            <a:srgbClr val="D9DEE8"/>
          </a:solidFill>
          <a:ln/>
        </p:spPr>
      </p:sp>
      <p:sp>
        <p:nvSpPr>
          <p:cNvPr id="9" name="Shape 6"/>
          <p:cNvSpPr/>
          <p:nvPr/>
        </p:nvSpPr>
        <p:spPr>
          <a:xfrm>
            <a:off x="1034415" y="6459093"/>
            <a:ext cx="89154" cy="89154"/>
          </a:xfrm>
          <a:prstGeom prst="ellipse">
            <a:avLst/>
          </a:prstGeom>
          <a:solidFill>
            <a:srgbClr val="285AB4"/>
          </a:solidFill>
          <a:ln/>
        </p:spPr>
      </p:sp>
      <p:sp>
        <p:nvSpPr>
          <p:cNvPr id="10" name="Shape 7"/>
          <p:cNvSpPr/>
          <p:nvPr/>
        </p:nvSpPr>
        <p:spPr>
          <a:xfrm>
            <a:off x="1268730" y="6473952"/>
            <a:ext cx="59436" cy="59436"/>
          </a:xfrm>
          <a:prstGeom prst="ellipse">
            <a:avLst/>
          </a:prstGeom>
          <a:solidFill>
            <a:srgbClr val="D9DEE8"/>
          </a:solidFill>
          <a:ln/>
        </p:spPr>
      </p:sp>
      <p:sp>
        <p:nvSpPr>
          <p:cNvPr id="11" name="Text 8"/>
          <p:cNvSpPr txBox="1"/>
          <p:nvPr/>
        </p:nvSpPr>
        <p:spPr>
          <a:xfrm>
            <a:off x="1563624" y="6391656"/>
            <a:ext cx="3291840" cy="274320"/>
          </a:xfrm>
          <a:prstGeom prst="rect">
            <a:avLst/>
          </a:prstGeom>
          <a:noFill/>
          <a:ln/>
        </p:spPr>
        <p:txBody>
          <a:bodyPr wrap="square" lIns="0" tIns="0" rIns="0" bIns="0" rtlCol="0" anchor="ctr"/>
          <a:lstStyle/>
          <a:p>
            <a:pPr marL="0" indent="0">
              <a:buNone/>
            </a:pPr>
            <a:r>
              <a:rPr lang="en-US" sz="850" kern="0" spc="50" dirty="0">
                <a:solidFill>
                  <a:srgbClr val="5B6478"/>
                </a:solidFill>
                <a:latin typeface="Calibri" pitchFamily="34" charset="0"/>
                <a:ea typeface="Calibri" pitchFamily="34" charset="-122"/>
                <a:cs typeface="Calibri" pitchFamily="34" charset="-120"/>
              </a:rPr>
              <a:t>EXPERIMENT</a:t>
            </a:r>
            <a:endParaRPr lang="en-US" sz="8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txBox="1"/>
          <p:nvPr/>
        </p:nvSpPr>
        <p:spPr>
          <a:xfrm>
            <a:off x="640080" y="457200"/>
            <a:ext cx="9144000" cy="320040"/>
          </a:xfrm>
          <a:prstGeom prst="rect">
            <a:avLst/>
          </a:prstGeom>
          <a:noFill/>
          <a:ln/>
        </p:spPr>
        <p:txBody>
          <a:bodyPr wrap="square" lIns="0" tIns="0" rIns="0" bIns="0" rtlCol="0" anchor="ctr"/>
          <a:lstStyle/>
          <a:p>
            <a:pPr marL="0" indent="0">
              <a:buNone/>
            </a:pPr>
            <a:r>
              <a:rPr lang="en-US" sz="1300" b="1" kern="0" spc="100" dirty="0">
                <a:solidFill>
                  <a:srgbClr val="285AB4"/>
                </a:solidFill>
                <a:latin typeface="Calibri" pitchFamily="34" charset="0"/>
                <a:ea typeface="Calibri" pitchFamily="34" charset="-122"/>
                <a:cs typeface="Calibri" pitchFamily="34" charset="-120"/>
              </a:rPr>
              <a:t>DEMO — VISUALIZATION QUAN TRỌNG NHẤT</a:t>
            </a:r>
            <a:endParaRPr lang="en-US" sz="1300" dirty="0"/>
          </a:p>
        </p:txBody>
      </p:sp>
      <p:sp>
        <p:nvSpPr>
          <p:cNvPr id="3" name="Text 1"/>
          <p:cNvSpPr txBox="1"/>
          <p:nvPr/>
        </p:nvSpPr>
        <p:spPr>
          <a:xfrm>
            <a:off x="640080" y="749808"/>
            <a:ext cx="10911535" cy="822960"/>
          </a:xfrm>
          <a:prstGeom prst="rect">
            <a:avLst/>
          </a:prstGeom>
          <a:noFill/>
          <a:ln/>
        </p:spPr>
        <p:txBody>
          <a:bodyPr wrap="square" lIns="0" tIns="0" rIns="0" bIns="0" rtlCol="0" anchor="t"/>
          <a:lstStyle/>
          <a:p>
            <a:pPr marL="0" indent="0">
              <a:buNone/>
            </a:pPr>
            <a:r>
              <a:rPr lang="en-US" sz="2300" b="1" dirty="0">
                <a:solidFill>
                  <a:srgbClr val="1A2238"/>
                </a:solidFill>
                <a:latin typeface="Cambria" pitchFamily="34" charset="0"/>
                <a:ea typeface="Cambria" pitchFamily="34" charset="-122"/>
                <a:cs typeface="Cambria" pitchFamily="34" charset="-120"/>
              </a:rPr>
              <a:t>Gradient RMS Heatmap — layer × initialization</a:t>
            </a:r>
            <a:endParaRPr lang="en-US" sz="2300" dirty="0"/>
          </a:p>
        </p:txBody>
      </p:sp>
      <p:sp>
        <p:nvSpPr>
          <p:cNvPr id="4" name="Text 2"/>
          <p:cNvSpPr txBox="1"/>
          <p:nvPr/>
        </p:nvSpPr>
        <p:spPr>
          <a:xfrm>
            <a:off x="640080" y="1481328"/>
            <a:ext cx="10911535" cy="292608"/>
          </a:xfrm>
          <a:prstGeom prst="rect">
            <a:avLst/>
          </a:prstGeom>
          <a:noFill/>
          <a:ln/>
        </p:spPr>
        <p:txBody>
          <a:bodyPr wrap="square" lIns="0" tIns="0" rIns="0" bIns="0" rtlCol="0" anchor="ctr"/>
          <a:lstStyle/>
          <a:p>
            <a:pPr marL="0" indent="0">
              <a:buNone/>
            </a:pPr>
            <a:r>
              <a:rPr lang="en-US" sz="1200" b="1" i="1" dirty="0">
                <a:solidFill>
                  <a:srgbClr val="BE3C32"/>
                </a:solidFill>
                <a:latin typeface="Calibri" pitchFamily="34" charset="0"/>
                <a:ea typeface="Calibri" pitchFamily="34" charset="-122"/>
                <a:cs typeface="Calibri" pitchFamily="34" charset="-120"/>
              </a:rPr>
              <a:t>Đo tại khởi tạo (initialization) — trên batch đầu tiên, TRƯỚC bất kỳ update tham số nào</a:t>
            </a:r>
            <a:endParaRPr lang="en-US" sz="1200" dirty="0"/>
          </a:p>
        </p:txBody>
      </p:sp>
      <p:pic>
        <p:nvPicPr>
          <p:cNvPr id="5" name="Image 0" descr="..\results\figures\gradient_heatmap_slide.png"/>
          <p:cNvPicPr>
            <a:picLocks noChangeAspect="1"/>
          </p:cNvPicPr>
          <p:nvPr/>
        </p:nvPicPr>
        <p:blipFill>
          <a:blip r:embed="rId3"/>
          <a:stretch>
            <a:fillRect/>
          </a:stretch>
        </p:blipFill>
        <p:spPr>
          <a:xfrm>
            <a:off x="1798168" y="1828800"/>
            <a:ext cx="8595360" cy="4063261"/>
          </a:xfrm>
          <a:prstGeom prst="rect">
            <a:avLst/>
          </a:prstGeom>
        </p:spPr>
      </p:pic>
      <p:sp>
        <p:nvSpPr>
          <p:cNvPr id="6" name="Text 3"/>
          <p:cNvSpPr txBox="1"/>
          <p:nvPr/>
        </p:nvSpPr>
        <p:spPr>
          <a:xfrm>
            <a:off x="640080" y="5983501"/>
            <a:ext cx="10911535" cy="502920"/>
          </a:xfrm>
          <a:prstGeom prst="rect">
            <a:avLst/>
          </a:prstGeom>
          <a:noFill/>
          <a:ln/>
        </p:spPr>
        <p:txBody>
          <a:bodyPr wrap="square" lIns="0" tIns="0" rIns="0" bIns="0" rtlCol="0" anchor="ctr"/>
          <a:lstStyle/>
          <a:p>
            <a:pPr marL="0" indent="0">
              <a:buNone/>
            </a:pPr>
            <a:r>
              <a:rPr lang="en-US" sz="1400" i="1" dirty="0">
                <a:solidFill>
                  <a:srgbClr val="5B6478"/>
                </a:solidFill>
                <a:latin typeface="Calibri" pitchFamily="34" charset="0"/>
                <a:ea typeface="Calibri" pitchFamily="34" charset="-122"/>
                <a:cs typeface="Calibri" pitchFamily="34" charset="-120"/>
              </a:rPr>
              <a:t>log₁₀(Gradient RMS) đo thật tại khởi tạo, 10 hidden layer, ReLU. Xanh = nhỏ (vanishing), đỏ = lớn (exploding). Thang màu liên tục, không phải ngưỡng chính thức.</a:t>
            </a:r>
            <a:endParaRPr lang="en-US" sz="1400" dirty="0"/>
          </a:p>
        </p:txBody>
      </p:sp>
      <p:sp>
        <p:nvSpPr>
          <p:cNvPr id="7" name="Text 4"/>
          <p:cNvSpPr txBox="1"/>
          <p:nvPr/>
        </p:nvSpPr>
        <p:spPr>
          <a:xfrm>
            <a:off x="11185855" y="6446520"/>
            <a:ext cx="731520" cy="274320"/>
          </a:xfrm>
          <a:prstGeom prst="rect">
            <a:avLst/>
          </a:prstGeom>
          <a:noFill/>
          <a:ln/>
        </p:spPr>
        <p:txBody>
          <a:bodyPr wrap="square" lIns="0" tIns="0" rIns="0" bIns="0" rtlCol="0" anchor="ctr"/>
          <a:lstStyle/>
          <a:p>
            <a:pPr marL="0" indent="0" algn="r">
              <a:buNone/>
            </a:pPr>
            <a:r>
              <a:rPr lang="en-US" sz="900" dirty="0">
                <a:solidFill>
                  <a:srgbClr val="5B6478"/>
                </a:solidFill>
                <a:latin typeface="Calibri" pitchFamily="34" charset="0"/>
                <a:ea typeface="Calibri" pitchFamily="34" charset="-122"/>
                <a:cs typeface="Calibri" pitchFamily="34" charset="-120"/>
              </a:rPr>
              <a:t>20/26</a:t>
            </a:r>
            <a:endParaRPr lang="en-US" sz="900" dirty="0"/>
          </a:p>
        </p:txBody>
      </p:sp>
      <p:sp>
        <p:nvSpPr>
          <p:cNvPr id="8" name="Shape 5"/>
          <p:cNvSpPr/>
          <p:nvPr/>
        </p:nvSpPr>
        <p:spPr>
          <a:xfrm>
            <a:off x="610362" y="6473952"/>
            <a:ext cx="59436" cy="59436"/>
          </a:xfrm>
          <a:prstGeom prst="ellipse">
            <a:avLst/>
          </a:prstGeom>
          <a:solidFill>
            <a:srgbClr val="D9DEE8"/>
          </a:solidFill>
          <a:ln/>
        </p:spPr>
      </p:sp>
      <p:sp>
        <p:nvSpPr>
          <p:cNvPr id="9" name="Shape 6"/>
          <p:cNvSpPr/>
          <p:nvPr/>
        </p:nvSpPr>
        <p:spPr>
          <a:xfrm>
            <a:off x="829818" y="6473952"/>
            <a:ext cx="59436" cy="59436"/>
          </a:xfrm>
          <a:prstGeom prst="ellipse">
            <a:avLst/>
          </a:prstGeom>
          <a:solidFill>
            <a:srgbClr val="D9DEE8"/>
          </a:solidFill>
          <a:ln/>
        </p:spPr>
      </p:sp>
      <p:sp>
        <p:nvSpPr>
          <p:cNvPr id="10" name="Shape 7"/>
          <p:cNvSpPr/>
          <p:nvPr/>
        </p:nvSpPr>
        <p:spPr>
          <a:xfrm>
            <a:off x="1034415" y="6459093"/>
            <a:ext cx="89154" cy="89154"/>
          </a:xfrm>
          <a:prstGeom prst="ellipse">
            <a:avLst/>
          </a:prstGeom>
          <a:solidFill>
            <a:srgbClr val="285AB4"/>
          </a:solidFill>
          <a:ln/>
        </p:spPr>
      </p:sp>
      <p:sp>
        <p:nvSpPr>
          <p:cNvPr id="11" name="Shape 8"/>
          <p:cNvSpPr/>
          <p:nvPr/>
        </p:nvSpPr>
        <p:spPr>
          <a:xfrm>
            <a:off x="1268730" y="6473952"/>
            <a:ext cx="59436" cy="59436"/>
          </a:xfrm>
          <a:prstGeom prst="ellipse">
            <a:avLst/>
          </a:prstGeom>
          <a:solidFill>
            <a:srgbClr val="D9DEE8"/>
          </a:solidFill>
          <a:ln/>
        </p:spPr>
      </p:sp>
      <p:sp>
        <p:nvSpPr>
          <p:cNvPr id="12" name="Text 9"/>
          <p:cNvSpPr txBox="1"/>
          <p:nvPr/>
        </p:nvSpPr>
        <p:spPr>
          <a:xfrm>
            <a:off x="1563624" y="6391656"/>
            <a:ext cx="3291840" cy="274320"/>
          </a:xfrm>
          <a:prstGeom prst="rect">
            <a:avLst/>
          </a:prstGeom>
          <a:noFill/>
          <a:ln/>
        </p:spPr>
        <p:txBody>
          <a:bodyPr wrap="square" lIns="0" tIns="0" rIns="0" bIns="0" rtlCol="0" anchor="ctr"/>
          <a:lstStyle/>
          <a:p>
            <a:pPr marL="0" indent="0">
              <a:buNone/>
            </a:pPr>
            <a:r>
              <a:rPr lang="en-US" sz="850" kern="0" spc="50" dirty="0">
                <a:solidFill>
                  <a:srgbClr val="5B6478"/>
                </a:solidFill>
                <a:latin typeface="Calibri" pitchFamily="34" charset="0"/>
                <a:ea typeface="Calibri" pitchFamily="34" charset="-122"/>
                <a:cs typeface="Calibri" pitchFamily="34" charset="-120"/>
              </a:rPr>
              <a:t>EXPERIMENT</a:t>
            </a:r>
            <a:endParaRPr lang="en-US" sz="8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txBox="1"/>
          <p:nvPr/>
        </p:nvSpPr>
        <p:spPr>
          <a:xfrm>
            <a:off x="640080" y="457200"/>
            <a:ext cx="9144000" cy="320040"/>
          </a:xfrm>
          <a:prstGeom prst="rect">
            <a:avLst/>
          </a:prstGeom>
          <a:noFill/>
          <a:ln/>
        </p:spPr>
        <p:txBody>
          <a:bodyPr wrap="square" lIns="0" tIns="0" rIns="0" bIns="0" rtlCol="0" anchor="ctr"/>
          <a:lstStyle/>
          <a:p>
            <a:pPr marL="0" indent="0">
              <a:buNone/>
            </a:pPr>
            <a:r>
              <a:rPr lang="en-US" sz="1300" b="1" kern="0" spc="100" dirty="0">
                <a:solidFill>
                  <a:srgbClr val="285AB4"/>
                </a:solidFill>
                <a:latin typeface="Calibri" pitchFamily="34" charset="0"/>
                <a:ea typeface="Calibri" pitchFamily="34" charset="-122"/>
                <a:cs typeface="Calibri" pitchFamily="34" charset="-120"/>
              </a:rPr>
              <a:t>DEMO — VISUALIZATION BỔ SUNG (FORWARD PASS)</a:t>
            </a:r>
            <a:endParaRPr lang="en-US" sz="1300" dirty="0"/>
          </a:p>
        </p:txBody>
      </p:sp>
      <p:sp>
        <p:nvSpPr>
          <p:cNvPr id="3" name="Text 1"/>
          <p:cNvSpPr txBox="1"/>
          <p:nvPr/>
        </p:nvSpPr>
        <p:spPr>
          <a:xfrm>
            <a:off x="640080" y="749808"/>
            <a:ext cx="10911535" cy="822960"/>
          </a:xfrm>
          <a:prstGeom prst="rect">
            <a:avLst/>
          </a:prstGeom>
          <a:noFill/>
          <a:ln/>
        </p:spPr>
        <p:txBody>
          <a:bodyPr wrap="square" lIns="0" tIns="0" rIns="0" bIns="0" rtlCol="0" anchor="t"/>
          <a:lstStyle/>
          <a:p>
            <a:pPr marL="0" indent="0">
              <a:buNone/>
            </a:pPr>
            <a:r>
              <a:rPr lang="en-US" sz="2400" b="1" dirty="0">
                <a:solidFill>
                  <a:srgbClr val="1A2238"/>
                </a:solidFill>
                <a:latin typeface="Cambria" pitchFamily="34" charset="0"/>
                <a:ea typeface="Cambria" pitchFamily="34" charset="-122"/>
                <a:cs typeface="Cambria" pitchFamily="34" charset="-120"/>
              </a:rPr>
              <a:t>Activation Variance at Initialization</a:t>
            </a:r>
            <a:endParaRPr lang="en-US" sz="2400" dirty="0"/>
          </a:p>
        </p:txBody>
      </p:sp>
      <p:sp>
        <p:nvSpPr>
          <p:cNvPr id="4" name="Text 2"/>
          <p:cNvSpPr txBox="1"/>
          <p:nvPr/>
        </p:nvSpPr>
        <p:spPr>
          <a:xfrm>
            <a:off x="640080" y="1188720"/>
            <a:ext cx="10911535" cy="320040"/>
          </a:xfrm>
          <a:prstGeom prst="rect">
            <a:avLst/>
          </a:prstGeom>
          <a:noFill/>
          <a:ln/>
        </p:spPr>
        <p:txBody>
          <a:bodyPr wrap="square" lIns="0" tIns="0" rIns="0" bIns="0" rtlCol="0" anchor="ctr"/>
          <a:lstStyle/>
          <a:p>
            <a:pPr marL="0" indent="0">
              <a:buNone/>
            </a:pPr>
            <a:r>
              <a:rPr lang="en-US" sz="1300" i="1" dirty="0">
                <a:solidFill>
                  <a:srgbClr val="BE3C32"/>
                </a:solidFill>
                <a:latin typeface="Calibri" pitchFamily="34" charset="0"/>
                <a:ea typeface="Calibri" pitchFamily="34" charset="-122"/>
                <a:cs typeface="Calibri" pitchFamily="34" charset="-120"/>
              </a:rPr>
              <a:t>Initialization phải cân bằng cả forward signal (slide này) lẫn backward gradient (slide trước) · 1 batch, trước mọi update</a:t>
            </a:r>
            <a:endParaRPr lang="en-US" sz="1300" dirty="0"/>
          </a:p>
        </p:txBody>
      </p:sp>
      <p:pic>
        <p:nvPicPr>
          <p:cNvPr id="5" name="Image 0" descr="..\results\figures\activation_variance_slide.png"/>
          <p:cNvPicPr>
            <a:picLocks noChangeAspect="1"/>
          </p:cNvPicPr>
          <p:nvPr/>
        </p:nvPicPr>
        <p:blipFill>
          <a:blip r:embed="rId3"/>
          <a:stretch>
            <a:fillRect/>
          </a:stretch>
        </p:blipFill>
        <p:spPr>
          <a:xfrm>
            <a:off x="640080" y="1508760"/>
            <a:ext cx="6949440" cy="4787392"/>
          </a:xfrm>
          <a:prstGeom prst="rect">
            <a:avLst/>
          </a:prstGeom>
        </p:spPr>
      </p:pic>
      <p:sp>
        <p:nvSpPr>
          <p:cNvPr id="6" name="Text 3"/>
          <p:cNvSpPr txBox="1"/>
          <p:nvPr/>
        </p:nvSpPr>
        <p:spPr>
          <a:xfrm>
            <a:off x="7955280" y="1828800"/>
            <a:ext cx="3596335" cy="4206240"/>
          </a:xfrm>
          <a:prstGeom prst="rect">
            <a:avLst/>
          </a:prstGeom>
          <a:noFill/>
          <a:ln/>
        </p:spPr>
        <p:txBody>
          <a:bodyPr wrap="square" lIns="0" tIns="0" rIns="0" bIns="0" rtlCol="0" anchor="t"/>
          <a:lstStyle/>
          <a:p>
            <a:pPr marL="228600" indent="-228600">
              <a:spcAft>
                <a:spcPts val="1200"/>
              </a:spcAft>
              <a:buSzPct val="100000"/>
              <a:buChar char="▪"/>
            </a:pPr>
            <a:r>
              <a:rPr lang="en-US" sz="1400" dirty="0">
                <a:solidFill>
                  <a:srgbClr val="1A2238"/>
                </a:solidFill>
                <a:latin typeface="Calibri" pitchFamily="34" charset="0"/>
                <a:ea typeface="Calibri" pitchFamily="34" charset="-122"/>
                <a:cs typeface="Calibri" pitchFamily="34" charset="-120"/>
              </a:rPr>
              <a:t>Random nhỏ: Var(a) co lại dần theo layer (forward)</a:t>
            </a:r>
            <a:endParaRPr lang="en-US" sz="1400" dirty="0"/>
          </a:p>
          <a:p>
            <a:pPr marL="228600" indent="-228600">
              <a:spcAft>
                <a:spcPts val="1200"/>
              </a:spcAft>
              <a:buSzPct val="100000"/>
              <a:buChar char="▪"/>
            </a:pPr>
            <a:r>
              <a:rPr lang="en-US" sz="1400" dirty="0">
                <a:solidFill>
                  <a:srgbClr val="1A2238"/>
                </a:solidFill>
                <a:latin typeface="Calibri" pitchFamily="34" charset="0"/>
                <a:ea typeface="Calibri" pitchFamily="34" charset="-122"/>
                <a:cs typeface="Calibri" pitchFamily="34" charset="-120"/>
              </a:rPr>
              <a:t>Random lớn: Var(a) tăng theo cấp số mũ</a:t>
            </a:r>
            <a:endParaRPr lang="en-US" sz="1400" dirty="0"/>
          </a:p>
          <a:p>
            <a:pPr marL="228600" indent="-228600">
              <a:spcAft>
                <a:spcPts val="1200"/>
              </a:spcAft>
              <a:buSzPct val="100000"/>
              <a:buChar char="▪"/>
            </a:pPr>
            <a:r>
              <a:rPr lang="en-US" sz="1400" dirty="0">
                <a:solidFill>
                  <a:srgbClr val="1A2238"/>
                </a:solidFill>
                <a:latin typeface="Calibri" pitchFamily="34" charset="0"/>
                <a:ea typeface="Calibri" pitchFamily="34" charset="-122"/>
                <a:cs typeface="Calibri" pitchFamily="34" charset="-120"/>
              </a:rPr>
              <a:t>He: gần như phẳng (layer 1→10 đổi ~0.8×)</a:t>
            </a:r>
            <a:endParaRPr lang="en-US" sz="1400" dirty="0"/>
          </a:p>
          <a:p>
            <a:pPr marL="228600" indent="-228600">
              <a:spcAft>
                <a:spcPts val="1200"/>
              </a:spcAft>
              <a:buSzPct val="100000"/>
              <a:buChar char="▪"/>
            </a:pPr>
            <a:r>
              <a:rPr lang="en-US" sz="1400" dirty="0">
                <a:solidFill>
                  <a:srgbClr val="1A2238"/>
                </a:solidFill>
                <a:latin typeface="Calibri" pitchFamily="34" charset="0"/>
                <a:ea typeface="Calibri" pitchFamily="34" charset="-122"/>
                <a:cs typeface="Calibri" pitchFamily="34" charset="-120"/>
              </a:rPr>
              <a:t>Xavier: vẫn giảm (~395×), hẹp hơn Random nhỏ rất nhiều — không gọi là 'phẳng'</a:t>
            </a:r>
            <a:endParaRPr lang="en-US" sz="1400" dirty="0"/>
          </a:p>
        </p:txBody>
      </p:sp>
      <p:sp>
        <p:nvSpPr>
          <p:cNvPr id="7" name="Text 4"/>
          <p:cNvSpPr txBox="1"/>
          <p:nvPr/>
        </p:nvSpPr>
        <p:spPr>
          <a:xfrm>
            <a:off x="11185855" y="6446520"/>
            <a:ext cx="731520" cy="274320"/>
          </a:xfrm>
          <a:prstGeom prst="rect">
            <a:avLst/>
          </a:prstGeom>
          <a:noFill/>
          <a:ln/>
        </p:spPr>
        <p:txBody>
          <a:bodyPr wrap="square" lIns="0" tIns="0" rIns="0" bIns="0" rtlCol="0" anchor="ctr"/>
          <a:lstStyle/>
          <a:p>
            <a:pPr marL="0" indent="0" algn="r">
              <a:buNone/>
            </a:pPr>
            <a:r>
              <a:rPr lang="en-US" sz="900" dirty="0">
                <a:solidFill>
                  <a:srgbClr val="5B6478"/>
                </a:solidFill>
                <a:latin typeface="Calibri" pitchFamily="34" charset="0"/>
                <a:ea typeface="Calibri" pitchFamily="34" charset="-122"/>
                <a:cs typeface="Calibri" pitchFamily="34" charset="-120"/>
              </a:rPr>
              <a:t>21/26</a:t>
            </a:r>
            <a:endParaRPr lang="en-US" sz="900" dirty="0"/>
          </a:p>
        </p:txBody>
      </p:sp>
      <p:sp>
        <p:nvSpPr>
          <p:cNvPr id="8" name="Shape 5"/>
          <p:cNvSpPr/>
          <p:nvPr/>
        </p:nvSpPr>
        <p:spPr>
          <a:xfrm>
            <a:off x="610362" y="6473952"/>
            <a:ext cx="59436" cy="59436"/>
          </a:xfrm>
          <a:prstGeom prst="ellipse">
            <a:avLst/>
          </a:prstGeom>
          <a:solidFill>
            <a:srgbClr val="D9DEE8"/>
          </a:solidFill>
          <a:ln/>
        </p:spPr>
      </p:sp>
      <p:sp>
        <p:nvSpPr>
          <p:cNvPr id="9" name="Shape 6"/>
          <p:cNvSpPr/>
          <p:nvPr/>
        </p:nvSpPr>
        <p:spPr>
          <a:xfrm>
            <a:off x="829818" y="6473952"/>
            <a:ext cx="59436" cy="59436"/>
          </a:xfrm>
          <a:prstGeom prst="ellipse">
            <a:avLst/>
          </a:prstGeom>
          <a:solidFill>
            <a:srgbClr val="D9DEE8"/>
          </a:solidFill>
          <a:ln/>
        </p:spPr>
      </p:sp>
      <p:sp>
        <p:nvSpPr>
          <p:cNvPr id="10" name="Shape 7"/>
          <p:cNvSpPr/>
          <p:nvPr/>
        </p:nvSpPr>
        <p:spPr>
          <a:xfrm>
            <a:off x="1034415" y="6459093"/>
            <a:ext cx="89154" cy="89154"/>
          </a:xfrm>
          <a:prstGeom prst="ellipse">
            <a:avLst/>
          </a:prstGeom>
          <a:solidFill>
            <a:srgbClr val="285AB4"/>
          </a:solidFill>
          <a:ln/>
        </p:spPr>
      </p:sp>
      <p:sp>
        <p:nvSpPr>
          <p:cNvPr id="11" name="Shape 8"/>
          <p:cNvSpPr/>
          <p:nvPr/>
        </p:nvSpPr>
        <p:spPr>
          <a:xfrm>
            <a:off x="1268730" y="6473952"/>
            <a:ext cx="59436" cy="59436"/>
          </a:xfrm>
          <a:prstGeom prst="ellipse">
            <a:avLst/>
          </a:prstGeom>
          <a:solidFill>
            <a:srgbClr val="D9DEE8"/>
          </a:solidFill>
          <a:ln/>
        </p:spPr>
      </p:sp>
      <p:sp>
        <p:nvSpPr>
          <p:cNvPr id="12" name="Text 9"/>
          <p:cNvSpPr txBox="1"/>
          <p:nvPr/>
        </p:nvSpPr>
        <p:spPr>
          <a:xfrm>
            <a:off x="1563624" y="6391656"/>
            <a:ext cx="3291840" cy="274320"/>
          </a:xfrm>
          <a:prstGeom prst="rect">
            <a:avLst/>
          </a:prstGeom>
          <a:noFill/>
          <a:ln/>
        </p:spPr>
        <p:txBody>
          <a:bodyPr wrap="square" lIns="0" tIns="0" rIns="0" bIns="0" rtlCol="0" anchor="ctr"/>
          <a:lstStyle/>
          <a:p>
            <a:pPr marL="0" indent="0">
              <a:buNone/>
            </a:pPr>
            <a:r>
              <a:rPr lang="en-US" sz="850" kern="0" spc="50" dirty="0">
                <a:solidFill>
                  <a:srgbClr val="5B6478"/>
                </a:solidFill>
                <a:latin typeface="Calibri" pitchFamily="34" charset="0"/>
                <a:ea typeface="Calibri" pitchFamily="34" charset="-122"/>
                <a:cs typeface="Calibri" pitchFamily="34" charset="-120"/>
              </a:rPr>
              <a:t>EXPERIMENT</a:t>
            </a:r>
            <a:endParaRPr lang="en-US" sz="8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txBox="1"/>
          <p:nvPr/>
        </p:nvSpPr>
        <p:spPr>
          <a:xfrm>
            <a:off x="640080" y="457200"/>
            <a:ext cx="9144000" cy="320040"/>
          </a:xfrm>
          <a:prstGeom prst="rect">
            <a:avLst/>
          </a:prstGeom>
          <a:noFill/>
          <a:ln/>
        </p:spPr>
        <p:txBody>
          <a:bodyPr wrap="square" lIns="0" tIns="0" rIns="0" bIns="0" rtlCol="0" anchor="ctr"/>
          <a:lstStyle/>
          <a:p>
            <a:pPr marL="0" indent="0">
              <a:buNone/>
            </a:pPr>
            <a:r>
              <a:rPr lang="en-US" sz="1300" b="1" kern="0" spc="100" dirty="0">
                <a:solidFill>
                  <a:srgbClr val="285AB4"/>
                </a:solidFill>
                <a:latin typeface="Calibri" pitchFamily="34" charset="0"/>
                <a:ea typeface="Calibri" pitchFamily="34" charset="-122"/>
                <a:cs typeface="Calibri" pitchFamily="34" charset="-120"/>
              </a:rPr>
              <a:t>DEMO — DEPTH EXPERIMENT</a:t>
            </a:r>
            <a:endParaRPr lang="en-US" sz="1300" dirty="0"/>
          </a:p>
        </p:txBody>
      </p:sp>
      <p:sp>
        <p:nvSpPr>
          <p:cNvPr id="3" name="Text 1"/>
          <p:cNvSpPr txBox="1"/>
          <p:nvPr/>
        </p:nvSpPr>
        <p:spPr>
          <a:xfrm>
            <a:off x="640080" y="749808"/>
            <a:ext cx="10911535" cy="822960"/>
          </a:xfrm>
          <a:prstGeom prst="rect">
            <a:avLst/>
          </a:prstGeom>
          <a:noFill/>
          <a:ln/>
        </p:spPr>
        <p:txBody>
          <a:bodyPr wrap="square" lIns="0" tIns="0" rIns="0" bIns="0" rtlCol="0" anchor="t"/>
          <a:lstStyle/>
          <a:p>
            <a:pPr marL="0" indent="0">
              <a:buNone/>
            </a:pPr>
            <a:r>
              <a:rPr lang="en-US" sz="2200" b="1" dirty="0">
                <a:solidFill>
                  <a:srgbClr val="1A2238"/>
                </a:solidFill>
                <a:latin typeface="Cambria" pitchFamily="34" charset="0"/>
                <a:ea typeface="Cambria" pitchFamily="34" charset="-122"/>
                <a:cs typeface="Cambria" pitchFamily="34" charset="-120"/>
              </a:rPr>
              <a:t>Random vs. Xavier vs. He — theo độ sâu (2→50 lớp)</a:t>
            </a:r>
            <a:endParaRPr lang="en-US" sz="2200" dirty="0"/>
          </a:p>
        </p:txBody>
      </p:sp>
      <p:pic>
        <p:nvPicPr>
          <p:cNvPr id="4" name="Image 0" descr="..\results\figures\depth_comparison_v2_slide.png"/>
          <p:cNvPicPr>
            <a:picLocks noChangeAspect="1"/>
          </p:cNvPicPr>
          <p:nvPr/>
        </p:nvPicPr>
        <p:blipFill>
          <a:blip r:embed="rId3"/>
          <a:stretch>
            <a:fillRect/>
          </a:stretch>
        </p:blipFill>
        <p:spPr>
          <a:xfrm>
            <a:off x="640080" y="1737360"/>
            <a:ext cx="6035040" cy="4157472"/>
          </a:xfrm>
          <a:prstGeom prst="rect">
            <a:avLst/>
          </a:prstGeom>
        </p:spPr>
      </p:pic>
      <p:sp>
        <p:nvSpPr>
          <p:cNvPr id="5" name="Text 2"/>
          <p:cNvSpPr txBox="1"/>
          <p:nvPr/>
        </p:nvSpPr>
        <p:spPr>
          <a:xfrm>
            <a:off x="7040880" y="2011680"/>
            <a:ext cx="4510735" cy="3657600"/>
          </a:xfrm>
          <a:prstGeom prst="rect">
            <a:avLst/>
          </a:prstGeom>
          <a:noFill/>
          <a:ln/>
        </p:spPr>
        <p:txBody>
          <a:bodyPr wrap="square" lIns="0" tIns="0" rIns="0" bIns="0" rtlCol="0" anchor="t"/>
          <a:lstStyle/>
          <a:p>
            <a:pPr marL="228600" indent="-228600">
              <a:spcAft>
                <a:spcPts val="1600"/>
              </a:spcAft>
              <a:buSzPct val="100000"/>
              <a:buChar char="▪"/>
            </a:pPr>
            <a:r>
              <a:rPr lang="en-US" sz="1700" dirty="0">
                <a:solidFill>
                  <a:srgbClr val="1A2238"/>
                </a:solidFill>
                <a:latin typeface="Calibri" pitchFamily="34" charset="0"/>
                <a:ea typeface="Calibri" pitchFamily="34" charset="-122"/>
                <a:cs typeface="Calibri" pitchFamily="34" charset="-120"/>
              </a:rPr>
              <a:t>Depth ↑ → Random / Xavier gradient suy giảm; He giữ scale tốt hơn trong setup này</a:t>
            </a:r>
            <a:endParaRPr lang="en-US" sz="1700" dirty="0"/>
          </a:p>
          <a:p>
            <a:pPr marL="228600" indent="-228600">
              <a:spcAft>
                <a:spcPts val="1600"/>
              </a:spcAft>
              <a:buSzPct val="100000"/>
              <a:buChar char="▪"/>
            </a:pPr>
            <a:r>
              <a:rPr lang="en-US" sz="1700" dirty="0">
                <a:solidFill>
                  <a:srgbClr val="1A2238"/>
                </a:solidFill>
                <a:latin typeface="Calibri" pitchFamily="34" charset="0"/>
                <a:ea typeface="Calibri" pitchFamily="34" charset="-122"/>
                <a:cs typeface="Calibri" pitchFamily="34" charset="-120"/>
              </a:rPr>
              <a:t>Stable gradient ≠ good generalization</a:t>
            </a:r>
            <a:endParaRPr lang="en-US" sz="1700" dirty="0"/>
          </a:p>
        </p:txBody>
      </p:sp>
      <p:sp>
        <p:nvSpPr>
          <p:cNvPr id="6" name="Text 3"/>
          <p:cNvSpPr txBox="1"/>
          <p:nvPr/>
        </p:nvSpPr>
        <p:spPr>
          <a:xfrm>
            <a:off x="11185855" y="6446520"/>
            <a:ext cx="731520" cy="274320"/>
          </a:xfrm>
          <a:prstGeom prst="rect">
            <a:avLst/>
          </a:prstGeom>
          <a:noFill/>
          <a:ln/>
        </p:spPr>
        <p:txBody>
          <a:bodyPr wrap="square" lIns="0" tIns="0" rIns="0" bIns="0" rtlCol="0" anchor="ctr"/>
          <a:lstStyle/>
          <a:p>
            <a:pPr marL="0" indent="0" algn="r">
              <a:buNone/>
            </a:pPr>
            <a:r>
              <a:rPr lang="en-US" sz="900" dirty="0">
                <a:solidFill>
                  <a:srgbClr val="5B6478"/>
                </a:solidFill>
                <a:latin typeface="Calibri" pitchFamily="34" charset="0"/>
                <a:ea typeface="Calibri" pitchFamily="34" charset="-122"/>
                <a:cs typeface="Calibri" pitchFamily="34" charset="-120"/>
              </a:rPr>
              <a:t>22/26</a:t>
            </a:r>
            <a:endParaRPr lang="en-US" sz="900" dirty="0"/>
          </a:p>
        </p:txBody>
      </p:sp>
      <p:sp>
        <p:nvSpPr>
          <p:cNvPr id="7" name="Shape 4"/>
          <p:cNvSpPr/>
          <p:nvPr/>
        </p:nvSpPr>
        <p:spPr>
          <a:xfrm>
            <a:off x="610362" y="6473952"/>
            <a:ext cx="59436" cy="59436"/>
          </a:xfrm>
          <a:prstGeom prst="ellipse">
            <a:avLst/>
          </a:prstGeom>
          <a:solidFill>
            <a:srgbClr val="D9DEE8"/>
          </a:solidFill>
          <a:ln/>
        </p:spPr>
      </p:sp>
      <p:sp>
        <p:nvSpPr>
          <p:cNvPr id="8" name="Shape 5"/>
          <p:cNvSpPr/>
          <p:nvPr/>
        </p:nvSpPr>
        <p:spPr>
          <a:xfrm>
            <a:off x="829818" y="6473952"/>
            <a:ext cx="59436" cy="59436"/>
          </a:xfrm>
          <a:prstGeom prst="ellipse">
            <a:avLst/>
          </a:prstGeom>
          <a:solidFill>
            <a:srgbClr val="D9DEE8"/>
          </a:solidFill>
          <a:ln/>
        </p:spPr>
      </p:sp>
      <p:sp>
        <p:nvSpPr>
          <p:cNvPr id="9" name="Shape 6"/>
          <p:cNvSpPr/>
          <p:nvPr/>
        </p:nvSpPr>
        <p:spPr>
          <a:xfrm>
            <a:off x="1034415" y="6459093"/>
            <a:ext cx="89154" cy="89154"/>
          </a:xfrm>
          <a:prstGeom prst="ellipse">
            <a:avLst/>
          </a:prstGeom>
          <a:solidFill>
            <a:srgbClr val="285AB4"/>
          </a:solidFill>
          <a:ln/>
        </p:spPr>
      </p:sp>
      <p:sp>
        <p:nvSpPr>
          <p:cNvPr id="10" name="Shape 7"/>
          <p:cNvSpPr/>
          <p:nvPr/>
        </p:nvSpPr>
        <p:spPr>
          <a:xfrm>
            <a:off x="1268730" y="6473952"/>
            <a:ext cx="59436" cy="59436"/>
          </a:xfrm>
          <a:prstGeom prst="ellipse">
            <a:avLst/>
          </a:prstGeom>
          <a:solidFill>
            <a:srgbClr val="D9DEE8"/>
          </a:solidFill>
          <a:ln/>
        </p:spPr>
      </p:sp>
      <p:sp>
        <p:nvSpPr>
          <p:cNvPr id="11" name="Text 8"/>
          <p:cNvSpPr txBox="1"/>
          <p:nvPr/>
        </p:nvSpPr>
        <p:spPr>
          <a:xfrm>
            <a:off x="1563624" y="6391656"/>
            <a:ext cx="3291840" cy="274320"/>
          </a:xfrm>
          <a:prstGeom prst="rect">
            <a:avLst/>
          </a:prstGeom>
          <a:noFill/>
          <a:ln/>
        </p:spPr>
        <p:txBody>
          <a:bodyPr wrap="square" lIns="0" tIns="0" rIns="0" bIns="0" rtlCol="0" anchor="ctr"/>
          <a:lstStyle/>
          <a:p>
            <a:pPr marL="0" indent="0">
              <a:buNone/>
            </a:pPr>
            <a:r>
              <a:rPr lang="en-US" sz="850" kern="0" spc="50" dirty="0">
                <a:solidFill>
                  <a:srgbClr val="5B6478"/>
                </a:solidFill>
                <a:latin typeface="Calibri" pitchFamily="34" charset="0"/>
                <a:ea typeface="Calibri" pitchFamily="34" charset="-122"/>
                <a:cs typeface="Calibri" pitchFamily="34" charset="-120"/>
              </a:rPr>
              <a:t>EXPERIMENT</a:t>
            </a:r>
            <a:endParaRPr lang="en-US" sz="85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txBox="1"/>
          <p:nvPr/>
        </p:nvSpPr>
        <p:spPr>
          <a:xfrm>
            <a:off x="640080" y="457200"/>
            <a:ext cx="9144000" cy="320040"/>
          </a:xfrm>
          <a:prstGeom prst="rect">
            <a:avLst/>
          </a:prstGeom>
          <a:noFill/>
          <a:ln/>
        </p:spPr>
        <p:txBody>
          <a:bodyPr wrap="square" lIns="0" tIns="0" rIns="0" bIns="0" rtlCol="0" anchor="ctr"/>
          <a:lstStyle/>
          <a:p>
            <a:pPr marL="0" indent="0">
              <a:buNone/>
            </a:pPr>
            <a:r>
              <a:rPr lang="en-US" sz="1300" b="1" kern="0" spc="100" dirty="0">
                <a:solidFill>
                  <a:srgbClr val="285AB4"/>
                </a:solidFill>
                <a:latin typeface="Calibri" pitchFamily="34" charset="0"/>
                <a:ea typeface="Calibri" pitchFamily="34" charset="-122"/>
                <a:cs typeface="Calibri" pitchFamily="34" charset="-120"/>
              </a:rPr>
              <a:t>KẾT QUẢ</a:t>
            </a:r>
            <a:endParaRPr lang="en-US" sz="1300" dirty="0"/>
          </a:p>
        </p:txBody>
      </p:sp>
      <p:sp>
        <p:nvSpPr>
          <p:cNvPr id="3" name="Text 1"/>
          <p:cNvSpPr txBox="1"/>
          <p:nvPr/>
        </p:nvSpPr>
        <p:spPr>
          <a:xfrm>
            <a:off x="640080" y="749808"/>
            <a:ext cx="10911535" cy="822960"/>
          </a:xfrm>
          <a:prstGeom prst="rect">
            <a:avLst/>
          </a:prstGeom>
          <a:noFill/>
          <a:ln/>
        </p:spPr>
        <p:txBody>
          <a:bodyPr wrap="square" lIns="0" tIns="0" rIns="0" bIns="0" rtlCol="0" anchor="t"/>
          <a:lstStyle/>
          <a:p>
            <a:pPr marL="0" indent="0">
              <a:buNone/>
            </a:pPr>
            <a:r>
              <a:rPr lang="en-US" sz="2400" b="1" dirty="0">
                <a:solidFill>
                  <a:srgbClr val="1A2238"/>
                </a:solidFill>
                <a:latin typeface="Cambria" pitchFamily="34" charset="0"/>
                <a:ea typeface="Cambria" pitchFamily="34" charset="-122"/>
                <a:cs typeface="Cambria" pitchFamily="34" charset="-120"/>
              </a:rPr>
              <a:t>Bảng tổng hợp — 5 thí nghiệm, số liệu thật</a:t>
            </a:r>
            <a:endParaRPr lang="en-US" sz="2400" dirty="0"/>
          </a:p>
        </p:txBody>
      </p:sp>
      <p:sp>
        <p:nvSpPr>
          <p:cNvPr id="4" name="Text 2"/>
          <p:cNvSpPr txBox="1"/>
          <p:nvPr/>
        </p:nvSpPr>
        <p:spPr>
          <a:xfrm>
            <a:off x="640080" y="1536192"/>
            <a:ext cx="10911535" cy="365760"/>
          </a:xfrm>
          <a:prstGeom prst="rect">
            <a:avLst/>
          </a:prstGeom>
          <a:noFill/>
          <a:ln/>
        </p:spPr>
        <p:txBody>
          <a:bodyPr wrap="square" lIns="0" tIns="0" rIns="0" bIns="0" rtlCol="0" anchor="ctr"/>
          <a:lstStyle/>
          <a:p>
            <a:pPr marL="0" indent="0">
              <a:buNone/>
            </a:pPr>
            <a:r>
              <a:rPr lang="en-US" sz="1150" i="1" dirty="0">
                <a:solidFill>
                  <a:srgbClr val="5B6478"/>
                </a:solidFill>
                <a:latin typeface="Calibri" pitchFamily="34" charset="0"/>
                <a:ea typeface="Calibri" pitchFamily="34" charset="-122"/>
                <a:cs typeface="Calibri" pitchFamily="34" charset="-120"/>
              </a:rPr>
              <a:t>Seed 42, 1 seed mỗi cấu hình (Xavier/He n=5 xem slide trước). Gradient RMS đo tại khởi tạo; Train loss và Test accuracy đo tại epoch 15.</a:t>
            </a:r>
            <a:endParaRPr lang="en-US" sz="1150" dirty="0"/>
          </a:p>
        </p:txBody>
      </p:sp>
      <p:graphicFrame>
        <p:nvGraphicFramePr>
          <p:cNvPr id="24" name="Table 0"/>
          <p:cNvGraphicFramePr>
            <a:graphicFrameLocks noGrp="1"/>
          </p:cNvGraphicFramePr>
          <p:nvPr>
            <p:extLst>
              <p:ext uri="{D42A27DB-BD31-4B8C-83A1-F6EECF244321}">
                <p14:modId xmlns:p14="http://schemas.microsoft.com/office/powerpoint/2010/main" val="1579011935"/>
              </p:ext>
            </p:extLst>
          </p:nvPr>
        </p:nvGraphicFramePr>
        <p:xfrm>
          <a:off x="640080" y="2011680"/>
          <a:ext cx="10908792" cy="2743200"/>
        </p:xfrm>
        <a:graphic>
          <a:graphicData uri="http://schemas.openxmlformats.org/drawingml/2006/table">
            <a:tbl>
              <a:tblPr/>
              <a:tblGrid>
                <a:gridCol w="1828800">
                  <a:extLst>
                    <a:ext uri="{9D8B030D-6E8A-4147-A177-3AD203B41FA5}">
                      <a16:colId xmlns:a16="http://schemas.microsoft.com/office/drawing/2014/main" val="20000"/>
                    </a:ext>
                  </a:extLst>
                </a:gridCol>
                <a:gridCol w="2286000">
                  <a:extLst>
                    <a:ext uri="{9D8B030D-6E8A-4147-A177-3AD203B41FA5}">
                      <a16:colId xmlns:a16="http://schemas.microsoft.com/office/drawing/2014/main" val="20001"/>
                    </a:ext>
                  </a:extLst>
                </a:gridCol>
                <a:gridCol w="2194560">
                  <a:extLst>
                    <a:ext uri="{9D8B030D-6E8A-4147-A177-3AD203B41FA5}">
                      <a16:colId xmlns:a16="http://schemas.microsoft.com/office/drawing/2014/main" val="20002"/>
                    </a:ext>
                  </a:extLst>
                </a:gridCol>
                <a:gridCol w="2103120">
                  <a:extLst>
                    <a:ext uri="{9D8B030D-6E8A-4147-A177-3AD203B41FA5}">
                      <a16:colId xmlns:a16="http://schemas.microsoft.com/office/drawing/2014/main" val="20003"/>
                    </a:ext>
                  </a:extLst>
                </a:gridCol>
                <a:gridCol w="2496312">
                  <a:extLst>
                    <a:ext uri="{9D8B030D-6E8A-4147-A177-3AD203B41FA5}">
                      <a16:colId xmlns:a16="http://schemas.microsoft.com/office/drawing/2014/main" val="20004"/>
                    </a:ext>
                  </a:extLst>
                </a:gridCol>
              </a:tblGrid>
              <a:tr h="457200">
                <a:tc>
                  <a:txBody>
                    <a:bodyPr/>
                    <a:lstStyle/>
                    <a:p>
                      <a:pPr marL="0" indent="0">
                        <a:buNone/>
                      </a:pPr>
                      <a:r>
                        <a:rPr lang="en-US" sz="1250" b="1" dirty="0">
                          <a:solidFill>
                            <a:srgbClr val="FFFFFF"/>
                          </a:solidFill>
                        </a:rPr>
                        <a:t>Init</a:t>
                      </a:r>
                      <a:endParaRPr lang="en-US" sz="1250" dirty="0"/>
                    </a:p>
                  </a:txBody>
                  <a:tcPr>
                    <a:lnL w="6350" cap="flat" cmpd="sng" algn="ctr">
                      <a:solidFill>
                        <a:srgbClr val="D9DEE8"/>
                      </a:solidFill>
                      <a:prstDash val="solid"/>
                      <a:round/>
                      <a:headEnd type="none" w="med" len="med"/>
                      <a:tailEnd type="none" w="med" len="med"/>
                    </a:lnL>
                    <a:lnR w="6350" cap="flat" cmpd="sng" algn="ctr">
                      <a:solidFill>
                        <a:srgbClr val="D9DEE8"/>
                      </a:solidFill>
                      <a:prstDash val="solid"/>
                      <a:round/>
                      <a:headEnd type="none" w="med" len="med"/>
                      <a:tailEnd type="none" w="med" len="med"/>
                    </a:lnR>
                    <a:lnT w="6350" cap="flat" cmpd="sng" algn="ctr">
                      <a:solidFill>
                        <a:srgbClr val="D9DEE8"/>
                      </a:solidFill>
                      <a:prstDash val="solid"/>
                      <a:round/>
                      <a:headEnd type="none" w="med" len="med"/>
                      <a:tailEnd type="none" w="med" len="med"/>
                    </a:lnT>
                    <a:lnB w="6350" cap="flat" cmpd="sng" algn="ctr">
                      <a:solidFill>
                        <a:srgbClr val="D9DEE8"/>
                      </a:solidFill>
                      <a:prstDash val="solid"/>
                      <a:round/>
                      <a:headEnd type="none" w="med" len="med"/>
                      <a:tailEnd type="none" w="med" len="med"/>
                    </a:lnB>
                    <a:solidFill>
                      <a:srgbClr val="16213E"/>
                    </a:solidFill>
                  </a:tcPr>
                </a:tc>
                <a:tc>
                  <a:txBody>
                    <a:bodyPr/>
                    <a:lstStyle/>
                    <a:p>
                      <a:pPr marL="0" indent="0">
                        <a:buNone/>
                      </a:pPr>
                      <a:r>
                        <a:rPr lang="en-US" sz="1250" b="1" dirty="0">
                          <a:solidFill>
                            <a:srgbClr val="FFFFFF"/>
                          </a:solidFill>
                        </a:rPr>
                        <a:t>Gradient RMS (L1, khởi tạo)</a:t>
                      </a:r>
                      <a:endParaRPr lang="en-US" sz="1250" dirty="0"/>
                    </a:p>
                  </a:txBody>
                  <a:tcPr>
                    <a:lnL w="6350" cap="flat" cmpd="sng" algn="ctr">
                      <a:solidFill>
                        <a:srgbClr val="D9DEE8"/>
                      </a:solidFill>
                      <a:prstDash val="solid"/>
                      <a:round/>
                      <a:headEnd type="none" w="med" len="med"/>
                      <a:tailEnd type="none" w="med" len="med"/>
                    </a:lnL>
                    <a:lnR w="6350" cap="flat" cmpd="sng" algn="ctr">
                      <a:solidFill>
                        <a:srgbClr val="D9DEE8"/>
                      </a:solidFill>
                      <a:prstDash val="solid"/>
                      <a:round/>
                      <a:headEnd type="none" w="med" len="med"/>
                      <a:tailEnd type="none" w="med" len="med"/>
                    </a:lnR>
                    <a:lnT w="6350" cap="flat" cmpd="sng" algn="ctr">
                      <a:solidFill>
                        <a:srgbClr val="D9DEE8"/>
                      </a:solidFill>
                      <a:prstDash val="solid"/>
                      <a:round/>
                      <a:headEnd type="none" w="med" len="med"/>
                      <a:tailEnd type="none" w="med" len="med"/>
                    </a:lnT>
                    <a:lnB w="6350" cap="flat" cmpd="sng" algn="ctr">
                      <a:solidFill>
                        <a:srgbClr val="D9DEE8"/>
                      </a:solidFill>
                      <a:prstDash val="solid"/>
                      <a:round/>
                      <a:headEnd type="none" w="med" len="med"/>
                      <a:tailEnd type="none" w="med" len="med"/>
                    </a:lnB>
                    <a:solidFill>
                      <a:srgbClr val="16213E"/>
                    </a:solidFill>
                  </a:tcPr>
                </a:tc>
                <a:tc>
                  <a:txBody>
                    <a:bodyPr/>
                    <a:lstStyle/>
                    <a:p>
                      <a:pPr marL="0" indent="0">
                        <a:buNone/>
                      </a:pPr>
                      <a:r>
                        <a:rPr lang="en-US" sz="1250" b="1" dirty="0">
                          <a:solidFill>
                            <a:srgbClr val="FFFFFF"/>
                          </a:solidFill>
                        </a:rPr>
                        <a:t>Train Loss (ep 15)</a:t>
                      </a:r>
                      <a:endParaRPr lang="en-US" sz="1250" dirty="0"/>
                    </a:p>
                  </a:txBody>
                  <a:tcPr>
                    <a:lnL w="6350" cap="flat" cmpd="sng" algn="ctr">
                      <a:solidFill>
                        <a:srgbClr val="D9DEE8"/>
                      </a:solidFill>
                      <a:prstDash val="solid"/>
                      <a:round/>
                      <a:headEnd type="none" w="med" len="med"/>
                      <a:tailEnd type="none" w="med" len="med"/>
                    </a:lnL>
                    <a:lnR w="6350" cap="flat" cmpd="sng" algn="ctr">
                      <a:solidFill>
                        <a:srgbClr val="D9DEE8"/>
                      </a:solidFill>
                      <a:prstDash val="solid"/>
                      <a:round/>
                      <a:headEnd type="none" w="med" len="med"/>
                      <a:tailEnd type="none" w="med" len="med"/>
                    </a:lnR>
                    <a:lnT w="6350" cap="flat" cmpd="sng" algn="ctr">
                      <a:solidFill>
                        <a:srgbClr val="D9DEE8"/>
                      </a:solidFill>
                      <a:prstDash val="solid"/>
                      <a:round/>
                      <a:headEnd type="none" w="med" len="med"/>
                      <a:tailEnd type="none" w="med" len="med"/>
                    </a:lnT>
                    <a:lnB w="6350" cap="flat" cmpd="sng" algn="ctr">
                      <a:solidFill>
                        <a:srgbClr val="D9DEE8"/>
                      </a:solidFill>
                      <a:prstDash val="solid"/>
                      <a:round/>
                      <a:headEnd type="none" w="med" len="med"/>
                      <a:tailEnd type="none" w="med" len="med"/>
                    </a:lnB>
                    <a:solidFill>
                      <a:srgbClr val="16213E"/>
                    </a:solidFill>
                  </a:tcPr>
                </a:tc>
                <a:tc>
                  <a:txBody>
                    <a:bodyPr/>
                    <a:lstStyle/>
                    <a:p>
                      <a:pPr marL="0" indent="0">
                        <a:buNone/>
                      </a:pPr>
                      <a:r>
                        <a:rPr lang="en-US" sz="1250" b="1" dirty="0">
                          <a:solidFill>
                            <a:srgbClr val="FFFFFF"/>
                          </a:solidFill>
                        </a:rPr>
                        <a:t>Test Acc (ep 15)</a:t>
                      </a:r>
                      <a:endParaRPr lang="en-US" sz="1250" dirty="0"/>
                    </a:p>
                  </a:txBody>
                  <a:tcPr>
                    <a:lnL w="6350" cap="flat" cmpd="sng" algn="ctr">
                      <a:solidFill>
                        <a:srgbClr val="D9DEE8"/>
                      </a:solidFill>
                      <a:prstDash val="solid"/>
                      <a:round/>
                      <a:headEnd type="none" w="med" len="med"/>
                      <a:tailEnd type="none" w="med" len="med"/>
                    </a:lnL>
                    <a:lnR w="6350" cap="flat" cmpd="sng" algn="ctr">
                      <a:solidFill>
                        <a:srgbClr val="D9DEE8"/>
                      </a:solidFill>
                      <a:prstDash val="solid"/>
                      <a:round/>
                      <a:headEnd type="none" w="med" len="med"/>
                      <a:tailEnd type="none" w="med" len="med"/>
                    </a:lnR>
                    <a:lnT w="6350" cap="flat" cmpd="sng" algn="ctr">
                      <a:solidFill>
                        <a:srgbClr val="D9DEE8"/>
                      </a:solidFill>
                      <a:prstDash val="solid"/>
                      <a:round/>
                      <a:headEnd type="none" w="med" len="med"/>
                      <a:tailEnd type="none" w="med" len="med"/>
                    </a:lnT>
                    <a:lnB w="6350" cap="flat" cmpd="sng" algn="ctr">
                      <a:solidFill>
                        <a:srgbClr val="D9DEE8"/>
                      </a:solidFill>
                      <a:prstDash val="solid"/>
                      <a:round/>
                      <a:headEnd type="none" w="med" len="med"/>
                      <a:tailEnd type="none" w="med" len="med"/>
                    </a:lnB>
                    <a:solidFill>
                      <a:srgbClr val="16213E"/>
                    </a:solidFill>
                  </a:tcPr>
                </a:tc>
                <a:tc>
                  <a:txBody>
                    <a:bodyPr/>
                    <a:lstStyle/>
                    <a:p>
                      <a:pPr marL="0" indent="0">
                        <a:buNone/>
                      </a:pPr>
                      <a:r>
                        <a:rPr lang="en-US" sz="1250" b="1" dirty="0">
                          <a:solidFill>
                            <a:srgbClr val="FFFFFF"/>
                          </a:solidFill>
                        </a:rPr>
                        <a:t>Observed behavior at initialization</a:t>
                      </a:r>
                      <a:endParaRPr lang="en-US" sz="1250" dirty="0"/>
                    </a:p>
                  </a:txBody>
                  <a:tcPr>
                    <a:lnL w="6350" cap="flat" cmpd="sng" algn="ctr">
                      <a:solidFill>
                        <a:srgbClr val="D9DEE8"/>
                      </a:solidFill>
                      <a:prstDash val="solid"/>
                      <a:round/>
                      <a:headEnd type="none" w="med" len="med"/>
                      <a:tailEnd type="none" w="med" len="med"/>
                    </a:lnL>
                    <a:lnR w="6350" cap="flat" cmpd="sng" algn="ctr">
                      <a:solidFill>
                        <a:srgbClr val="D9DEE8"/>
                      </a:solidFill>
                      <a:prstDash val="solid"/>
                      <a:round/>
                      <a:headEnd type="none" w="med" len="med"/>
                      <a:tailEnd type="none" w="med" len="med"/>
                    </a:lnR>
                    <a:lnT w="6350" cap="flat" cmpd="sng" algn="ctr">
                      <a:solidFill>
                        <a:srgbClr val="D9DEE8"/>
                      </a:solidFill>
                      <a:prstDash val="solid"/>
                      <a:round/>
                      <a:headEnd type="none" w="med" len="med"/>
                      <a:tailEnd type="none" w="med" len="med"/>
                    </a:lnT>
                    <a:lnB w="6350" cap="flat" cmpd="sng" algn="ctr">
                      <a:solidFill>
                        <a:srgbClr val="D9DEE8"/>
                      </a:solidFill>
                      <a:prstDash val="solid"/>
                      <a:round/>
                      <a:headEnd type="none" w="med" len="med"/>
                      <a:tailEnd type="none" w="med" len="med"/>
                    </a:lnB>
                    <a:solidFill>
                      <a:srgbClr val="16213E"/>
                    </a:solidFill>
                  </a:tcPr>
                </a:tc>
                <a:extLst>
                  <a:ext uri="{0D108BD9-81ED-4DB2-BD59-A6C34878D82A}">
                    <a16:rowId xmlns:a16="http://schemas.microsoft.com/office/drawing/2014/main" val="10000"/>
                  </a:ext>
                </a:extLst>
              </a:tr>
              <a:tr h="457200">
                <a:tc>
                  <a:txBody>
                    <a:bodyPr/>
                    <a:lstStyle/>
                    <a:p>
                      <a:pPr marL="0" indent="0" algn="l">
                        <a:buNone/>
                      </a:pPr>
                      <a:r>
                        <a:rPr lang="en-US" sz="1250" b="1" dirty="0">
                          <a:solidFill>
                            <a:srgbClr val="1A2238"/>
                          </a:solidFill>
                        </a:rPr>
                        <a:t>Zero</a:t>
                      </a:r>
                      <a:endParaRPr lang="en-US" sz="1250" dirty="0"/>
                    </a:p>
                  </a:txBody>
                  <a:tcPr>
                    <a:lnL w="6350" cap="flat" cmpd="sng" algn="ctr">
                      <a:solidFill>
                        <a:srgbClr val="D9DEE8"/>
                      </a:solidFill>
                      <a:prstDash val="solid"/>
                      <a:round/>
                      <a:headEnd type="none" w="med" len="med"/>
                      <a:tailEnd type="none" w="med" len="med"/>
                    </a:lnL>
                    <a:lnR w="6350" cap="flat" cmpd="sng" algn="ctr">
                      <a:solidFill>
                        <a:srgbClr val="D9DEE8"/>
                      </a:solidFill>
                      <a:prstDash val="solid"/>
                      <a:round/>
                      <a:headEnd type="none" w="med" len="med"/>
                      <a:tailEnd type="none" w="med" len="med"/>
                    </a:lnR>
                    <a:lnT w="6350" cap="flat" cmpd="sng" algn="ctr">
                      <a:solidFill>
                        <a:srgbClr val="D9DEE8"/>
                      </a:solidFill>
                      <a:prstDash val="solid"/>
                      <a:round/>
                      <a:headEnd type="none" w="med" len="med"/>
                      <a:tailEnd type="none" w="med" len="med"/>
                    </a:lnT>
                    <a:lnB w="6350" cap="flat" cmpd="sng" algn="ctr">
                      <a:solidFill>
                        <a:srgbClr val="D9DEE8"/>
                      </a:solidFill>
                      <a:prstDash val="solid"/>
                      <a:round/>
                      <a:headEnd type="none" w="med" len="med"/>
                      <a:tailEnd type="none" w="med" len="med"/>
                    </a:lnB>
                    <a:solidFill>
                      <a:srgbClr val="F1F4F9"/>
                    </a:solidFill>
                  </a:tcPr>
                </a:tc>
                <a:tc>
                  <a:txBody>
                    <a:bodyPr/>
                    <a:lstStyle/>
                    <a:p>
                      <a:pPr marL="0" indent="0" algn="ctr">
                        <a:buNone/>
                      </a:pPr>
                      <a:r>
                        <a:rPr lang="en-US" sz="1250" dirty="0">
                          <a:solidFill>
                            <a:srgbClr val="1A2238"/>
                          </a:solidFill>
                        </a:rPr>
                        <a:t>0.0e+0</a:t>
                      </a:r>
                      <a:endParaRPr lang="en-US" sz="1250" dirty="0"/>
                    </a:p>
                  </a:txBody>
                  <a:tcPr>
                    <a:lnL w="6350" cap="flat" cmpd="sng" algn="ctr">
                      <a:solidFill>
                        <a:srgbClr val="D9DEE8"/>
                      </a:solidFill>
                      <a:prstDash val="solid"/>
                      <a:round/>
                      <a:headEnd type="none" w="med" len="med"/>
                      <a:tailEnd type="none" w="med" len="med"/>
                    </a:lnL>
                    <a:lnR w="6350" cap="flat" cmpd="sng" algn="ctr">
                      <a:solidFill>
                        <a:srgbClr val="D9DEE8"/>
                      </a:solidFill>
                      <a:prstDash val="solid"/>
                      <a:round/>
                      <a:headEnd type="none" w="med" len="med"/>
                      <a:tailEnd type="none" w="med" len="med"/>
                    </a:lnR>
                    <a:lnT w="6350" cap="flat" cmpd="sng" algn="ctr">
                      <a:solidFill>
                        <a:srgbClr val="D9DEE8"/>
                      </a:solidFill>
                      <a:prstDash val="solid"/>
                      <a:round/>
                      <a:headEnd type="none" w="med" len="med"/>
                      <a:tailEnd type="none" w="med" len="med"/>
                    </a:lnT>
                    <a:lnB w="6350" cap="flat" cmpd="sng" algn="ctr">
                      <a:solidFill>
                        <a:srgbClr val="D9DEE8"/>
                      </a:solidFill>
                      <a:prstDash val="solid"/>
                      <a:round/>
                      <a:headEnd type="none" w="med" len="med"/>
                      <a:tailEnd type="none" w="med" len="med"/>
                    </a:lnB>
                    <a:solidFill>
                      <a:srgbClr val="F1F4F9"/>
                    </a:solidFill>
                  </a:tcPr>
                </a:tc>
                <a:tc>
                  <a:txBody>
                    <a:bodyPr/>
                    <a:lstStyle/>
                    <a:p>
                      <a:pPr marL="0" indent="0" algn="ctr">
                        <a:buNone/>
                      </a:pPr>
                      <a:r>
                        <a:rPr lang="en-US" sz="1250" dirty="0">
                          <a:solidFill>
                            <a:srgbClr val="1A2238"/>
                          </a:solidFill>
                        </a:rPr>
                        <a:t>2.303</a:t>
                      </a:r>
                      <a:endParaRPr lang="en-US" sz="1250" dirty="0"/>
                    </a:p>
                  </a:txBody>
                  <a:tcPr>
                    <a:lnL w="6350" cap="flat" cmpd="sng" algn="ctr">
                      <a:solidFill>
                        <a:srgbClr val="D9DEE8"/>
                      </a:solidFill>
                      <a:prstDash val="solid"/>
                      <a:round/>
                      <a:headEnd type="none" w="med" len="med"/>
                      <a:tailEnd type="none" w="med" len="med"/>
                    </a:lnL>
                    <a:lnR w="6350" cap="flat" cmpd="sng" algn="ctr">
                      <a:solidFill>
                        <a:srgbClr val="D9DEE8"/>
                      </a:solidFill>
                      <a:prstDash val="solid"/>
                      <a:round/>
                      <a:headEnd type="none" w="med" len="med"/>
                      <a:tailEnd type="none" w="med" len="med"/>
                    </a:lnR>
                    <a:lnT w="6350" cap="flat" cmpd="sng" algn="ctr">
                      <a:solidFill>
                        <a:srgbClr val="D9DEE8"/>
                      </a:solidFill>
                      <a:prstDash val="solid"/>
                      <a:round/>
                      <a:headEnd type="none" w="med" len="med"/>
                      <a:tailEnd type="none" w="med" len="med"/>
                    </a:lnT>
                    <a:lnB w="6350" cap="flat" cmpd="sng" algn="ctr">
                      <a:solidFill>
                        <a:srgbClr val="D9DEE8"/>
                      </a:solidFill>
                      <a:prstDash val="solid"/>
                      <a:round/>
                      <a:headEnd type="none" w="med" len="med"/>
                      <a:tailEnd type="none" w="med" len="med"/>
                    </a:lnB>
                    <a:solidFill>
                      <a:srgbClr val="F1F4F9"/>
                    </a:solidFill>
                  </a:tcPr>
                </a:tc>
                <a:tc>
                  <a:txBody>
                    <a:bodyPr/>
                    <a:lstStyle/>
                    <a:p>
                      <a:pPr marL="0" indent="0" algn="ctr">
                        <a:buNone/>
                      </a:pPr>
                      <a:r>
                        <a:rPr lang="en-US" sz="1250" dirty="0">
                          <a:solidFill>
                            <a:srgbClr val="1A2238"/>
                          </a:solidFill>
                        </a:rPr>
                        <a:t>10.0%</a:t>
                      </a:r>
                      <a:endParaRPr lang="en-US" sz="1250" dirty="0"/>
                    </a:p>
                  </a:txBody>
                  <a:tcPr>
                    <a:lnL w="6350" cap="flat" cmpd="sng" algn="ctr">
                      <a:solidFill>
                        <a:srgbClr val="D9DEE8"/>
                      </a:solidFill>
                      <a:prstDash val="solid"/>
                      <a:round/>
                      <a:headEnd type="none" w="med" len="med"/>
                      <a:tailEnd type="none" w="med" len="med"/>
                    </a:lnL>
                    <a:lnR w="6350" cap="flat" cmpd="sng" algn="ctr">
                      <a:solidFill>
                        <a:srgbClr val="D9DEE8"/>
                      </a:solidFill>
                      <a:prstDash val="solid"/>
                      <a:round/>
                      <a:headEnd type="none" w="med" len="med"/>
                      <a:tailEnd type="none" w="med" len="med"/>
                    </a:lnR>
                    <a:lnT w="6350" cap="flat" cmpd="sng" algn="ctr">
                      <a:solidFill>
                        <a:srgbClr val="D9DEE8"/>
                      </a:solidFill>
                      <a:prstDash val="solid"/>
                      <a:round/>
                      <a:headEnd type="none" w="med" len="med"/>
                      <a:tailEnd type="none" w="med" len="med"/>
                    </a:lnT>
                    <a:lnB w="6350" cap="flat" cmpd="sng" algn="ctr">
                      <a:solidFill>
                        <a:srgbClr val="D9DEE8"/>
                      </a:solidFill>
                      <a:prstDash val="solid"/>
                      <a:round/>
                      <a:headEnd type="none" w="med" len="med"/>
                      <a:tailEnd type="none" w="med" len="med"/>
                    </a:lnB>
                    <a:solidFill>
                      <a:srgbClr val="F1F4F9"/>
                    </a:solidFill>
                  </a:tcPr>
                </a:tc>
                <a:tc>
                  <a:txBody>
                    <a:bodyPr/>
                    <a:lstStyle/>
                    <a:p>
                      <a:pPr marL="0" indent="0" algn="ctr">
                        <a:buNone/>
                      </a:pPr>
                      <a:r>
                        <a:rPr lang="en-US" sz="1250" b="1" dirty="0">
                          <a:solidFill>
                            <a:srgbClr val="C68A2E"/>
                          </a:solidFill>
                        </a:rPr>
                        <a:t>Symmetry failure</a:t>
                      </a:r>
                      <a:endParaRPr lang="en-US" sz="1250" dirty="0"/>
                    </a:p>
                  </a:txBody>
                  <a:tcPr>
                    <a:lnL w="6350" cap="flat" cmpd="sng" algn="ctr">
                      <a:solidFill>
                        <a:srgbClr val="D9DEE8"/>
                      </a:solidFill>
                      <a:prstDash val="solid"/>
                      <a:round/>
                      <a:headEnd type="none" w="med" len="med"/>
                      <a:tailEnd type="none" w="med" len="med"/>
                    </a:lnL>
                    <a:lnR w="6350" cap="flat" cmpd="sng" algn="ctr">
                      <a:solidFill>
                        <a:srgbClr val="D9DEE8"/>
                      </a:solidFill>
                      <a:prstDash val="solid"/>
                      <a:round/>
                      <a:headEnd type="none" w="med" len="med"/>
                      <a:tailEnd type="none" w="med" len="med"/>
                    </a:lnR>
                    <a:lnT w="6350" cap="flat" cmpd="sng" algn="ctr">
                      <a:solidFill>
                        <a:srgbClr val="D9DEE8"/>
                      </a:solidFill>
                      <a:prstDash val="solid"/>
                      <a:round/>
                      <a:headEnd type="none" w="med" len="med"/>
                      <a:tailEnd type="none" w="med" len="med"/>
                    </a:lnT>
                    <a:lnB w="6350" cap="flat" cmpd="sng" algn="ctr">
                      <a:solidFill>
                        <a:srgbClr val="D9DEE8"/>
                      </a:solidFill>
                      <a:prstDash val="solid"/>
                      <a:round/>
                      <a:headEnd type="none" w="med" len="med"/>
                      <a:tailEnd type="none" w="med" len="med"/>
                    </a:lnB>
                    <a:solidFill>
                      <a:srgbClr val="F1F4F9"/>
                    </a:solidFill>
                  </a:tcPr>
                </a:tc>
                <a:extLst>
                  <a:ext uri="{0D108BD9-81ED-4DB2-BD59-A6C34878D82A}">
                    <a16:rowId xmlns:a16="http://schemas.microsoft.com/office/drawing/2014/main" val="10001"/>
                  </a:ext>
                </a:extLst>
              </a:tr>
              <a:tr h="457200">
                <a:tc>
                  <a:txBody>
                    <a:bodyPr/>
                    <a:lstStyle/>
                    <a:p>
                      <a:pPr marL="0" indent="0" algn="l">
                        <a:buNone/>
                      </a:pPr>
                      <a:r>
                        <a:rPr lang="en-US" sz="1250" b="1" dirty="0">
                          <a:solidFill>
                            <a:srgbClr val="1A2238"/>
                          </a:solidFill>
                        </a:rPr>
                        <a:t>Random (small)</a:t>
                      </a:r>
                      <a:endParaRPr lang="en-US" sz="1250" dirty="0"/>
                    </a:p>
                  </a:txBody>
                  <a:tcPr>
                    <a:lnL w="6350" cap="flat" cmpd="sng" algn="ctr">
                      <a:solidFill>
                        <a:srgbClr val="D9DEE8"/>
                      </a:solidFill>
                      <a:prstDash val="solid"/>
                      <a:round/>
                      <a:headEnd type="none" w="med" len="med"/>
                      <a:tailEnd type="none" w="med" len="med"/>
                    </a:lnL>
                    <a:lnR w="6350" cap="flat" cmpd="sng" algn="ctr">
                      <a:solidFill>
                        <a:srgbClr val="D9DEE8"/>
                      </a:solidFill>
                      <a:prstDash val="solid"/>
                      <a:round/>
                      <a:headEnd type="none" w="med" len="med"/>
                      <a:tailEnd type="none" w="med" len="med"/>
                    </a:lnR>
                    <a:lnT w="6350" cap="flat" cmpd="sng" algn="ctr">
                      <a:solidFill>
                        <a:srgbClr val="D9DEE8"/>
                      </a:solidFill>
                      <a:prstDash val="solid"/>
                      <a:round/>
                      <a:headEnd type="none" w="med" len="med"/>
                      <a:tailEnd type="none" w="med" len="med"/>
                    </a:lnT>
                    <a:lnB w="6350" cap="flat" cmpd="sng" algn="ctr">
                      <a:solidFill>
                        <a:srgbClr val="D9DEE8"/>
                      </a:solidFill>
                      <a:prstDash val="solid"/>
                      <a:round/>
                      <a:headEnd type="none" w="med" len="med"/>
                      <a:tailEnd type="none" w="med" len="med"/>
                    </a:lnB>
                    <a:solidFill>
                      <a:srgbClr val="FFFFFF"/>
                    </a:solidFill>
                  </a:tcPr>
                </a:tc>
                <a:tc>
                  <a:txBody>
                    <a:bodyPr/>
                    <a:lstStyle/>
                    <a:p>
                      <a:pPr marL="0" indent="0" algn="ctr">
                        <a:buNone/>
                      </a:pPr>
                      <a:r>
                        <a:rPr lang="en-US" sz="1250" dirty="0">
                          <a:solidFill>
                            <a:srgbClr val="1A2238"/>
                          </a:solidFill>
                        </a:rPr>
                        <a:t>1.1e-13</a:t>
                      </a:r>
                      <a:endParaRPr lang="en-US" sz="1250" dirty="0"/>
                    </a:p>
                  </a:txBody>
                  <a:tcPr>
                    <a:lnL w="6350" cap="flat" cmpd="sng" algn="ctr">
                      <a:solidFill>
                        <a:srgbClr val="D9DEE8"/>
                      </a:solidFill>
                      <a:prstDash val="solid"/>
                      <a:round/>
                      <a:headEnd type="none" w="med" len="med"/>
                      <a:tailEnd type="none" w="med" len="med"/>
                    </a:lnL>
                    <a:lnR w="6350" cap="flat" cmpd="sng" algn="ctr">
                      <a:solidFill>
                        <a:srgbClr val="D9DEE8"/>
                      </a:solidFill>
                      <a:prstDash val="solid"/>
                      <a:round/>
                      <a:headEnd type="none" w="med" len="med"/>
                      <a:tailEnd type="none" w="med" len="med"/>
                    </a:lnR>
                    <a:lnT w="6350" cap="flat" cmpd="sng" algn="ctr">
                      <a:solidFill>
                        <a:srgbClr val="D9DEE8"/>
                      </a:solidFill>
                      <a:prstDash val="solid"/>
                      <a:round/>
                      <a:headEnd type="none" w="med" len="med"/>
                      <a:tailEnd type="none" w="med" len="med"/>
                    </a:lnT>
                    <a:lnB w="6350" cap="flat" cmpd="sng" algn="ctr">
                      <a:solidFill>
                        <a:srgbClr val="D9DEE8"/>
                      </a:solidFill>
                      <a:prstDash val="solid"/>
                      <a:round/>
                      <a:headEnd type="none" w="med" len="med"/>
                      <a:tailEnd type="none" w="med" len="med"/>
                    </a:lnB>
                    <a:solidFill>
                      <a:srgbClr val="FFFFFF"/>
                    </a:solidFill>
                  </a:tcPr>
                </a:tc>
                <a:tc>
                  <a:txBody>
                    <a:bodyPr/>
                    <a:lstStyle/>
                    <a:p>
                      <a:pPr marL="0" indent="0" algn="ctr">
                        <a:buNone/>
                      </a:pPr>
                      <a:r>
                        <a:rPr lang="en-US" sz="1250" dirty="0">
                          <a:solidFill>
                            <a:srgbClr val="1A2238"/>
                          </a:solidFill>
                        </a:rPr>
                        <a:t>2.303</a:t>
                      </a:r>
                      <a:endParaRPr lang="en-US" sz="1250" dirty="0"/>
                    </a:p>
                  </a:txBody>
                  <a:tcPr>
                    <a:lnL w="6350" cap="flat" cmpd="sng" algn="ctr">
                      <a:solidFill>
                        <a:srgbClr val="D9DEE8"/>
                      </a:solidFill>
                      <a:prstDash val="solid"/>
                      <a:round/>
                      <a:headEnd type="none" w="med" len="med"/>
                      <a:tailEnd type="none" w="med" len="med"/>
                    </a:lnL>
                    <a:lnR w="6350" cap="flat" cmpd="sng" algn="ctr">
                      <a:solidFill>
                        <a:srgbClr val="D9DEE8"/>
                      </a:solidFill>
                      <a:prstDash val="solid"/>
                      <a:round/>
                      <a:headEnd type="none" w="med" len="med"/>
                      <a:tailEnd type="none" w="med" len="med"/>
                    </a:lnR>
                    <a:lnT w="6350" cap="flat" cmpd="sng" algn="ctr">
                      <a:solidFill>
                        <a:srgbClr val="D9DEE8"/>
                      </a:solidFill>
                      <a:prstDash val="solid"/>
                      <a:round/>
                      <a:headEnd type="none" w="med" len="med"/>
                      <a:tailEnd type="none" w="med" len="med"/>
                    </a:lnT>
                    <a:lnB w="6350" cap="flat" cmpd="sng" algn="ctr">
                      <a:solidFill>
                        <a:srgbClr val="D9DEE8"/>
                      </a:solidFill>
                      <a:prstDash val="solid"/>
                      <a:round/>
                      <a:headEnd type="none" w="med" len="med"/>
                      <a:tailEnd type="none" w="med" len="med"/>
                    </a:lnB>
                    <a:solidFill>
                      <a:srgbClr val="FFFFFF"/>
                    </a:solidFill>
                  </a:tcPr>
                </a:tc>
                <a:tc>
                  <a:txBody>
                    <a:bodyPr/>
                    <a:lstStyle/>
                    <a:p>
                      <a:pPr marL="0" indent="0" algn="ctr">
                        <a:buNone/>
                      </a:pPr>
                      <a:r>
                        <a:rPr lang="en-US" sz="1250" dirty="0">
                          <a:solidFill>
                            <a:srgbClr val="1A2238"/>
                          </a:solidFill>
                        </a:rPr>
                        <a:t>10.0%</a:t>
                      </a:r>
                      <a:endParaRPr lang="en-US" sz="1250" dirty="0"/>
                    </a:p>
                  </a:txBody>
                  <a:tcPr>
                    <a:lnL w="6350" cap="flat" cmpd="sng" algn="ctr">
                      <a:solidFill>
                        <a:srgbClr val="D9DEE8"/>
                      </a:solidFill>
                      <a:prstDash val="solid"/>
                      <a:round/>
                      <a:headEnd type="none" w="med" len="med"/>
                      <a:tailEnd type="none" w="med" len="med"/>
                    </a:lnL>
                    <a:lnR w="6350" cap="flat" cmpd="sng" algn="ctr">
                      <a:solidFill>
                        <a:srgbClr val="D9DEE8"/>
                      </a:solidFill>
                      <a:prstDash val="solid"/>
                      <a:round/>
                      <a:headEnd type="none" w="med" len="med"/>
                      <a:tailEnd type="none" w="med" len="med"/>
                    </a:lnR>
                    <a:lnT w="6350" cap="flat" cmpd="sng" algn="ctr">
                      <a:solidFill>
                        <a:srgbClr val="D9DEE8"/>
                      </a:solidFill>
                      <a:prstDash val="solid"/>
                      <a:round/>
                      <a:headEnd type="none" w="med" len="med"/>
                      <a:tailEnd type="none" w="med" len="med"/>
                    </a:lnT>
                    <a:lnB w="6350" cap="flat" cmpd="sng" algn="ctr">
                      <a:solidFill>
                        <a:srgbClr val="D9DEE8"/>
                      </a:solidFill>
                      <a:prstDash val="solid"/>
                      <a:round/>
                      <a:headEnd type="none" w="med" len="med"/>
                      <a:tailEnd type="none" w="med" len="med"/>
                    </a:lnB>
                    <a:solidFill>
                      <a:srgbClr val="FFFFFF"/>
                    </a:solidFill>
                  </a:tcPr>
                </a:tc>
                <a:tc>
                  <a:txBody>
                    <a:bodyPr/>
                    <a:lstStyle/>
                    <a:p>
                      <a:pPr marL="0" indent="0" algn="ctr">
                        <a:buNone/>
                      </a:pPr>
                      <a:r>
                        <a:rPr lang="en-US" sz="1250" b="1" dirty="0">
                          <a:solidFill>
                            <a:srgbClr val="BE3C32"/>
                          </a:solidFill>
                        </a:rPr>
                        <a:t>Vanishing</a:t>
                      </a:r>
                      <a:endParaRPr lang="en-US" sz="1250" dirty="0"/>
                    </a:p>
                  </a:txBody>
                  <a:tcPr>
                    <a:lnL w="6350" cap="flat" cmpd="sng" algn="ctr">
                      <a:solidFill>
                        <a:srgbClr val="D9DEE8"/>
                      </a:solidFill>
                      <a:prstDash val="solid"/>
                      <a:round/>
                      <a:headEnd type="none" w="med" len="med"/>
                      <a:tailEnd type="none" w="med" len="med"/>
                    </a:lnL>
                    <a:lnR w="6350" cap="flat" cmpd="sng" algn="ctr">
                      <a:solidFill>
                        <a:srgbClr val="D9DEE8"/>
                      </a:solidFill>
                      <a:prstDash val="solid"/>
                      <a:round/>
                      <a:headEnd type="none" w="med" len="med"/>
                      <a:tailEnd type="none" w="med" len="med"/>
                    </a:lnR>
                    <a:lnT w="6350" cap="flat" cmpd="sng" algn="ctr">
                      <a:solidFill>
                        <a:srgbClr val="D9DEE8"/>
                      </a:solidFill>
                      <a:prstDash val="solid"/>
                      <a:round/>
                      <a:headEnd type="none" w="med" len="med"/>
                      <a:tailEnd type="none" w="med" len="med"/>
                    </a:lnT>
                    <a:lnB w="6350" cap="flat" cmpd="sng" algn="ctr">
                      <a:solidFill>
                        <a:srgbClr val="D9DEE8"/>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457200">
                <a:tc>
                  <a:txBody>
                    <a:bodyPr/>
                    <a:lstStyle/>
                    <a:p>
                      <a:pPr marL="0" indent="0" algn="l">
                        <a:buNone/>
                      </a:pPr>
                      <a:r>
                        <a:rPr lang="en-US" sz="1250" b="1" dirty="0">
                          <a:solidFill>
                            <a:srgbClr val="1A2238"/>
                          </a:solidFill>
                        </a:rPr>
                        <a:t>Random (large)</a:t>
                      </a:r>
                      <a:endParaRPr lang="en-US" sz="1250" dirty="0"/>
                    </a:p>
                  </a:txBody>
                  <a:tcPr>
                    <a:lnL w="6350" cap="flat" cmpd="sng" algn="ctr">
                      <a:solidFill>
                        <a:srgbClr val="D9DEE8"/>
                      </a:solidFill>
                      <a:prstDash val="solid"/>
                      <a:round/>
                      <a:headEnd type="none" w="med" len="med"/>
                      <a:tailEnd type="none" w="med" len="med"/>
                    </a:lnL>
                    <a:lnR w="6350" cap="flat" cmpd="sng" algn="ctr">
                      <a:solidFill>
                        <a:srgbClr val="D9DEE8"/>
                      </a:solidFill>
                      <a:prstDash val="solid"/>
                      <a:round/>
                      <a:headEnd type="none" w="med" len="med"/>
                      <a:tailEnd type="none" w="med" len="med"/>
                    </a:lnR>
                    <a:lnT w="6350" cap="flat" cmpd="sng" algn="ctr">
                      <a:solidFill>
                        <a:srgbClr val="D9DEE8"/>
                      </a:solidFill>
                      <a:prstDash val="solid"/>
                      <a:round/>
                      <a:headEnd type="none" w="med" len="med"/>
                      <a:tailEnd type="none" w="med" len="med"/>
                    </a:lnT>
                    <a:lnB w="6350" cap="flat" cmpd="sng" algn="ctr">
                      <a:solidFill>
                        <a:srgbClr val="D9DEE8"/>
                      </a:solidFill>
                      <a:prstDash val="solid"/>
                      <a:round/>
                      <a:headEnd type="none" w="med" len="med"/>
                      <a:tailEnd type="none" w="med" len="med"/>
                    </a:lnB>
                    <a:solidFill>
                      <a:srgbClr val="F1F4F9"/>
                    </a:solidFill>
                  </a:tcPr>
                </a:tc>
                <a:tc>
                  <a:txBody>
                    <a:bodyPr/>
                    <a:lstStyle/>
                    <a:p>
                      <a:pPr marL="0" indent="0" algn="ctr">
                        <a:buNone/>
                      </a:pPr>
                      <a:r>
                        <a:rPr lang="en-US" sz="1250" dirty="0">
                          <a:solidFill>
                            <a:srgbClr val="1A2238"/>
                          </a:solidFill>
                        </a:rPr>
                        <a:t>1.9e+7</a:t>
                      </a:r>
                      <a:endParaRPr lang="en-US" sz="1250" dirty="0"/>
                    </a:p>
                  </a:txBody>
                  <a:tcPr>
                    <a:lnL w="6350" cap="flat" cmpd="sng" algn="ctr">
                      <a:solidFill>
                        <a:srgbClr val="D9DEE8"/>
                      </a:solidFill>
                      <a:prstDash val="solid"/>
                      <a:round/>
                      <a:headEnd type="none" w="med" len="med"/>
                      <a:tailEnd type="none" w="med" len="med"/>
                    </a:lnL>
                    <a:lnR w="6350" cap="flat" cmpd="sng" algn="ctr">
                      <a:solidFill>
                        <a:srgbClr val="D9DEE8"/>
                      </a:solidFill>
                      <a:prstDash val="solid"/>
                      <a:round/>
                      <a:headEnd type="none" w="med" len="med"/>
                      <a:tailEnd type="none" w="med" len="med"/>
                    </a:lnR>
                    <a:lnT w="6350" cap="flat" cmpd="sng" algn="ctr">
                      <a:solidFill>
                        <a:srgbClr val="D9DEE8"/>
                      </a:solidFill>
                      <a:prstDash val="solid"/>
                      <a:round/>
                      <a:headEnd type="none" w="med" len="med"/>
                      <a:tailEnd type="none" w="med" len="med"/>
                    </a:lnT>
                    <a:lnB w="6350" cap="flat" cmpd="sng" algn="ctr">
                      <a:solidFill>
                        <a:srgbClr val="D9DEE8"/>
                      </a:solidFill>
                      <a:prstDash val="solid"/>
                      <a:round/>
                      <a:headEnd type="none" w="med" len="med"/>
                      <a:tailEnd type="none" w="med" len="med"/>
                    </a:lnB>
                    <a:solidFill>
                      <a:srgbClr val="F1F4F9"/>
                    </a:solidFill>
                  </a:tcPr>
                </a:tc>
                <a:tc>
                  <a:txBody>
                    <a:bodyPr/>
                    <a:lstStyle/>
                    <a:p>
                      <a:pPr marL="0" indent="0" algn="ctr">
                        <a:buNone/>
                      </a:pPr>
                      <a:r>
                        <a:rPr lang="en-US" sz="1250" dirty="0">
                          <a:solidFill>
                            <a:srgbClr val="1A2238"/>
                          </a:solidFill>
                        </a:rPr>
                        <a:t>NaN</a:t>
                      </a:r>
                      <a:endParaRPr lang="en-US" sz="1250" dirty="0"/>
                    </a:p>
                  </a:txBody>
                  <a:tcPr>
                    <a:lnL w="6350" cap="flat" cmpd="sng" algn="ctr">
                      <a:solidFill>
                        <a:srgbClr val="D9DEE8"/>
                      </a:solidFill>
                      <a:prstDash val="solid"/>
                      <a:round/>
                      <a:headEnd type="none" w="med" len="med"/>
                      <a:tailEnd type="none" w="med" len="med"/>
                    </a:lnL>
                    <a:lnR w="6350" cap="flat" cmpd="sng" algn="ctr">
                      <a:solidFill>
                        <a:srgbClr val="D9DEE8"/>
                      </a:solidFill>
                      <a:prstDash val="solid"/>
                      <a:round/>
                      <a:headEnd type="none" w="med" len="med"/>
                      <a:tailEnd type="none" w="med" len="med"/>
                    </a:lnR>
                    <a:lnT w="6350" cap="flat" cmpd="sng" algn="ctr">
                      <a:solidFill>
                        <a:srgbClr val="D9DEE8"/>
                      </a:solidFill>
                      <a:prstDash val="solid"/>
                      <a:round/>
                      <a:headEnd type="none" w="med" len="med"/>
                      <a:tailEnd type="none" w="med" len="med"/>
                    </a:lnT>
                    <a:lnB w="6350" cap="flat" cmpd="sng" algn="ctr">
                      <a:solidFill>
                        <a:srgbClr val="D9DEE8"/>
                      </a:solidFill>
                      <a:prstDash val="solid"/>
                      <a:round/>
                      <a:headEnd type="none" w="med" len="med"/>
                      <a:tailEnd type="none" w="med" len="med"/>
                    </a:lnB>
                    <a:solidFill>
                      <a:srgbClr val="F1F4F9"/>
                    </a:solidFill>
                  </a:tcPr>
                </a:tc>
                <a:tc>
                  <a:txBody>
                    <a:bodyPr/>
                    <a:lstStyle/>
                    <a:p>
                      <a:pPr marL="0" indent="0" algn="ctr">
                        <a:buNone/>
                      </a:pPr>
                      <a:r>
                        <a:rPr lang="en-US" sz="1250" dirty="0">
                          <a:solidFill>
                            <a:srgbClr val="1A2238"/>
                          </a:solidFill>
                        </a:rPr>
                        <a:t>10.0%</a:t>
                      </a:r>
                      <a:endParaRPr lang="en-US" sz="1250" dirty="0"/>
                    </a:p>
                  </a:txBody>
                  <a:tcPr>
                    <a:lnL w="6350" cap="flat" cmpd="sng" algn="ctr">
                      <a:solidFill>
                        <a:srgbClr val="D9DEE8"/>
                      </a:solidFill>
                      <a:prstDash val="solid"/>
                      <a:round/>
                      <a:headEnd type="none" w="med" len="med"/>
                      <a:tailEnd type="none" w="med" len="med"/>
                    </a:lnL>
                    <a:lnR w="6350" cap="flat" cmpd="sng" algn="ctr">
                      <a:solidFill>
                        <a:srgbClr val="D9DEE8"/>
                      </a:solidFill>
                      <a:prstDash val="solid"/>
                      <a:round/>
                      <a:headEnd type="none" w="med" len="med"/>
                      <a:tailEnd type="none" w="med" len="med"/>
                    </a:lnR>
                    <a:lnT w="6350" cap="flat" cmpd="sng" algn="ctr">
                      <a:solidFill>
                        <a:srgbClr val="D9DEE8"/>
                      </a:solidFill>
                      <a:prstDash val="solid"/>
                      <a:round/>
                      <a:headEnd type="none" w="med" len="med"/>
                      <a:tailEnd type="none" w="med" len="med"/>
                    </a:lnT>
                    <a:lnB w="6350" cap="flat" cmpd="sng" algn="ctr">
                      <a:solidFill>
                        <a:srgbClr val="D9DEE8"/>
                      </a:solidFill>
                      <a:prstDash val="solid"/>
                      <a:round/>
                      <a:headEnd type="none" w="med" len="med"/>
                      <a:tailEnd type="none" w="med" len="med"/>
                    </a:lnB>
                    <a:solidFill>
                      <a:srgbClr val="F1F4F9"/>
                    </a:solidFill>
                  </a:tcPr>
                </a:tc>
                <a:tc>
                  <a:txBody>
                    <a:bodyPr/>
                    <a:lstStyle/>
                    <a:p>
                      <a:pPr marL="0" indent="0" algn="ctr">
                        <a:buNone/>
                      </a:pPr>
                      <a:r>
                        <a:rPr lang="en-US" sz="1250" b="1" dirty="0">
                          <a:solidFill>
                            <a:srgbClr val="7D3C98"/>
                          </a:solidFill>
                        </a:rPr>
                        <a:t>Exploding → NaN</a:t>
                      </a:r>
                      <a:endParaRPr lang="en-US" sz="1250" dirty="0"/>
                    </a:p>
                  </a:txBody>
                  <a:tcPr>
                    <a:lnL w="6350" cap="flat" cmpd="sng" algn="ctr">
                      <a:solidFill>
                        <a:srgbClr val="D9DEE8"/>
                      </a:solidFill>
                      <a:prstDash val="solid"/>
                      <a:round/>
                      <a:headEnd type="none" w="med" len="med"/>
                      <a:tailEnd type="none" w="med" len="med"/>
                    </a:lnL>
                    <a:lnR w="6350" cap="flat" cmpd="sng" algn="ctr">
                      <a:solidFill>
                        <a:srgbClr val="D9DEE8"/>
                      </a:solidFill>
                      <a:prstDash val="solid"/>
                      <a:round/>
                      <a:headEnd type="none" w="med" len="med"/>
                      <a:tailEnd type="none" w="med" len="med"/>
                    </a:lnR>
                    <a:lnT w="6350" cap="flat" cmpd="sng" algn="ctr">
                      <a:solidFill>
                        <a:srgbClr val="D9DEE8"/>
                      </a:solidFill>
                      <a:prstDash val="solid"/>
                      <a:round/>
                      <a:headEnd type="none" w="med" len="med"/>
                      <a:tailEnd type="none" w="med" len="med"/>
                    </a:lnT>
                    <a:lnB w="6350" cap="flat" cmpd="sng" algn="ctr">
                      <a:solidFill>
                        <a:srgbClr val="D9DEE8"/>
                      </a:solidFill>
                      <a:prstDash val="solid"/>
                      <a:round/>
                      <a:headEnd type="none" w="med" len="med"/>
                      <a:tailEnd type="none" w="med" len="med"/>
                    </a:lnB>
                    <a:solidFill>
                      <a:srgbClr val="F1F4F9"/>
                    </a:solidFill>
                  </a:tcPr>
                </a:tc>
                <a:extLst>
                  <a:ext uri="{0D108BD9-81ED-4DB2-BD59-A6C34878D82A}">
                    <a16:rowId xmlns:a16="http://schemas.microsoft.com/office/drawing/2014/main" val="10003"/>
                  </a:ext>
                </a:extLst>
              </a:tr>
              <a:tr h="457200">
                <a:tc>
                  <a:txBody>
                    <a:bodyPr/>
                    <a:lstStyle/>
                    <a:p>
                      <a:pPr marL="0" indent="0" algn="l">
                        <a:buNone/>
                      </a:pPr>
                      <a:r>
                        <a:rPr lang="en-US" sz="1250" b="1" dirty="0">
                          <a:solidFill>
                            <a:srgbClr val="1A2238"/>
                          </a:solidFill>
                        </a:rPr>
                        <a:t>Xavier</a:t>
                      </a:r>
                      <a:endParaRPr lang="en-US" sz="1250" dirty="0"/>
                    </a:p>
                  </a:txBody>
                  <a:tcPr>
                    <a:lnL w="6350" cap="flat" cmpd="sng" algn="ctr">
                      <a:solidFill>
                        <a:srgbClr val="D9DEE8"/>
                      </a:solidFill>
                      <a:prstDash val="solid"/>
                      <a:round/>
                      <a:headEnd type="none" w="med" len="med"/>
                      <a:tailEnd type="none" w="med" len="med"/>
                    </a:lnL>
                    <a:lnR w="6350" cap="flat" cmpd="sng" algn="ctr">
                      <a:solidFill>
                        <a:srgbClr val="D9DEE8"/>
                      </a:solidFill>
                      <a:prstDash val="solid"/>
                      <a:round/>
                      <a:headEnd type="none" w="med" len="med"/>
                      <a:tailEnd type="none" w="med" len="med"/>
                    </a:lnR>
                    <a:lnT w="6350" cap="flat" cmpd="sng" algn="ctr">
                      <a:solidFill>
                        <a:srgbClr val="D9DEE8"/>
                      </a:solidFill>
                      <a:prstDash val="solid"/>
                      <a:round/>
                      <a:headEnd type="none" w="med" len="med"/>
                      <a:tailEnd type="none" w="med" len="med"/>
                    </a:lnT>
                    <a:lnB w="6350" cap="flat" cmpd="sng" algn="ctr">
                      <a:solidFill>
                        <a:srgbClr val="D9DEE8"/>
                      </a:solidFill>
                      <a:prstDash val="solid"/>
                      <a:round/>
                      <a:headEnd type="none" w="med" len="med"/>
                      <a:tailEnd type="none" w="med" len="med"/>
                    </a:lnB>
                    <a:solidFill>
                      <a:srgbClr val="FFFFFF"/>
                    </a:solidFill>
                  </a:tcPr>
                </a:tc>
                <a:tc>
                  <a:txBody>
                    <a:bodyPr/>
                    <a:lstStyle/>
                    <a:p>
                      <a:pPr marL="0" indent="0" algn="ctr">
                        <a:buNone/>
                      </a:pPr>
                      <a:r>
                        <a:rPr lang="en-US" sz="1250" dirty="0">
                          <a:solidFill>
                            <a:srgbClr val="1A2238"/>
                          </a:solidFill>
                        </a:rPr>
                        <a:t>4.4e-4</a:t>
                      </a:r>
                      <a:endParaRPr lang="en-US" sz="1250" dirty="0"/>
                    </a:p>
                  </a:txBody>
                  <a:tcPr>
                    <a:lnL w="6350" cap="flat" cmpd="sng" algn="ctr">
                      <a:solidFill>
                        <a:srgbClr val="D9DEE8"/>
                      </a:solidFill>
                      <a:prstDash val="solid"/>
                      <a:round/>
                      <a:headEnd type="none" w="med" len="med"/>
                      <a:tailEnd type="none" w="med" len="med"/>
                    </a:lnL>
                    <a:lnR w="6350" cap="flat" cmpd="sng" algn="ctr">
                      <a:solidFill>
                        <a:srgbClr val="D9DEE8"/>
                      </a:solidFill>
                      <a:prstDash val="solid"/>
                      <a:round/>
                      <a:headEnd type="none" w="med" len="med"/>
                      <a:tailEnd type="none" w="med" len="med"/>
                    </a:lnR>
                    <a:lnT w="6350" cap="flat" cmpd="sng" algn="ctr">
                      <a:solidFill>
                        <a:srgbClr val="D9DEE8"/>
                      </a:solidFill>
                      <a:prstDash val="solid"/>
                      <a:round/>
                      <a:headEnd type="none" w="med" len="med"/>
                      <a:tailEnd type="none" w="med" len="med"/>
                    </a:lnT>
                    <a:lnB w="6350" cap="flat" cmpd="sng" algn="ctr">
                      <a:solidFill>
                        <a:srgbClr val="D9DEE8"/>
                      </a:solidFill>
                      <a:prstDash val="solid"/>
                      <a:round/>
                      <a:headEnd type="none" w="med" len="med"/>
                      <a:tailEnd type="none" w="med" len="med"/>
                    </a:lnB>
                    <a:solidFill>
                      <a:srgbClr val="FFFFFF"/>
                    </a:solidFill>
                  </a:tcPr>
                </a:tc>
                <a:tc>
                  <a:txBody>
                    <a:bodyPr/>
                    <a:lstStyle/>
                    <a:p>
                      <a:pPr marL="0" indent="0" algn="ctr">
                        <a:buNone/>
                      </a:pPr>
                      <a:r>
                        <a:rPr lang="en-US" sz="1250" dirty="0">
                          <a:solidFill>
                            <a:srgbClr val="1A2238"/>
                          </a:solidFill>
                        </a:rPr>
                        <a:t>0.474</a:t>
                      </a:r>
                      <a:endParaRPr lang="en-US" sz="1250" dirty="0"/>
                    </a:p>
                  </a:txBody>
                  <a:tcPr>
                    <a:lnL w="6350" cap="flat" cmpd="sng" algn="ctr">
                      <a:solidFill>
                        <a:srgbClr val="D9DEE8"/>
                      </a:solidFill>
                      <a:prstDash val="solid"/>
                      <a:round/>
                      <a:headEnd type="none" w="med" len="med"/>
                      <a:tailEnd type="none" w="med" len="med"/>
                    </a:lnL>
                    <a:lnR w="6350" cap="flat" cmpd="sng" algn="ctr">
                      <a:solidFill>
                        <a:srgbClr val="D9DEE8"/>
                      </a:solidFill>
                      <a:prstDash val="solid"/>
                      <a:round/>
                      <a:headEnd type="none" w="med" len="med"/>
                      <a:tailEnd type="none" w="med" len="med"/>
                    </a:lnR>
                    <a:lnT w="6350" cap="flat" cmpd="sng" algn="ctr">
                      <a:solidFill>
                        <a:srgbClr val="D9DEE8"/>
                      </a:solidFill>
                      <a:prstDash val="solid"/>
                      <a:round/>
                      <a:headEnd type="none" w="med" len="med"/>
                      <a:tailEnd type="none" w="med" len="med"/>
                    </a:lnT>
                    <a:lnB w="6350" cap="flat" cmpd="sng" algn="ctr">
                      <a:solidFill>
                        <a:srgbClr val="D9DEE8"/>
                      </a:solidFill>
                      <a:prstDash val="solid"/>
                      <a:round/>
                      <a:headEnd type="none" w="med" len="med"/>
                      <a:tailEnd type="none" w="med" len="med"/>
                    </a:lnB>
                    <a:solidFill>
                      <a:srgbClr val="FFFFFF"/>
                    </a:solidFill>
                  </a:tcPr>
                </a:tc>
                <a:tc>
                  <a:txBody>
                    <a:bodyPr/>
                    <a:lstStyle/>
                    <a:p>
                      <a:pPr marL="0" indent="0" algn="ctr">
                        <a:buNone/>
                      </a:pPr>
                      <a:r>
                        <a:rPr lang="en-US" sz="1250" dirty="0">
                          <a:solidFill>
                            <a:srgbClr val="1A2238"/>
                          </a:solidFill>
                        </a:rPr>
                        <a:t>68.2%</a:t>
                      </a:r>
                      <a:endParaRPr lang="en-US" sz="1250" dirty="0"/>
                    </a:p>
                  </a:txBody>
                  <a:tcPr>
                    <a:lnL w="6350" cap="flat" cmpd="sng" algn="ctr">
                      <a:solidFill>
                        <a:srgbClr val="D9DEE8"/>
                      </a:solidFill>
                      <a:prstDash val="solid"/>
                      <a:round/>
                      <a:headEnd type="none" w="med" len="med"/>
                      <a:tailEnd type="none" w="med" len="med"/>
                    </a:lnL>
                    <a:lnR w="6350" cap="flat" cmpd="sng" algn="ctr">
                      <a:solidFill>
                        <a:srgbClr val="D9DEE8"/>
                      </a:solidFill>
                      <a:prstDash val="solid"/>
                      <a:round/>
                      <a:headEnd type="none" w="med" len="med"/>
                      <a:tailEnd type="none" w="med" len="med"/>
                    </a:lnR>
                    <a:lnT w="6350" cap="flat" cmpd="sng" algn="ctr">
                      <a:solidFill>
                        <a:srgbClr val="D9DEE8"/>
                      </a:solidFill>
                      <a:prstDash val="solid"/>
                      <a:round/>
                      <a:headEnd type="none" w="med" len="med"/>
                      <a:tailEnd type="none" w="med" len="med"/>
                    </a:lnT>
                    <a:lnB w="6350" cap="flat" cmpd="sng" algn="ctr">
                      <a:solidFill>
                        <a:srgbClr val="D9DEE8"/>
                      </a:solidFill>
                      <a:prstDash val="solid"/>
                      <a:round/>
                      <a:headEnd type="none" w="med" len="med"/>
                      <a:tailEnd type="none" w="med" len="med"/>
                    </a:lnB>
                    <a:solidFill>
                      <a:srgbClr val="FFFFFF"/>
                    </a:solidFill>
                  </a:tcPr>
                </a:tc>
                <a:tc>
                  <a:txBody>
                    <a:bodyPr/>
                    <a:lstStyle/>
                    <a:p>
                      <a:pPr marL="0" indent="0" algn="ctr">
                        <a:buNone/>
                      </a:pPr>
                      <a:r>
                        <a:rPr lang="en-US" sz="1250" b="1" dirty="0">
                          <a:solidFill>
                            <a:srgbClr val="2E7D5B"/>
                          </a:solidFill>
                        </a:rPr>
                        <a:t>Không vanish/explode rõ rệt</a:t>
                      </a:r>
                      <a:endParaRPr lang="en-US" sz="1250" dirty="0"/>
                    </a:p>
                  </a:txBody>
                  <a:tcPr>
                    <a:lnL w="6350" cap="flat" cmpd="sng" algn="ctr">
                      <a:solidFill>
                        <a:srgbClr val="D9DEE8"/>
                      </a:solidFill>
                      <a:prstDash val="solid"/>
                      <a:round/>
                      <a:headEnd type="none" w="med" len="med"/>
                      <a:tailEnd type="none" w="med" len="med"/>
                    </a:lnL>
                    <a:lnR w="6350" cap="flat" cmpd="sng" algn="ctr">
                      <a:solidFill>
                        <a:srgbClr val="D9DEE8"/>
                      </a:solidFill>
                      <a:prstDash val="solid"/>
                      <a:round/>
                      <a:headEnd type="none" w="med" len="med"/>
                      <a:tailEnd type="none" w="med" len="med"/>
                    </a:lnR>
                    <a:lnT w="6350" cap="flat" cmpd="sng" algn="ctr">
                      <a:solidFill>
                        <a:srgbClr val="D9DEE8"/>
                      </a:solidFill>
                      <a:prstDash val="solid"/>
                      <a:round/>
                      <a:headEnd type="none" w="med" len="med"/>
                      <a:tailEnd type="none" w="med" len="med"/>
                    </a:lnT>
                    <a:lnB w="6350" cap="flat" cmpd="sng" algn="ctr">
                      <a:solidFill>
                        <a:srgbClr val="D9DEE8"/>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457200">
                <a:tc>
                  <a:txBody>
                    <a:bodyPr/>
                    <a:lstStyle/>
                    <a:p>
                      <a:pPr marL="0" indent="0" algn="l">
                        <a:buNone/>
                      </a:pPr>
                      <a:r>
                        <a:rPr lang="en-US" sz="1250" b="1" dirty="0">
                          <a:solidFill>
                            <a:srgbClr val="1A2238"/>
                          </a:solidFill>
                        </a:rPr>
                        <a:t>He</a:t>
                      </a:r>
                      <a:endParaRPr lang="en-US" sz="1250" dirty="0"/>
                    </a:p>
                  </a:txBody>
                  <a:tcPr>
                    <a:lnL w="6350" cap="flat" cmpd="sng" algn="ctr">
                      <a:solidFill>
                        <a:srgbClr val="D9DEE8"/>
                      </a:solidFill>
                      <a:prstDash val="solid"/>
                      <a:round/>
                      <a:headEnd type="none" w="med" len="med"/>
                      <a:tailEnd type="none" w="med" len="med"/>
                    </a:lnL>
                    <a:lnR w="6350" cap="flat" cmpd="sng" algn="ctr">
                      <a:solidFill>
                        <a:srgbClr val="D9DEE8"/>
                      </a:solidFill>
                      <a:prstDash val="solid"/>
                      <a:round/>
                      <a:headEnd type="none" w="med" len="med"/>
                      <a:tailEnd type="none" w="med" len="med"/>
                    </a:lnR>
                    <a:lnT w="6350" cap="flat" cmpd="sng" algn="ctr">
                      <a:solidFill>
                        <a:srgbClr val="D9DEE8"/>
                      </a:solidFill>
                      <a:prstDash val="solid"/>
                      <a:round/>
                      <a:headEnd type="none" w="med" len="med"/>
                      <a:tailEnd type="none" w="med" len="med"/>
                    </a:lnT>
                    <a:lnB w="6350" cap="flat" cmpd="sng" algn="ctr">
                      <a:solidFill>
                        <a:srgbClr val="D9DEE8"/>
                      </a:solidFill>
                      <a:prstDash val="solid"/>
                      <a:round/>
                      <a:headEnd type="none" w="med" len="med"/>
                      <a:tailEnd type="none" w="med" len="med"/>
                    </a:lnB>
                    <a:solidFill>
                      <a:srgbClr val="F1F4F9"/>
                    </a:solidFill>
                  </a:tcPr>
                </a:tc>
                <a:tc>
                  <a:txBody>
                    <a:bodyPr/>
                    <a:lstStyle/>
                    <a:p>
                      <a:pPr marL="0" indent="0" algn="ctr">
                        <a:buNone/>
                      </a:pPr>
                      <a:r>
                        <a:rPr lang="en-US" sz="1250" dirty="0">
                          <a:solidFill>
                            <a:srgbClr val="1A2238"/>
                          </a:solidFill>
                        </a:rPr>
                        <a:t>1.1e-2</a:t>
                      </a:r>
                      <a:endParaRPr lang="en-US" sz="1250" dirty="0"/>
                    </a:p>
                  </a:txBody>
                  <a:tcPr>
                    <a:lnL w="6350" cap="flat" cmpd="sng" algn="ctr">
                      <a:solidFill>
                        <a:srgbClr val="D9DEE8"/>
                      </a:solidFill>
                      <a:prstDash val="solid"/>
                      <a:round/>
                      <a:headEnd type="none" w="med" len="med"/>
                      <a:tailEnd type="none" w="med" len="med"/>
                    </a:lnL>
                    <a:lnR w="6350" cap="flat" cmpd="sng" algn="ctr">
                      <a:solidFill>
                        <a:srgbClr val="D9DEE8"/>
                      </a:solidFill>
                      <a:prstDash val="solid"/>
                      <a:round/>
                      <a:headEnd type="none" w="med" len="med"/>
                      <a:tailEnd type="none" w="med" len="med"/>
                    </a:lnR>
                    <a:lnT w="6350" cap="flat" cmpd="sng" algn="ctr">
                      <a:solidFill>
                        <a:srgbClr val="D9DEE8"/>
                      </a:solidFill>
                      <a:prstDash val="solid"/>
                      <a:round/>
                      <a:headEnd type="none" w="med" len="med"/>
                      <a:tailEnd type="none" w="med" len="med"/>
                    </a:lnT>
                    <a:lnB w="6350" cap="flat" cmpd="sng" algn="ctr">
                      <a:solidFill>
                        <a:srgbClr val="D9DEE8"/>
                      </a:solidFill>
                      <a:prstDash val="solid"/>
                      <a:round/>
                      <a:headEnd type="none" w="med" len="med"/>
                      <a:tailEnd type="none" w="med" len="med"/>
                    </a:lnB>
                    <a:solidFill>
                      <a:srgbClr val="F1F4F9"/>
                    </a:solidFill>
                  </a:tcPr>
                </a:tc>
                <a:tc>
                  <a:txBody>
                    <a:bodyPr/>
                    <a:lstStyle/>
                    <a:p>
                      <a:pPr marL="0" indent="0" algn="ctr">
                        <a:buNone/>
                      </a:pPr>
                      <a:r>
                        <a:rPr lang="en-US" sz="1250" dirty="0">
                          <a:solidFill>
                            <a:srgbClr val="1A2238"/>
                          </a:solidFill>
                        </a:rPr>
                        <a:t>0.365</a:t>
                      </a:r>
                      <a:endParaRPr lang="en-US" sz="1250" dirty="0"/>
                    </a:p>
                  </a:txBody>
                  <a:tcPr>
                    <a:lnL w="6350" cap="flat" cmpd="sng" algn="ctr">
                      <a:solidFill>
                        <a:srgbClr val="D9DEE8"/>
                      </a:solidFill>
                      <a:prstDash val="solid"/>
                      <a:round/>
                      <a:headEnd type="none" w="med" len="med"/>
                      <a:tailEnd type="none" w="med" len="med"/>
                    </a:lnL>
                    <a:lnR w="6350" cap="flat" cmpd="sng" algn="ctr">
                      <a:solidFill>
                        <a:srgbClr val="D9DEE8"/>
                      </a:solidFill>
                      <a:prstDash val="solid"/>
                      <a:round/>
                      <a:headEnd type="none" w="med" len="med"/>
                      <a:tailEnd type="none" w="med" len="med"/>
                    </a:lnR>
                    <a:lnT w="6350" cap="flat" cmpd="sng" algn="ctr">
                      <a:solidFill>
                        <a:srgbClr val="D9DEE8"/>
                      </a:solidFill>
                      <a:prstDash val="solid"/>
                      <a:round/>
                      <a:headEnd type="none" w="med" len="med"/>
                      <a:tailEnd type="none" w="med" len="med"/>
                    </a:lnT>
                    <a:lnB w="6350" cap="flat" cmpd="sng" algn="ctr">
                      <a:solidFill>
                        <a:srgbClr val="D9DEE8"/>
                      </a:solidFill>
                      <a:prstDash val="solid"/>
                      <a:round/>
                      <a:headEnd type="none" w="med" len="med"/>
                      <a:tailEnd type="none" w="med" len="med"/>
                    </a:lnB>
                    <a:solidFill>
                      <a:srgbClr val="F1F4F9"/>
                    </a:solidFill>
                  </a:tcPr>
                </a:tc>
                <a:tc>
                  <a:txBody>
                    <a:bodyPr/>
                    <a:lstStyle/>
                    <a:p>
                      <a:pPr marL="0" indent="0" algn="ctr">
                        <a:buNone/>
                      </a:pPr>
                      <a:r>
                        <a:rPr lang="en-US" sz="1250" dirty="0">
                          <a:solidFill>
                            <a:srgbClr val="1A2238"/>
                          </a:solidFill>
                        </a:rPr>
                        <a:t>67.4%</a:t>
                      </a:r>
                      <a:endParaRPr lang="en-US" sz="1250" dirty="0"/>
                    </a:p>
                  </a:txBody>
                  <a:tcPr>
                    <a:lnL w="6350" cap="flat" cmpd="sng" algn="ctr">
                      <a:solidFill>
                        <a:srgbClr val="D9DEE8"/>
                      </a:solidFill>
                      <a:prstDash val="solid"/>
                      <a:round/>
                      <a:headEnd type="none" w="med" len="med"/>
                      <a:tailEnd type="none" w="med" len="med"/>
                    </a:lnL>
                    <a:lnR w="6350" cap="flat" cmpd="sng" algn="ctr">
                      <a:solidFill>
                        <a:srgbClr val="D9DEE8"/>
                      </a:solidFill>
                      <a:prstDash val="solid"/>
                      <a:round/>
                      <a:headEnd type="none" w="med" len="med"/>
                      <a:tailEnd type="none" w="med" len="med"/>
                    </a:lnR>
                    <a:lnT w="6350" cap="flat" cmpd="sng" algn="ctr">
                      <a:solidFill>
                        <a:srgbClr val="D9DEE8"/>
                      </a:solidFill>
                      <a:prstDash val="solid"/>
                      <a:round/>
                      <a:headEnd type="none" w="med" len="med"/>
                      <a:tailEnd type="none" w="med" len="med"/>
                    </a:lnT>
                    <a:lnB w="6350" cap="flat" cmpd="sng" algn="ctr">
                      <a:solidFill>
                        <a:srgbClr val="D9DEE8"/>
                      </a:solidFill>
                      <a:prstDash val="solid"/>
                      <a:round/>
                      <a:headEnd type="none" w="med" len="med"/>
                      <a:tailEnd type="none" w="med" len="med"/>
                    </a:lnB>
                    <a:solidFill>
                      <a:srgbClr val="F1F4F9"/>
                    </a:solidFill>
                  </a:tcPr>
                </a:tc>
                <a:tc>
                  <a:txBody>
                    <a:bodyPr/>
                    <a:lstStyle/>
                    <a:p>
                      <a:pPr marL="0" indent="0" algn="ctr">
                        <a:buNone/>
                      </a:pPr>
                      <a:r>
                        <a:rPr lang="en-US" sz="1250" b="1" dirty="0">
                          <a:solidFill>
                            <a:srgbClr val="2E7D5B"/>
                          </a:solidFill>
                        </a:rPr>
                        <a:t>Không vanish/explode rõ rệt</a:t>
                      </a:r>
                      <a:endParaRPr lang="en-US" sz="1250" dirty="0"/>
                    </a:p>
                  </a:txBody>
                  <a:tcPr>
                    <a:lnL w="6350" cap="flat" cmpd="sng" algn="ctr">
                      <a:solidFill>
                        <a:srgbClr val="D9DEE8"/>
                      </a:solidFill>
                      <a:prstDash val="solid"/>
                      <a:round/>
                      <a:headEnd type="none" w="med" len="med"/>
                      <a:tailEnd type="none" w="med" len="med"/>
                    </a:lnL>
                    <a:lnR w="6350" cap="flat" cmpd="sng" algn="ctr">
                      <a:solidFill>
                        <a:srgbClr val="D9DEE8"/>
                      </a:solidFill>
                      <a:prstDash val="solid"/>
                      <a:round/>
                      <a:headEnd type="none" w="med" len="med"/>
                      <a:tailEnd type="none" w="med" len="med"/>
                    </a:lnR>
                    <a:lnT w="6350" cap="flat" cmpd="sng" algn="ctr">
                      <a:solidFill>
                        <a:srgbClr val="D9DEE8"/>
                      </a:solidFill>
                      <a:prstDash val="solid"/>
                      <a:round/>
                      <a:headEnd type="none" w="med" len="med"/>
                      <a:tailEnd type="none" w="med" len="med"/>
                    </a:lnT>
                    <a:lnB w="6350" cap="flat" cmpd="sng" algn="ctr">
                      <a:solidFill>
                        <a:srgbClr val="D9DEE8"/>
                      </a:solidFill>
                      <a:prstDash val="solid"/>
                      <a:round/>
                      <a:headEnd type="none" w="med" len="med"/>
                      <a:tailEnd type="none" w="med" len="med"/>
                    </a:lnB>
                    <a:solidFill>
                      <a:srgbClr val="F1F4F9"/>
                    </a:solidFill>
                  </a:tcPr>
                </a:tc>
                <a:extLst>
                  <a:ext uri="{0D108BD9-81ED-4DB2-BD59-A6C34878D82A}">
                    <a16:rowId xmlns:a16="http://schemas.microsoft.com/office/drawing/2014/main" val="10005"/>
                  </a:ext>
                </a:extLst>
              </a:tr>
            </a:tbl>
          </a:graphicData>
        </a:graphic>
      </p:graphicFrame>
      <p:sp>
        <p:nvSpPr>
          <p:cNvPr id="6" name="Text 3"/>
          <p:cNvSpPr txBox="1"/>
          <p:nvPr/>
        </p:nvSpPr>
        <p:spPr>
          <a:xfrm>
            <a:off x="640080" y="4892040"/>
            <a:ext cx="10911535" cy="640080"/>
          </a:xfrm>
          <a:prstGeom prst="rect">
            <a:avLst/>
          </a:prstGeom>
          <a:noFill/>
          <a:ln/>
        </p:spPr>
        <p:txBody>
          <a:bodyPr wrap="square" lIns="0" tIns="0" rIns="0" bIns="0" rtlCol="0" anchor="ctr"/>
          <a:lstStyle/>
          <a:p>
            <a:pPr marL="0" indent="0">
              <a:buNone/>
            </a:pPr>
            <a:r>
              <a:rPr lang="en-US" sz="1100" i="1" dirty="0">
                <a:solidFill>
                  <a:srgbClr val="5B6478"/>
                </a:solidFill>
                <a:latin typeface="Calibri" pitchFamily="34" charset="0"/>
                <a:ea typeface="Calibri" pitchFamily="34" charset="-122"/>
                <a:cs typeface="Calibri" pitchFamily="34" charset="-120"/>
              </a:rPr>
              <a:t>Số liệu lấy nguyên văn từ results/tables/deep_demo_summary.csv — không làm tròn để "đẹp bảng", không có kết quả nào bị bỏ sót. 'Final Train Loss' là train loss trung bình epoch cuối (epoch 15) — không phải validation hay test loss. Xem thêm Activation Variance trong log JSON của từng cấu hình (results/logs/deep_demo_*.json).</a:t>
            </a:r>
            <a:endParaRPr lang="en-US" sz="1100" dirty="0"/>
          </a:p>
        </p:txBody>
      </p:sp>
      <p:sp>
        <p:nvSpPr>
          <p:cNvPr id="7" name="Text 4"/>
          <p:cNvSpPr txBox="1"/>
          <p:nvPr/>
        </p:nvSpPr>
        <p:spPr>
          <a:xfrm>
            <a:off x="11185855" y="6446520"/>
            <a:ext cx="731520" cy="274320"/>
          </a:xfrm>
          <a:prstGeom prst="rect">
            <a:avLst/>
          </a:prstGeom>
          <a:noFill/>
          <a:ln/>
        </p:spPr>
        <p:txBody>
          <a:bodyPr wrap="square" lIns="0" tIns="0" rIns="0" bIns="0" rtlCol="0" anchor="ctr"/>
          <a:lstStyle/>
          <a:p>
            <a:pPr marL="0" indent="0" algn="r">
              <a:buNone/>
            </a:pPr>
            <a:r>
              <a:rPr lang="en-US" sz="900" dirty="0">
                <a:solidFill>
                  <a:srgbClr val="5B6478"/>
                </a:solidFill>
                <a:latin typeface="Calibri" pitchFamily="34" charset="0"/>
                <a:ea typeface="Calibri" pitchFamily="34" charset="-122"/>
                <a:cs typeface="Calibri" pitchFamily="34" charset="-120"/>
              </a:rPr>
              <a:t>23/26</a:t>
            </a:r>
            <a:endParaRPr lang="en-US" sz="900" dirty="0"/>
          </a:p>
        </p:txBody>
      </p:sp>
      <p:sp>
        <p:nvSpPr>
          <p:cNvPr id="8" name="Shape 5"/>
          <p:cNvSpPr/>
          <p:nvPr/>
        </p:nvSpPr>
        <p:spPr>
          <a:xfrm>
            <a:off x="610362" y="6473952"/>
            <a:ext cx="59436" cy="59436"/>
          </a:xfrm>
          <a:prstGeom prst="ellipse">
            <a:avLst/>
          </a:prstGeom>
          <a:solidFill>
            <a:srgbClr val="D9DEE8"/>
          </a:solidFill>
          <a:ln/>
        </p:spPr>
      </p:sp>
      <p:sp>
        <p:nvSpPr>
          <p:cNvPr id="9" name="Shape 6"/>
          <p:cNvSpPr/>
          <p:nvPr/>
        </p:nvSpPr>
        <p:spPr>
          <a:xfrm>
            <a:off x="829818" y="6473952"/>
            <a:ext cx="59436" cy="59436"/>
          </a:xfrm>
          <a:prstGeom prst="ellipse">
            <a:avLst/>
          </a:prstGeom>
          <a:solidFill>
            <a:srgbClr val="D9DEE8"/>
          </a:solidFill>
          <a:ln/>
        </p:spPr>
      </p:sp>
      <p:sp>
        <p:nvSpPr>
          <p:cNvPr id="10" name="Shape 7"/>
          <p:cNvSpPr/>
          <p:nvPr/>
        </p:nvSpPr>
        <p:spPr>
          <a:xfrm>
            <a:off x="1034415" y="6459093"/>
            <a:ext cx="89154" cy="89154"/>
          </a:xfrm>
          <a:prstGeom prst="ellipse">
            <a:avLst/>
          </a:prstGeom>
          <a:solidFill>
            <a:srgbClr val="285AB4"/>
          </a:solidFill>
          <a:ln/>
        </p:spPr>
      </p:sp>
      <p:sp>
        <p:nvSpPr>
          <p:cNvPr id="11" name="Shape 8"/>
          <p:cNvSpPr/>
          <p:nvPr/>
        </p:nvSpPr>
        <p:spPr>
          <a:xfrm>
            <a:off x="1268730" y="6473952"/>
            <a:ext cx="59436" cy="59436"/>
          </a:xfrm>
          <a:prstGeom prst="ellipse">
            <a:avLst/>
          </a:prstGeom>
          <a:solidFill>
            <a:srgbClr val="D9DEE8"/>
          </a:solidFill>
          <a:ln/>
        </p:spPr>
      </p:sp>
      <p:sp>
        <p:nvSpPr>
          <p:cNvPr id="12" name="Text 9"/>
          <p:cNvSpPr txBox="1"/>
          <p:nvPr/>
        </p:nvSpPr>
        <p:spPr>
          <a:xfrm>
            <a:off x="1563624" y="6391656"/>
            <a:ext cx="3291840" cy="274320"/>
          </a:xfrm>
          <a:prstGeom prst="rect">
            <a:avLst/>
          </a:prstGeom>
          <a:noFill/>
          <a:ln/>
        </p:spPr>
        <p:txBody>
          <a:bodyPr wrap="square" lIns="0" tIns="0" rIns="0" bIns="0" rtlCol="0" anchor="ctr"/>
          <a:lstStyle/>
          <a:p>
            <a:pPr marL="0" indent="0">
              <a:buNone/>
            </a:pPr>
            <a:r>
              <a:rPr lang="en-US" sz="850" kern="0" spc="50" dirty="0">
                <a:solidFill>
                  <a:srgbClr val="5B6478"/>
                </a:solidFill>
                <a:latin typeface="Calibri" pitchFamily="34" charset="0"/>
                <a:ea typeface="Calibri" pitchFamily="34" charset="-122"/>
                <a:cs typeface="Calibri" pitchFamily="34" charset="-120"/>
              </a:rPr>
              <a:t>EXPERIMENT</a:t>
            </a:r>
            <a:endParaRPr lang="en-US" sz="85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txBox="1"/>
          <p:nvPr/>
        </p:nvSpPr>
        <p:spPr>
          <a:xfrm>
            <a:off x="640080" y="457200"/>
            <a:ext cx="9144000" cy="320040"/>
          </a:xfrm>
          <a:prstGeom prst="rect">
            <a:avLst/>
          </a:prstGeom>
          <a:noFill/>
          <a:ln/>
        </p:spPr>
        <p:txBody>
          <a:bodyPr wrap="square" lIns="0" tIns="0" rIns="0" bIns="0" rtlCol="0" anchor="ctr"/>
          <a:lstStyle/>
          <a:p>
            <a:pPr marL="0" indent="0">
              <a:buNone/>
            </a:pPr>
            <a:r>
              <a:rPr lang="en-US" sz="1300" b="1" kern="0" spc="100" dirty="0">
                <a:solidFill>
                  <a:srgbClr val="285AB4"/>
                </a:solidFill>
                <a:latin typeface="Calibri" pitchFamily="34" charset="0"/>
                <a:ea typeface="Calibri" pitchFamily="34" charset="-122"/>
                <a:cs typeface="Calibri" pitchFamily="34" charset="-120"/>
              </a:rPr>
              <a:t>TRUNG THỰC KHOA HỌC</a:t>
            </a:r>
            <a:endParaRPr lang="en-US" sz="1300" dirty="0"/>
          </a:p>
        </p:txBody>
      </p:sp>
      <p:sp>
        <p:nvSpPr>
          <p:cNvPr id="3" name="Text 1"/>
          <p:cNvSpPr txBox="1"/>
          <p:nvPr/>
        </p:nvSpPr>
        <p:spPr>
          <a:xfrm>
            <a:off x="640080" y="749808"/>
            <a:ext cx="10911535" cy="822960"/>
          </a:xfrm>
          <a:prstGeom prst="rect">
            <a:avLst/>
          </a:prstGeom>
          <a:noFill/>
          <a:ln/>
        </p:spPr>
        <p:txBody>
          <a:bodyPr wrap="square" lIns="0" tIns="0" rIns="0" bIns="0" rtlCol="0" anchor="t"/>
          <a:lstStyle/>
          <a:p>
            <a:pPr marL="0" indent="0">
              <a:buNone/>
            </a:pPr>
            <a:r>
              <a:rPr lang="en-US" sz="2800" b="1" dirty="0">
                <a:solidFill>
                  <a:srgbClr val="1A2238"/>
                </a:solidFill>
                <a:latin typeface="Cambria" pitchFamily="34" charset="0"/>
                <a:ea typeface="Cambria" pitchFamily="34" charset="-122"/>
                <a:cs typeface="Cambria" pitchFamily="34" charset="-120"/>
              </a:rPr>
              <a:t>Limitations</a:t>
            </a:r>
            <a:endParaRPr lang="en-US" sz="2800" dirty="0"/>
          </a:p>
        </p:txBody>
      </p:sp>
      <p:sp>
        <p:nvSpPr>
          <p:cNvPr id="4" name="Text 2"/>
          <p:cNvSpPr txBox="1"/>
          <p:nvPr/>
        </p:nvSpPr>
        <p:spPr>
          <a:xfrm>
            <a:off x="640080" y="2011680"/>
            <a:ext cx="10911535" cy="4206240"/>
          </a:xfrm>
          <a:prstGeom prst="rect">
            <a:avLst/>
          </a:prstGeom>
          <a:noFill/>
          <a:ln/>
        </p:spPr>
        <p:txBody>
          <a:bodyPr wrap="square" lIns="0" tIns="0" rIns="0" bIns="0" rtlCol="0" anchor="t"/>
          <a:lstStyle/>
          <a:p>
            <a:pPr marL="228600" indent="-228600">
              <a:spcAft>
                <a:spcPts val="1400"/>
              </a:spcAft>
              <a:buSzPct val="100000"/>
              <a:buChar char="▪"/>
            </a:pPr>
            <a:r>
              <a:rPr lang="en-US" sz="1900" dirty="0">
                <a:solidFill>
                  <a:srgbClr val="1A2238"/>
                </a:solidFill>
                <a:latin typeface="Calibri" pitchFamily="34" charset="0"/>
                <a:ea typeface="Calibri" pitchFamily="34" charset="-122"/>
                <a:cs typeface="Calibri" pitchFamily="34" charset="-120"/>
              </a:rPr>
              <a:t>Dataset subset (5k / 1k / 2k)</a:t>
            </a:r>
            <a:endParaRPr lang="en-US" sz="1900" dirty="0"/>
          </a:p>
          <a:p>
            <a:pPr marL="228600" indent="-228600">
              <a:spcAft>
                <a:spcPts val="1400"/>
              </a:spcAft>
              <a:buSzPct val="100000"/>
              <a:buChar char="▪"/>
            </a:pPr>
            <a:r>
              <a:rPr lang="en-US" sz="1900" dirty="0">
                <a:solidFill>
                  <a:srgbClr val="1A2238"/>
                </a:solidFill>
                <a:latin typeface="Calibri" pitchFamily="34" charset="0"/>
                <a:ea typeface="Calibri" pitchFamily="34" charset="-122"/>
                <a:cs typeface="Calibri" pitchFamily="34" charset="-120"/>
              </a:rPr>
              <a:t>MLP + ReLU</a:t>
            </a:r>
            <a:endParaRPr lang="en-US" sz="1900" dirty="0"/>
          </a:p>
          <a:p>
            <a:pPr marL="228600" indent="-228600">
              <a:spcAft>
                <a:spcPts val="1400"/>
              </a:spcAft>
              <a:buSzPct val="100000"/>
              <a:buChar char="▪"/>
            </a:pPr>
            <a:r>
              <a:rPr lang="en-US" sz="1900" dirty="0">
                <a:solidFill>
                  <a:srgbClr val="1A2238"/>
                </a:solidFill>
                <a:latin typeface="Calibri" pitchFamily="34" charset="0"/>
                <a:ea typeface="Calibri" pitchFamily="34" charset="-122"/>
                <a:cs typeface="Calibri" pitchFamily="34" charset="-120"/>
              </a:rPr>
              <a:t>SGD, lr cố định</a:t>
            </a:r>
            <a:endParaRPr lang="en-US" sz="1900" dirty="0"/>
          </a:p>
          <a:p>
            <a:pPr marL="228600" indent="-228600">
              <a:spcAft>
                <a:spcPts val="1400"/>
              </a:spcAft>
              <a:buSzPct val="100000"/>
              <a:buChar char="▪"/>
            </a:pPr>
            <a:r>
              <a:rPr lang="en-US" sz="1900" dirty="0">
                <a:solidFill>
                  <a:srgbClr val="1A2238"/>
                </a:solidFill>
                <a:latin typeface="Calibri" pitchFamily="34" charset="0"/>
                <a:ea typeface="Calibri" pitchFamily="34" charset="-122"/>
                <a:cs typeface="Calibri" pitchFamily="34" charset="-120"/>
              </a:rPr>
              <a:t>Limited seeds (Xavier/He n = 5; còn lại 1)</a:t>
            </a:r>
            <a:endParaRPr lang="en-US" sz="1900" dirty="0"/>
          </a:p>
          <a:p>
            <a:pPr marL="228600" indent="-228600">
              <a:spcAft>
                <a:spcPts val="1400"/>
              </a:spcAft>
              <a:buSzPct val="100000"/>
              <a:buChar char="▪"/>
            </a:pPr>
            <a:r>
              <a:rPr lang="en-US" sz="1900" dirty="0">
                <a:solidFill>
                  <a:srgbClr val="1A2238"/>
                </a:solidFill>
                <a:latin typeface="Calibri" pitchFamily="34" charset="0"/>
                <a:ea typeface="Calibri" pitchFamily="34" charset="-122"/>
                <a:cs typeface="Calibri" pitchFamily="34" charset="-120"/>
              </a:rPr>
              <a:t>Mạng &gt; 50 lớp ngày nay: Initialization + Residual (skip) + Normalization (LayerNorm / BatchNorm) để kiểm soát gradient flow</a:t>
            </a:r>
            <a:endParaRPr lang="en-US" sz="1900" dirty="0"/>
          </a:p>
        </p:txBody>
      </p:sp>
      <p:sp>
        <p:nvSpPr>
          <p:cNvPr id="5" name="Text 3"/>
          <p:cNvSpPr txBox="1"/>
          <p:nvPr/>
        </p:nvSpPr>
        <p:spPr>
          <a:xfrm>
            <a:off x="11185855" y="6446520"/>
            <a:ext cx="731520" cy="274320"/>
          </a:xfrm>
          <a:prstGeom prst="rect">
            <a:avLst/>
          </a:prstGeom>
          <a:noFill/>
          <a:ln/>
        </p:spPr>
        <p:txBody>
          <a:bodyPr wrap="square" lIns="0" tIns="0" rIns="0" bIns="0" rtlCol="0" anchor="ctr"/>
          <a:lstStyle/>
          <a:p>
            <a:pPr marL="0" indent="0" algn="r">
              <a:buNone/>
            </a:pPr>
            <a:r>
              <a:rPr lang="en-US" sz="900" dirty="0">
                <a:solidFill>
                  <a:srgbClr val="5B6478"/>
                </a:solidFill>
                <a:latin typeface="Calibri" pitchFamily="34" charset="0"/>
                <a:ea typeface="Calibri" pitchFamily="34" charset="-122"/>
                <a:cs typeface="Calibri" pitchFamily="34" charset="-120"/>
              </a:rPr>
              <a:t>24/26</a:t>
            </a:r>
            <a:endParaRPr lang="en-US" sz="900" dirty="0"/>
          </a:p>
        </p:txBody>
      </p:sp>
      <p:sp>
        <p:nvSpPr>
          <p:cNvPr id="6" name="Shape 4"/>
          <p:cNvSpPr/>
          <p:nvPr/>
        </p:nvSpPr>
        <p:spPr>
          <a:xfrm>
            <a:off x="610362" y="6473952"/>
            <a:ext cx="59436" cy="59436"/>
          </a:xfrm>
          <a:prstGeom prst="ellipse">
            <a:avLst/>
          </a:prstGeom>
          <a:solidFill>
            <a:srgbClr val="D9DEE8"/>
          </a:solidFill>
          <a:ln/>
        </p:spPr>
      </p:sp>
      <p:sp>
        <p:nvSpPr>
          <p:cNvPr id="7" name="Shape 5"/>
          <p:cNvSpPr/>
          <p:nvPr/>
        </p:nvSpPr>
        <p:spPr>
          <a:xfrm>
            <a:off x="829818" y="6473952"/>
            <a:ext cx="59436" cy="59436"/>
          </a:xfrm>
          <a:prstGeom prst="ellipse">
            <a:avLst/>
          </a:prstGeom>
          <a:solidFill>
            <a:srgbClr val="D9DEE8"/>
          </a:solidFill>
          <a:ln/>
        </p:spPr>
      </p:sp>
      <p:sp>
        <p:nvSpPr>
          <p:cNvPr id="8" name="Shape 6"/>
          <p:cNvSpPr/>
          <p:nvPr/>
        </p:nvSpPr>
        <p:spPr>
          <a:xfrm>
            <a:off x="1049274" y="6473952"/>
            <a:ext cx="59436" cy="59436"/>
          </a:xfrm>
          <a:prstGeom prst="ellipse">
            <a:avLst/>
          </a:prstGeom>
          <a:solidFill>
            <a:srgbClr val="D9DEE8"/>
          </a:solidFill>
          <a:ln/>
        </p:spPr>
      </p:sp>
      <p:sp>
        <p:nvSpPr>
          <p:cNvPr id="9" name="Shape 7"/>
          <p:cNvSpPr/>
          <p:nvPr/>
        </p:nvSpPr>
        <p:spPr>
          <a:xfrm>
            <a:off x="1253871" y="6459093"/>
            <a:ext cx="89154" cy="89154"/>
          </a:xfrm>
          <a:prstGeom prst="ellipse">
            <a:avLst/>
          </a:prstGeom>
          <a:solidFill>
            <a:srgbClr val="285AB4"/>
          </a:solidFill>
          <a:ln/>
        </p:spPr>
      </p:sp>
      <p:sp>
        <p:nvSpPr>
          <p:cNvPr id="10" name="Text 8"/>
          <p:cNvSpPr txBox="1"/>
          <p:nvPr/>
        </p:nvSpPr>
        <p:spPr>
          <a:xfrm>
            <a:off x="1563624" y="6391656"/>
            <a:ext cx="3291840" cy="274320"/>
          </a:xfrm>
          <a:prstGeom prst="rect">
            <a:avLst/>
          </a:prstGeom>
          <a:noFill/>
          <a:ln/>
        </p:spPr>
        <p:txBody>
          <a:bodyPr wrap="square" lIns="0" tIns="0" rIns="0" bIns="0" rtlCol="0" anchor="ctr"/>
          <a:lstStyle/>
          <a:p>
            <a:pPr marL="0" indent="0">
              <a:buNone/>
            </a:pPr>
            <a:r>
              <a:rPr lang="en-US" sz="850" kern="0" spc="50" dirty="0">
                <a:solidFill>
                  <a:srgbClr val="5B6478"/>
                </a:solidFill>
                <a:latin typeface="Calibri" pitchFamily="34" charset="0"/>
                <a:ea typeface="Calibri" pitchFamily="34" charset="-122"/>
                <a:cs typeface="Calibri" pitchFamily="34" charset="-120"/>
              </a:rPr>
              <a:t>CONCLUSION</a:t>
            </a:r>
            <a:endParaRPr lang="en-US" sz="85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16213E"/>
        </a:solidFill>
        <a:effectLst/>
      </p:bgPr>
    </p:bg>
    <p:spTree>
      <p:nvGrpSpPr>
        <p:cNvPr id="1" name=""/>
        <p:cNvGrpSpPr/>
        <p:nvPr/>
      </p:nvGrpSpPr>
      <p:grpSpPr>
        <a:xfrm>
          <a:off x="0" y="0"/>
          <a:ext cx="0" cy="0"/>
          <a:chOff x="0" y="0"/>
          <a:chExt cx="0" cy="0"/>
        </a:xfrm>
      </p:grpSpPr>
      <p:sp>
        <p:nvSpPr>
          <p:cNvPr id="2" name="Text 0"/>
          <p:cNvSpPr txBox="1"/>
          <p:nvPr/>
        </p:nvSpPr>
        <p:spPr>
          <a:xfrm>
            <a:off x="640080" y="457200"/>
            <a:ext cx="9144000" cy="320040"/>
          </a:xfrm>
          <a:prstGeom prst="rect">
            <a:avLst/>
          </a:prstGeom>
          <a:noFill/>
          <a:ln/>
        </p:spPr>
        <p:txBody>
          <a:bodyPr wrap="square" lIns="0" tIns="0" rIns="0" bIns="0" rtlCol="0" anchor="ctr"/>
          <a:lstStyle/>
          <a:p>
            <a:pPr marL="0" indent="0">
              <a:buNone/>
            </a:pPr>
            <a:r>
              <a:rPr lang="en-US" sz="1300" b="1" kern="0" spc="100" dirty="0">
                <a:solidFill>
                  <a:srgbClr val="8FA3C9"/>
                </a:solidFill>
                <a:latin typeface="Calibri" pitchFamily="34" charset="0"/>
                <a:ea typeface="Calibri" pitchFamily="34" charset="-122"/>
                <a:cs typeface="Calibri" pitchFamily="34" charset="-120"/>
              </a:rPr>
              <a:t>KẾT LUẬN</a:t>
            </a:r>
            <a:endParaRPr lang="en-US" sz="1300" dirty="0"/>
          </a:p>
        </p:txBody>
      </p:sp>
      <p:sp>
        <p:nvSpPr>
          <p:cNvPr id="3" name="Text 1"/>
          <p:cNvSpPr txBox="1"/>
          <p:nvPr/>
        </p:nvSpPr>
        <p:spPr>
          <a:xfrm>
            <a:off x="640080" y="777240"/>
            <a:ext cx="10911535" cy="310896"/>
          </a:xfrm>
          <a:prstGeom prst="rect">
            <a:avLst/>
          </a:prstGeom>
          <a:noFill/>
          <a:ln/>
        </p:spPr>
        <p:txBody>
          <a:bodyPr wrap="square" lIns="0" tIns="0" rIns="0" bIns="0" rtlCol="0" anchor="ctr"/>
          <a:lstStyle/>
          <a:p>
            <a:pPr marL="0" indent="0" algn="ctr">
              <a:buNone/>
            </a:pPr>
            <a:r>
              <a:rPr lang="en-US" sz="1450" dirty="0">
                <a:solidFill>
                  <a:srgbClr val="E7ECF6"/>
                </a:solidFill>
                <a:latin typeface="Cambria" pitchFamily="34" charset="0"/>
                <a:ea typeface="Cambria" pitchFamily="34" charset="-122"/>
                <a:cs typeface="Cambria" pitchFamily="34" charset="-120"/>
              </a:rPr>
              <a:t>Derivative</a:t>
            </a:r>
            <a:endParaRPr lang="en-US" sz="1450" dirty="0"/>
          </a:p>
        </p:txBody>
      </p:sp>
      <p:sp>
        <p:nvSpPr>
          <p:cNvPr id="4" name="Text 2"/>
          <p:cNvSpPr txBox="1"/>
          <p:nvPr/>
        </p:nvSpPr>
        <p:spPr>
          <a:xfrm>
            <a:off x="640080" y="1069848"/>
            <a:ext cx="10911535" cy="182880"/>
          </a:xfrm>
          <a:prstGeom prst="rect">
            <a:avLst/>
          </a:prstGeom>
          <a:noFill/>
          <a:ln/>
        </p:spPr>
        <p:txBody>
          <a:bodyPr wrap="square" lIns="0" tIns="0" rIns="0" bIns="0" rtlCol="0" anchor="ctr"/>
          <a:lstStyle/>
          <a:p>
            <a:pPr marL="0" indent="0" algn="ctr">
              <a:buNone/>
            </a:pPr>
            <a:r>
              <a:rPr lang="en-US" sz="1200" dirty="0">
                <a:solidFill>
                  <a:srgbClr val="6FA3E0"/>
                </a:solidFill>
              </a:rPr>
              <a:t>↓</a:t>
            </a:r>
            <a:endParaRPr lang="en-US" sz="1200" dirty="0"/>
          </a:p>
        </p:txBody>
      </p:sp>
      <p:sp>
        <p:nvSpPr>
          <p:cNvPr id="5" name="Text 3"/>
          <p:cNvSpPr txBox="1"/>
          <p:nvPr/>
        </p:nvSpPr>
        <p:spPr>
          <a:xfrm>
            <a:off x="640080" y="1271016"/>
            <a:ext cx="10911535" cy="310896"/>
          </a:xfrm>
          <a:prstGeom prst="rect">
            <a:avLst/>
          </a:prstGeom>
          <a:noFill/>
          <a:ln/>
        </p:spPr>
        <p:txBody>
          <a:bodyPr wrap="square" lIns="0" tIns="0" rIns="0" bIns="0" rtlCol="0" anchor="ctr"/>
          <a:lstStyle/>
          <a:p>
            <a:pPr marL="0" indent="0" algn="ctr">
              <a:buNone/>
            </a:pPr>
            <a:r>
              <a:rPr lang="en-US" sz="1450" dirty="0">
                <a:solidFill>
                  <a:srgbClr val="E7ECF6"/>
                </a:solidFill>
                <a:latin typeface="Cambria" pitchFamily="34" charset="0"/>
                <a:ea typeface="Cambria" pitchFamily="34" charset="-122"/>
                <a:cs typeface="Cambria" pitchFamily="34" charset="-120"/>
              </a:rPr>
              <a:t>Chain Rule</a:t>
            </a:r>
            <a:endParaRPr lang="en-US" sz="1450" dirty="0"/>
          </a:p>
        </p:txBody>
      </p:sp>
      <p:sp>
        <p:nvSpPr>
          <p:cNvPr id="6" name="Text 4"/>
          <p:cNvSpPr txBox="1"/>
          <p:nvPr/>
        </p:nvSpPr>
        <p:spPr>
          <a:xfrm>
            <a:off x="640080" y="1563624"/>
            <a:ext cx="10911535" cy="182880"/>
          </a:xfrm>
          <a:prstGeom prst="rect">
            <a:avLst/>
          </a:prstGeom>
          <a:noFill/>
          <a:ln/>
        </p:spPr>
        <p:txBody>
          <a:bodyPr wrap="square" lIns="0" tIns="0" rIns="0" bIns="0" rtlCol="0" anchor="ctr"/>
          <a:lstStyle/>
          <a:p>
            <a:pPr marL="0" indent="0" algn="ctr">
              <a:buNone/>
            </a:pPr>
            <a:r>
              <a:rPr lang="en-US" sz="1200" dirty="0">
                <a:solidFill>
                  <a:srgbClr val="6FA3E0"/>
                </a:solidFill>
              </a:rPr>
              <a:t>↓</a:t>
            </a:r>
            <a:endParaRPr lang="en-US" sz="1200" dirty="0"/>
          </a:p>
        </p:txBody>
      </p:sp>
      <p:sp>
        <p:nvSpPr>
          <p:cNvPr id="7" name="Text 5"/>
          <p:cNvSpPr txBox="1"/>
          <p:nvPr/>
        </p:nvSpPr>
        <p:spPr>
          <a:xfrm>
            <a:off x="640080" y="1764792"/>
            <a:ext cx="10911535" cy="310896"/>
          </a:xfrm>
          <a:prstGeom prst="rect">
            <a:avLst/>
          </a:prstGeom>
          <a:noFill/>
          <a:ln/>
        </p:spPr>
        <p:txBody>
          <a:bodyPr wrap="square" lIns="0" tIns="0" rIns="0" bIns="0" rtlCol="0" anchor="ctr"/>
          <a:lstStyle/>
          <a:p>
            <a:pPr marL="0" indent="0" algn="ctr">
              <a:buNone/>
            </a:pPr>
            <a:r>
              <a:rPr lang="en-US" sz="1450" dirty="0">
                <a:solidFill>
                  <a:srgbClr val="E7ECF6"/>
                </a:solidFill>
                <a:latin typeface="Cambria" pitchFamily="34" charset="0"/>
                <a:ea typeface="Cambria" pitchFamily="34" charset="-122"/>
                <a:cs typeface="Cambria" pitchFamily="34" charset="-120"/>
              </a:rPr>
              <a:t>Backpropagation</a:t>
            </a:r>
            <a:endParaRPr lang="en-US" sz="1450" dirty="0"/>
          </a:p>
        </p:txBody>
      </p:sp>
      <p:sp>
        <p:nvSpPr>
          <p:cNvPr id="8" name="Text 6"/>
          <p:cNvSpPr txBox="1"/>
          <p:nvPr/>
        </p:nvSpPr>
        <p:spPr>
          <a:xfrm>
            <a:off x="640080" y="2057400"/>
            <a:ext cx="10911535" cy="182880"/>
          </a:xfrm>
          <a:prstGeom prst="rect">
            <a:avLst/>
          </a:prstGeom>
          <a:noFill/>
          <a:ln/>
        </p:spPr>
        <p:txBody>
          <a:bodyPr wrap="square" lIns="0" tIns="0" rIns="0" bIns="0" rtlCol="0" anchor="ctr"/>
          <a:lstStyle/>
          <a:p>
            <a:pPr marL="0" indent="0" algn="ctr">
              <a:buNone/>
            </a:pPr>
            <a:r>
              <a:rPr lang="en-US" sz="1200" dirty="0">
                <a:solidFill>
                  <a:srgbClr val="6FA3E0"/>
                </a:solidFill>
              </a:rPr>
              <a:t>↓</a:t>
            </a:r>
            <a:endParaRPr lang="en-US" sz="1200" dirty="0"/>
          </a:p>
        </p:txBody>
      </p:sp>
      <p:sp>
        <p:nvSpPr>
          <p:cNvPr id="9" name="Text 7"/>
          <p:cNvSpPr txBox="1"/>
          <p:nvPr/>
        </p:nvSpPr>
        <p:spPr>
          <a:xfrm>
            <a:off x="640080" y="2258568"/>
            <a:ext cx="10911535" cy="310896"/>
          </a:xfrm>
          <a:prstGeom prst="rect">
            <a:avLst/>
          </a:prstGeom>
          <a:noFill/>
          <a:ln/>
        </p:spPr>
        <p:txBody>
          <a:bodyPr wrap="square" lIns="0" tIns="0" rIns="0" bIns="0" rtlCol="0" anchor="ctr"/>
          <a:lstStyle/>
          <a:p>
            <a:pPr marL="0" indent="0" algn="ctr">
              <a:buNone/>
            </a:pPr>
            <a:r>
              <a:rPr lang="en-US" sz="1450" dirty="0">
                <a:solidFill>
                  <a:srgbClr val="E7ECF6"/>
                </a:solidFill>
                <a:latin typeface="Cambria" pitchFamily="34" charset="0"/>
                <a:ea typeface="Cambria" pitchFamily="34" charset="-122"/>
                <a:cs typeface="Cambria" pitchFamily="34" charset="-120"/>
              </a:rPr>
              <a:t>Gradient Flow</a:t>
            </a:r>
            <a:endParaRPr lang="en-US" sz="1450" dirty="0"/>
          </a:p>
        </p:txBody>
      </p:sp>
      <p:sp>
        <p:nvSpPr>
          <p:cNvPr id="10" name="Text 8"/>
          <p:cNvSpPr txBox="1"/>
          <p:nvPr/>
        </p:nvSpPr>
        <p:spPr>
          <a:xfrm>
            <a:off x="640080" y="2551176"/>
            <a:ext cx="10911535" cy="182880"/>
          </a:xfrm>
          <a:prstGeom prst="rect">
            <a:avLst/>
          </a:prstGeom>
          <a:noFill/>
          <a:ln/>
        </p:spPr>
        <p:txBody>
          <a:bodyPr wrap="square" lIns="0" tIns="0" rIns="0" bIns="0" rtlCol="0" anchor="ctr"/>
          <a:lstStyle/>
          <a:p>
            <a:pPr marL="0" indent="0" algn="ctr">
              <a:buNone/>
            </a:pPr>
            <a:r>
              <a:rPr lang="en-US" sz="1200" dirty="0">
                <a:solidFill>
                  <a:srgbClr val="6FA3E0"/>
                </a:solidFill>
              </a:rPr>
              <a:t>↓</a:t>
            </a:r>
            <a:endParaRPr lang="en-US" sz="1200" dirty="0"/>
          </a:p>
        </p:txBody>
      </p:sp>
      <p:sp>
        <p:nvSpPr>
          <p:cNvPr id="11" name="Text 9"/>
          <p:cNvSpPr txBox="1"/>
          <p:nvPr/>
        </p:nvSpPr>
        <p:spPr>
          <a:xfrm>
            <a:off x="640080" y="2752344"/>
            <a:ext cx="10911535" cy="310896"/>
          </a:xfrm>
          <a:prstGeom prst="rect">
            <a:avLst/>
          </a:prstGeom>
          <a:noFill/>
          <a:ln/>
        </p:spPr>
        <p:txBody>
          <a:bodyPr wrap="square" lIns="0" tIns="0" rIns="0" bIns="0" rtlCol="0" anchor="ctr"/>
          <a:lstStyle/>
          <a:p>
            <a:pPr marL="0" indent="0" algn="ctr">
              <a:buNone/>
            </a:pPr>
            <a:r>
              <a:rPr lang="en-US" sz="1450" dirty="0">
                <a:solidFill>
                  <a:srgbClr val="E7ECF6"/>
                </a:solidFill>
                <a:latin typeface="Cambria" pitchFamily="34" charset="0"/>
                <a:ea typeface="Cambria" pitchFamily="34" charset="-122"/>
                <a:cs typeface="Cambria" pitchFamily="34" charset="-120"/>
              </a:rPr>
              <a:t>Vanishing / Exploding Gradient</a:t>
            </a:r>
            <a:endParaRPr lang="en-US" sz="1450" dirty="0"/>
          </a:p>
        </p:txBody>
      </p:sp>
      <p:sp>
        <p:nvSpPr>
          <p:cNvPr id="12" name="Text 10"/>
          <p:cNvSpPr txBox="1"/>
          <p:nvPr/>
        </p:nvSpPr>
        <p:spPr>
          <a:xfrm>
            <a:off x="640080" y="3044952"/>
            <a:ext cx="10911535" cy="182880"/>
          </a:xfrm>
          <a:prstGeom prst="rect">
            <a:avLst/>
          </a:prstGeom>
          <a:noFill/>
          <a:ln/>
        </p:spPr>
        <p:txBody>
          <a:bodyPr wrap="square" lIns="0" tIns="0" rIns="0" bIns="0" rtlCol="0" anchor="ctr"/>
          <a:lstStyle/>
          <a:p>
            <a:pPr marL="0" indent="0" algn="ctr">
              <a:buNone/>
            </a:pPr>
            <a:r>
              <a:rPr lang="en-US" sz="1200" dirty="0">
                <a:solidFill>
                  <a:srgbClr val="6FA3E0"/>
                </a:solidFill>
              </a:rPr>
              <a:t>↓</a:t>
            </a:r>
            <a:endParaRPr lang="en-US" sz="1200" dirty="0"/>
          </a:p>
        </p:txBody>
      </p:sp>
      <p:sp>
        <p:nvSpPr>
          <p:cNvPr id="13" name="Text 11"/>
          <p:cNvSpPr txBox="1"/>
          <p:nvPr/>
        </p:nvSpPr>
        <p:spPr>
          <a:xfrm>
            <a:off x="640080" y="3246120"/>
            <a:ext cx="10911535" cy="310896"/>
          </a:xfrm>
          <a:prstGeom prst="rect">
            <a:avLst/>
          </a:prstGeom>
          <a:noFill/>
          <a:ln/>
        </p:spPr>
        <p:txBody>
          <a:bodyPr wrap="square" lIns="0" tIns="0" rIns="0" bIns="0" rtlCol="0" anchor="ctr"/>
          <a:lstStyle/>
          <a:p>
            <a:pPr marL="0" indent="0" algn="ctr">
              <a:buNone/>
            </a:pPr>
            <a:r>
              <a:rPr lang="en-US" sz="1450" dirty="0">
                <a:solidFill>
                  <a:srgbClr val="E7ECF6"/>
                </a:solidFill>
                <a:latin typeface="Cambria" pitchFamily="34" charset="0"/>
                <a:ea typeface="Cambria" pitchFamily="34" charset="-122"/>
                <a:cs typeface="Cambria" pitchFamily="34" charset="-120"/>
              </a:rPr>
              <a:t>Parameter Initialization</a:t>
            </a:r>
            <a:endParaRPr lang="en-US" sz="1450" dirty="0"/>
          </a:p>
        </p:txBody>
      </p:sp>
      <p:sp>
        <p:nvSpPr>
          <p:cNvPr id="14" name="Text 12"/>
          <p:cNvSpPr txBox="1"/>
          <p:nvPr/>
        </p:nvSpPr>
        <p:spPr>
          <a:xfrm>
            <a:off x="640080" y="3538728"/>
            <a:ext cx="10911535" cy="182880"/>
          </a:xfrm>
          <a:prstGeom prst="rect">
            <a:avLst/>
          </a:prstGeom>
          <a:noFill/>
          <a:ln/>
        </p:spPr>
        <p:txBody>
          <a:bodyPr wrap="square" lIns="0" tIns="0" rIns="0" bIns="0" rtlCol="0" anchor="ctr"/>
          <a:lstStyle/>
          <a:p>
            <a:pPr marL="0" indent="0" algn="ctr">
              <a:buNone/>
            </a:pPr>
            <a:r>
              <a:rPr lang="en-US" sz="1200" dirty="0">
                <a:solidFill>
                  <a:srgbClr val="6FA3E0"/>
                </a:solidFill>
              </a:rPr>
              <a:t>↓</a:t>
            </a:r>
            <a:endParaRPr lang="en-US" sz="1200" dirty="0"/>
          </a:p>
        </p:txBody>
      </p:sp>
      <p:sp>
        <p:nvSpPr>
          <p:cNvPr id="15" name="Text 13"/>
          <p:cNvSpPr txBox="1"/>
          <p:nvPr/>
        </p:nvSpPr>
        <p:spPr>
          <a:xfrm>
            <a:off x="640080" y="3739896"/>
            <a:ext cx="10911535" cy="310896"/>
          </a:xfrm>
          <a:prstGeom prst="rect">
            <a:avLst/>
          </a:prstGeom>
          <a:noFill/>
          <a:ln/>
        </p:spPr>
        <p:txBody>
          <a:bodyPr wrap="square" lIns="0" tIns="0" rIns="0" bIns="0" rtlCol="0" anchor="ctr"/>
          <a:lstStyle/>
          <a:p>
            <a:pPr marL="0" indent="0" algn="ctr">
              <a:buNone/>
            </a:pPr>
            <a:r>
              <a:rPr lang="en-US" sz="1450" b="1" dirty="0">
                <a:solidFill>
                  <a:srgbClr val="6FA3E0"/>
                </a:solidFill>
                <a:latin typeface="Cambria" pitchFamily="34" charset="0"/>
                <a:ea typeface="Cambria" pitchFamily="34" charset="-122"/>
                <a:cs typeface="Cambria" pitchFamily="34" charset="-120"/>
              </a:rPr>
              <a:t>Stable Training</a:t>
            </a:r>
            <a:endParaRPr lang="en-US" sz="1450" dirty="0"/>
          </a:p>
        </p:txBody>
      </p:sp>
      <p:sp>
        <p:nvSpPr>
          <p:cNvPr id="16" name="Text 14"/>
          <p:cNvSpPr txBox="1"/>
          <p:nvPr/>
        </p:nvSpPr>
        <p:spPr>
          <a:xfrm>
            <a:off x="640080" y="4306824"/>
            <a:ext cx="10911535" cy="777240"/>
          </a:xfrm>
          <a:prstGeom prst="rect">
            <a:avLst/>
          </a:prstGeom>
          <a:noFill/>
          <a:ln/>
        </p:spPr>
        <p:txBody>
          <a:bodyPr wrap="square" lIns="0" tIns="0" rIns="0" bIns="0" rtlCol="0" anchor="ctr"/>
          <a:lstStyle/>
          <a:p>
            <a:pPr marL="0" indent="0">
              <a:buNone/>
            </a:pPr>
            <a:r>
              <a:rPr lang="en-US" sz="1100" b="1" i="1" dirty="0">
                <a:solidFill>
                  <a:srgbClr val="CADCFC"/>
                </a:solidFill>
                <a:latin typeface="Calibri" pitchFamily="34" charset="0"/>
                <a:ea typeface="Calibri" pitchFamily="34" charset="-122"/>
                <a:cs typeface="Calibri" pitchFamily="34" charset="-120"/>
              </a:rPr>
              <a:t>Trả lời câu hỏi nghiên cứu (Slide 2): Initialization quyết định scale khởi đầu của activation (forward) và gradient (backward). Scale sai có thể gây symmetry failure, vanishing, hoặc exploding; các scheme theo fan-in/fan-out như Xavier/He cải thiện đáng kể khả năng huấn luyện được trên MLP sâu đã khảo sát trong project này.</a:t>
            </a:r>
            <a:endParaRPr lang="en-US" sz="1100" dirty="0"/>
          </a:p>
        </p:txBody>
      </p:sp>
      <p:sp>
        <p:nvSpPr>
          <p:cNvPr id="17" name="Text 15"/>
          <p:cNvSpPr txBox="1"/>
          <p:nvPr/>
        </p:nvSpPr>
        <p:spPr>
          <a:xfrm>
            <a:off x="640080" y="5129784"/>
            <a:ext cx="10911535" cy="1737360"/>
          </a:xfrm>
          <a:prstGeom prst="rect">
            <a:avLst/>
          </a:prstGeom>
          <a:noFill/>
          <a:ln/>
        </p:spPr>
        <p:txBody>
          <a:bodyPr wrap="square" lIns="0" tIns="0" rIns="0" bIns="0" rtlCol="0" anchor="t"/>
          <a:lstStyle/>
          <a:p>
            <a:pPr marL="0" indent="0">
              <a:spcAft>
                <a:spcPts val="600"/>
              </a:spcAft>
              <a:buNone/>
            </a:pPr>
            <a:r>
              <a:rPr lang="en-US" sz="1300" dirty="0">
                <a:solidFill>
                  <a:srgbClr val="CADCFC"/>
                </a:solidFill>
                <a:latin typeface="Calibri" pitchFamily="34" charset="0"/>
                <a:ea typeface="Calibri" pitchFamily="34" charset="-122"/>
                <a:cs typeface="Calibri" pitchFamily="34" charset="-120"/>
              </a:rPr>
              <a:t>1. Backprop tính gradient; Gradient Descent dùng gradient để cập nhật.</a:t>
            </a:r>
            <a:endParaRPr lang="en-US" sz="1300" dirty="0"/>
          </a:p>
          <a:p>
            <a:pPr marL="0" indent="0">
              <a:spcAft>
                <a:spcPts val="600"/>
              </a:spcAft>
              <a:buNone/>
            </a:pPr>
            <a:r>
              <a:rPr lang="en-US" sz="1300" dirty="0">
                <a:solidFill>
                  <a:srgbClr val="CADCFC"/>
                </a:solidFill>
                <a:latin typeface="Calibri" pitchFamily="34" charset="0"/>
                <a:ea typeface="Calibri" pitchFamily="34" charset="-122"/>
                <a:cs typeface="Calibri" pitchFamily="34" charset="-120"/>
              </a:rPr>
              <a:t>2. Gradient là tích nhiều Jacobian, nên có thể vanish hoặc explode.</a:t>
            </a:r>
            <a:endParaRPr lang="en-US" sz="1300" dirty="0"/>
          </a:p>
          <a:p>
            <a:pPr marL="0" indent="0">
              <a:spcAft>
                <a:spcPts val="600"/>
              </a:spcAft>
              <a:buNone/>
            </a:pPr>
            <a:r>
              <a:rPr lang="en-US" sz="1300" dirty="0">
                <a:solidFill>
                  <a:srgbClr val="CADCFC"/>
                </a:solidFill>
                <a:latin typeface="Calibri" pitchFamily="34" charset="0"/>
                <a:ea typeface="Calibri" pitchFamily="34" charset="-122"/>
                <a:cs typeface="Calibri" pitchFamily="34" charset="-120"/>
              </a:rPr>
              <a:t>3. Initialization quyết định scale ban đầu của tín hiệu và gradient.</a:t>
            </a:r>
            <a:endParaRPr lang="en-US" sz="1300" dirty="0"/>
          </a:p>
          <a:p>
            <a:pPr marL="0" indent="0">
              <a:spcAft>
                <a:spcPts val="600"/>
              </a:spcAft>
              <a:buNone/>
            </a:pPr>
            <a:r>
              <a:rPr lang="en-US" sz="1300" dirty="0">
                <a:solidFill>
                  <a:srgbClr val="CADCFC"/>
                </a:solidFill>
                <a:latin typeface="Calibri" pitchFamily="34" charset="0"/>
                <a:ea typeface="Calibri" pitchFamily="34" charset="-122"/>
                <a:cs typeface="Calibri" pitchFamily="34" charset="-120"/>
              </a:rPr>
              <a:t>4. Stable gradient ≠ guaranteed generalization.</a:t>
            </a:r>
            <a:endParaRPr lang="en-US" sz="1300" dirty="0"/>
          </a:p>
        </p:txBody>
      </p:sp>
      <p:sp>
        <p:nvSpPr>
          <p:cNvPr id="18" name="Shape 16"/>
          <p:cNvSpPr/>
          <p:nvPr/>
        </p:nvSpPr>
        <p:spPr>
          <a:xfrm>
            <a:off x="610362" y="6473952"/>
            <a:ext cx="59436" cy="59436"/>
          </a:xfrm>
          <a:prstGeom prst="ellipse">
            <a:avLst/>
          </a:prstGeom>
          <a:solidFill>
            <a:srgbClr val="3A4A70"/>
          </a:solidFill>
          <a:ln/>
        </p:spPr>
      </p:sp>
      <p:sp>
        <p:nvSpPr>
          <p:cNvPr id="19" name="Shape 17"/>
          <p:cNvSpPr/>
          <p:nvPr/>
        </p:nvSpPr>
        <p:spPr>
          <a:xfrm>
            <a:off x="829818" y="6473952"/>
            <a:ext cx="59436" cy="59436"/>
          </a:xfrm>
          <a:prstGeom prst="ellipse">
            <a:avLst/>
          </a:prstGeom>
          <a:solidFill>
            <a:srgbClr val="3A4A70"/>
          </a:solidFill>
          <a:ln/>
        </p:spPr>
      </p:sp>
      <p:sp>
        <p:nvSpPr>
          <p:cNvPr id="20" name="Shape 18"/>
          <p:cNvSpPr/>
          <p:nvPr/>
        </p:nvSpPr>
        <p:spPr>
          <a:xfrm>
            <a:off x="1049274" y="6473952"/>
            <a:ext cx="59436" cy="59436"/>
          </a:xfrm>
          <a:prstGeom prst="ellipse">
            <a:avLst/>
          </a:prstGeom>
          <a:solidFill>
            <a:srgbClr val="3A4A70"/>
          </a:solidFill>
          <a:ln/>
        </p:spPr>
      </p:sp>
      <p:sp>
        <p:nvSpPr>
          <p:cNvPr id="21" name="Shape 19"/>
          <p:cNvSpPr/>
          <p:nvPr/>
        </p:nvSpPr>
        <p:spPr>
          <a:xfrm>
            <a:off x="1253871" y="6459093"/>
            <a:ext cx="89154" cy="89154"/>
          </a:xfrm>
          <a:prstGeom prst="ellipse">
            <a:avLst/>
          </a:prstGeom>
          <a:solidFill>
            <a:srgbClr val="6FA3E0"/>
          </a:solidFill>
          <a:ln/>
        </p:spPr>
      </p:sp>
      <p:sp>
        <p:nvSpPr>
          <p:cNvPr id="22" name="Text 20"/>
          <p:cNvSpPr txBox="1"/>
          <p:nvPr/>
        </p:nvSpPr>
        <p:spPr>
          <a:xfrm>
            <a:off x="1563624" y="6391656"/>
            <a:ext cx="3291840" cy="274320"/>
          </a:xfrm>
          <a:prstGeom prst="rect">
            <a:avLst/>
          </a:prstGeom>
          <a:noFill/>
          <a:ln/>
        </p:spPr>
        <p:txBody>
          <a:bodyPr wrap="square" lIns="0" tIns="0" rIns="0" bIns="0" rtlCol="0" anchor="ctr"/>
          <a:lstStyle/>
          <a:p>
            <a:pPr marL="0" indent="0">
              <a:buNone/>
            </a:pPr>
            <a:r>
              <a:rPr lang="en-US" sz="850" kern="0" spc="50" dirty="0">
                <a:solidFill>
                  <a:srgbClr val="6FA3E0"/>
                </a:solidFill>
                <a:latin typeface="Calibri" pitchFamily="34" charset="0"/>
                <a:ea typeface="Calibri" pitchFamily="34" charset="-122"/>
                <a:cs typeface="Calibri" pitchFamily="34" charset="-120"/>
              </a:rPr>
              <a:t>CONCLUSION</a:t>
            </a:r>
            <a:endParaRPr lang="en-US" sz="85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16213E"/>
        </a:solidFill>
        <a:effectLst/>
      </p:bgPr>
    </p:bg>
    <p:spTree>
      <p:nvGrpSpPr>
        <p:cNvPr id="1" name=""/>
        <p:cNvGrpSpPr/>
        <p:nvPr/>
      </p:nvGrpSpPr>
      <p:grpSpPr>
        <a:xfrm>
          <a:off x="0" y="0"/>
          <a:ext cx="0" cy="0"/>
          <a:chOff x="0" y="0"/>
          <a:chExt cx="0" cy="0"/>
        </a:xfrm>
      </p:grpSpPr>
      <p:sp>
        <p:nvSpPr>
          <p:cNvPr id="2" name="Text 0"/>
          <p:cNvSpPr txBox="1"/>
          <p:nvPr/>
        </p:nvSpPr>
        <p:spPr>
          <a:xfrm>
            <a:off x="640080" y="502920"/>
            <a:ext cx="9144000" cy="320040"/>
          </a:xfrm>
          <a:prstGeom prst="rect">
            <a:avLst/>
          </a:prstGeom>
          <a:noFill/>
          <a:ln/>
        </p:spPr>
        <p:txBody>
          <a:bodyPr wrap="square" lIns="0" tIns="0" rIns="0" bIns="0" rtlCol="0" anchor="ctr"/>
          <a:lstStyle/>
          <a:p>
            <a:pPr marL="0" indent="0">
              <a:buNone/>
            </a:pPr>
            <a:r>
              <a:rPr lang="en-US" sz="1300" b="1" kern="0" spc="100" dirty="0">
                <a:solidFill>
                  <a:srgbClr val="8FA3C9"/>
                </a:solidFill>
                <a:latin typeface="Calibri" pitchFamily="34" charset="0"/>
                <a:ea typeface="Calibri" pitchFamily="34" charset="-122"/>
                <a:cs typeface="Calibri" pitchFamily="34" charset="-120"/>
              </a:rPr>
              <a:t>TÀI LIỆU THAM KHẢO</a:t>
            </a:r>
            <a:endParaRPr lang="en-US" sz="1300" dirty="0"/>
          </a:p>
        </p:txBody>
      </p:sp>
      <p:sp>
        <p:nvSpPr>
          <p:cNvPr id="3" name="Text 1"/>
          <p:cNvSpPr txBox="1"/>
          <p:nvPr/>
        </p:nvSpPr>
        <p:spPr>
          <a:xfrm>
            <a:off x="640080" y="914400"/>
            <a:ext cx="10911535" cy="822960"/>
          </a:xfrm>
          <a:prstGeom prst="rect">
            <a:avLst/>
          </a:prstGeom>
          <a:noFill/>
          <a:ln/>
        </p:spPr>
        <p:txBody>
          <a:bodyPr wrap="square" lIns="0" tIns="0" rIns="0" bIns="0" rtlCol="0" anchor="t"/>
          <a:lstStyle/>
          <a:p>
            <a:pPr marL="0" indent="0">
              <a:buNone/>
            </a:pPr>
            <a:r>
              <a:rPr lang="en-US" sz="2900" b="1" dirty="0">
                <a:solidFill>
                  <a:srgbClr val="FFFFFF"/>
                </a:solidFill>
                <a:latin typeface="Cambria" pitchFamily="34" charset="0"/>
                <a:ea typeface="Cambria" pitchFamily="34" charset="-122"/>
                <a:cs typeface="Cambria" pitchFamily="34" charset="-120"/>
              </a:rPr>
              <a:t>References</a:t>
            </a:r>
            <a:endParaRPr lang="en-US" sz="2900" dirty="0"/>
          </a:p>
        </p:txBody>
      </p:sp>
      <p:sp>
        <p:nvSpPr>
          <p:cNvPr id="4" name="Text 2"/>
          <p:cNvSpPr txBox="1"/>
          <p:nvPr/>
        </p:nvSpPr>
        <p:spPr>
          <a:xfrm>
            <a:off x="640080" y="1783080"/>
            <a:ext cx="10911535" cy="4572000"/>
          </a:xfrm>
          <a:prstGeom prst="rect">
            <a:avLst/>
          </a:prstGeom>
          <a:noFill/>
          <a:ln/>
        </p:spPr>
        <p:txBody>
          <a:bodyPr wrap="square" lIns="0" tIns="0" rIns="0" bIns="0" rtlCol="0" anchor="t"/>
          <a:lstStyle/>
          <a:p>
            <a:pPr marL="0" indent="0">
              <a:spcAft>
                <a:spcPts val="1000"/>
              </a:spcAft>
              <a:buNone/>
            </a:pPr>
            <a:r>
              <a:rPr lang="en-US" sz="1300" dirty="0">
                <a:solidFill>
                  <a:srgbClr val="D8E0EF"/>
                </a:solidFill>
                <a:latin typeface="Calibri" pitchFamily="34" charset="0"/>
                <a:ea typeface="Calibri" pitchFamily="34" charset="-122"/>
                <a:cs typeface="Calibri" pitchFamily="34" charset="-120"/>
              </a:rPr>
              <a:t>[1] Rumelhart, Hinton &amp; Williams (1986). Learning representations by back-propagating errors. Nature, 323(6088):533–536.</a:t>
            </a:r>
            <a:endParaRPr lang="en-US" sz="1300" dirty="0"/>
          </a:p>
          <a:p>
            <a:pPr marL="0" indent="0">
              <a:spcAft>
                <a:spcPts val="1000"/>
              </a:spcAft>
              <a:buNone/>
            </a:pPr>
            <a:r>
              <a:rPr lang="en-US" sz="1300" dirty="0">
                <a:solidFill>
                  <a:srgbClr val="D8E0EF"/>
                </a:solidFill>
                <a:latin typeface="Calibri" pitchFamily="34" charset="0"/>
                <a:ea typeface="Calibri" pitchFamily="34" charset="-122"/>
                <a:cs typeface="Calibri" pitchFamily="34" charset="-120"/>
              </a:rPr>
              <a:t>[2] LeCun, Bottou, Orr &amp; Müller (1998/2012). Efficient BackProp. Neural Networks: Tricks of the Trade.</a:t>
            </a:r>
            <a:endParaRPr lang="en-US" sz="1300" dirty="0"/>
          </a:p>
          <a:p>
            <a:pPr marL="0" indent="0">
              <a:spcAft>
                <a:spcPts val="1000"/>
              </a:spcAft>
              <a:buNone/>
            </a:pPr>
            <a:r>
              <a:rPr lang="en-US" sz="1300" dirty="0">
                <a:solidFill>
                  <a:srgbClr val="D8E0EF"/>
                </a:solidFill>
                <a:latin typeface="Calibri" pitchFamily="34" charset="0"/>
                <a:ea typeface="Calibri" pitchFamily="34" charset="-122"/>
                <a:cs typeface="Calibri" pitchFamily="34" charset="-120"/>
              </a:rPr>
              <a:t>[3] Glorot &amp; Bengio (2010). Understanding the difficulty of training deep feedforward neural networks. AISTATS.</a:t>
            </a:r>
            <a:endParaRPr lang="en-US" sz="1300" dirty="0"/>
          </a:p>
          <a:p>
            <a:pPr marL="0" indent="0">
              <a:spcAft>
                <a:spcPts val="1000"/>
              </a:spcAft>
              <a:buNone/>
            </a:pPr>
            <a:r>
              <a:rPr lang="en-US" sz="1300" dirty="0">
                <a:solidFill>
                  <a:srgbClr val="D8E0EF"/>
                </a:solidFill>
                <a:latin typeface="Calibri" pitchFamily="34" charset="0"/>
                <a:ea typeface="Calibri" pitchFamily="34" charset="-122"/>
                <a:cs typeface="Calibri" pitchFamily="34" charset="-120"/>
              </a:rPr>
              <a:t>[4] He, Zhang, Ren &amp; Sun (2015). Delving Deep into Rectifiers. ICCV. arXiv:1502.01852.</a:t>
            </a:r>
            <a:endParaRPr lang="en-US" sz="1300" dirty="0"/>
          </a:p>
          <a:p>
            <a:pPr marL="0" indent="0">
              <a:spcAft>
                <a:spcPts val="1000"/>
              </a:spcAft>
              <a:buNone/>
            </a:pPr>
            <a:r>
              <a:rPr lang="en-US" sz="1300" dirty="0">
                <a:solidFill>
                  <a:srgbClr val="D8E0EF"/>
                </a:solidFill>
                <a:latin typeface="Calibri" pitchFamily="34" charset="0"/>
                <a:ea typeface="Calibri" pitchFamily="34" charset="-122"/>
                <a:cs typeface="Calibri" pitchFamily="34" charset="-120"/>
              </a:rPr>
              <a:t>[5] Goodfellow, Bengio &amp; Courville (2016). Deep Learning. MIT Press.</a:t>
            </a:r>
            <a:endParaRPr lang="en-US" sz="1300" dirty="0"/>
          </a:p>
          <a:p>
            <a:pPr marL="0" indent="0">
              <a:spcAft>
                <a:spcPts val="1000"/>
              </a:spcAft>
              <a:buNone/>
            </a:pPr>
            <a:r>
              <a:rPr lang="en-US" sz="1300" dirty="0">
                <a:solidFill>
                  <a:srgbClr val="D8E0EF"/>
                </a:solidFill>
                <a:latin typeface="Calibri" pitchFamily="34" charset="0"/>
                <a:ea typeface="Calibri" pitchFamily="34" charset="-122"/>
                <a:cs typeface="Calibri" pitchFamily="34" charset="-120"/>
              </a:rPr>
              <a:t>[6] Xiao, Rasul &amp; Vollgraf (2017). Fashion-MNIST. arXiv:1708.07747.</a:t>
            </a:r>
            <a:endParaRPr lang="en-US" sz="1300" dirty="0"/>
          </a:p>
          <a:p>
            <a:pPr marL="0" indent="0">
              <a:spcAft>
                <a:spcPts val="1000"/>
              </a:spcAft>
              <a:buNone/>
            </a:pPr>
            <a:r>
              <a:rPr lang="en-US" sz="1300" dirty="0">
                <a:solidFill>
                  <a:srgbClr val="D8E0EF"/>
                </a:solidFill>
                <a:latin typeface="Calibri" pitchFamily="34" charset="0"/>
                <a:ea typeface="Calibri" pitchFamily="34" charset="-122"/>
                <a:cs typeface="Calibri" pitchFamily="34" charset="-120"/>
              </a:rPr>
              <a:t>[7] Paszke et al. (2019). PyTorch: An Imperative Style, High-Performance Deep Learning Library. NeurIPS.</a:t>
            </a:r>
            <a:endParaRPr lang="en-US" sz="1300" dirty="0"/>
          </a:p>
        </p:txBody>
      </p:sp>
      <p:sp>
        <p:nvSpPr>
          <p:cNvPr id="5" name="Shape 3"/>
          <p:cNvSpPr/>
          <p:nvPr/>
        </p:nvSpPr>
        <p:spPr>
          <a:xfrm>
            <a:off x="610362" y="6473952"/>
            <a:ext cx="59436" cy="59436"/>
          </a:xfrm>
          <a:prstGeom prst="ellipse">
            <a:avLst/>
          </a:prstGeom>
          <a:solidFill>
            <a:srgbClr val="3A4A70"/>
          </a:solidFill>
          <a:ln/>
        </p:spPr>
      </p:sp>
      <p:sp>
        <p:nvSpPr>
          <p:cNvPr id="6" name="Shape 4"/>
          <p:cNvSpPr/>
          <p:nvPr/>
        </p:nvSpPr>
        <p:spPr>
          <a:xfrm>
            <a:off x="829818" y="6473952"/>
            <a:ext cx="59436" cy="59436"/>
          </a:xfrm>
          <a:prstGeom prst="ellipse">
            <a:avLst/>
          </a:prstGeom>
          <a:solidFill>
            <a:srgbClr val="3A4A70"/>
          </a:solidFill>
          <a:ln/>
        </p:spPr>
      </p:sp>
      <p:sp>
        <p:nvSpPr>
          <p:cNvPr id="7" name="Shape 5"/>
          <p:cNvSpPr/>
          <p:nvPr/>
        </p:nvSpPr>
        <p:spPr>
          <a:xfrm>
            <a:off x="1049274" y="6473952"/>
            <a:ext cx="59436" cy="59436"/>
          </a:xfrm>
          <a:prstGeom prst="ellipse">
            <a:avLst/>
          </a:prstGeom>
          <a:solidFill>
            <a:srgbClr val="3A4A70"/>
          </a:solidFill>
          <a:ln/>
        </p:spPr>
      </p:sp>
      <p:sp>
        <p:nvSpPr>
          <p:cNvPr id="8" name="Shape 6"/>
          <p:cNvSpPr/>
          <p:nvPr/>
        </p:nvSpPr>
        <p:spPr>
          <a:xfrm>
            <a:off x="1253871" y="6459093"/>
            <a:ext cx="89154" cy="89154"/>
          </a:xfrm>
          <a:prstGeom prst="ellipse">
            <a:avLst/>
          </a:prstGeom>
          <a:solidFill>
            <a:srgbClr val="6FA3E0"/>
          </a:solidFill>
          <a:ln/>
        </p:spPr>
      </p:sp>
      <p:sp>
        <p:nvSpPr>
          <p:cNvPr id="9" name="Text 7"/>
          <p:cNvSpPr txBox="1"/>
          <p:nvPr/>
        </p:nvSpPr>
        <p:spPr>
          <a:xfrm>
            <a:off x="1563624" y="6391656"/>
            <a:ext cx="3291840" cy="274320"/>
          </a:xfrm>
          <a:prstGeom prst="rect">
            <a:avLst/>
          </a:prstGeom>
          <a:noFill/>
          <a:ln/>
        </p:spPr>
        <p:txBody>
          <a:bodyPr wrap="square" lIns="0" tIns="0" rIns="0" bIns="0" rtlCol="0" anchor="ctr"/>
          <a:lstStyle/>
          <a:p>
            <a:pPr marL="0" indent="0">
              <a:buNone/>
            </a:pPr>
            <a:r>
              <a:rPr lang="en-US" sz="850" kern="0" spc="50" dirty="0">
                <a:solidFill>
                  <a:srgbClr val="6FA3E0"/>
                </a:solidFill>
                <a:latin typeface="Calibri" pitchFamily="34" charset="0"/>
                <a:ea typeface="Calibri" pitchFamily="34" charset="-122"/>
                <a:cs typeface="Calibri" pitchFamily="34" charset="-120"/>
              </a:rPr>
              <a:t>CONCLUSION</a:t>
            </a:r>
            <a:endParaRPr lang="en-US" sz="8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4916</Words>
  <Application>Microsoft Office PowerPoint</Application>
  <PresentationFormat>Widescreen</PresentationFormat>
  <Paragraphs>395</Paragraphs>
  <Slides>26</Slides>
  <Notes>26</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26</vt:i4>
      </vt:variant>
    </vt:vector>
  </HeadingPairs>
  <TitlesOfParts>
    <vt:vector size="32" baseType="lpstr">
      <vt:lpstr>Arial</vt:lpstr>
      <vt:lpstr>Calibri</vt:lpstr>
      <vt:lpstr>Cambria</vt:lpstr>
      <vt:lpstr>Cambria Math</vt:lpstr>
      <vt:lpstr>Consolas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ACER</cp:lastModifiedBy>
  <cp:revision>2</cp:revision>
  <dcterms:created xsi:type="dcterms:W3CDTF">2026-10-03T17:12:42Z</dcterms:created>
  <dcterms:modified xsi:type="dcterms:W3CDTF">2026-10-03T17:14:06Z</dcterms:modified>
</cp:coreProperties>
</file>